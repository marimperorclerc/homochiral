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4"/>
  </p:notesMasterIdLst>
  <p:sldIdLst>
    <p:sldId id="797" r:id="rId2"/>
    <p:sldId id="778" r:id="rId3"/>
    <p:sldId id="774" r:id="rId4"/>
    <p:sldId id="802" r:id="rId5"/>
    <p:sldId id="803" r:id="rId6"/>
    <p:sldId id="804" r:id="rId7"/>
    <p:sldId id="805" r:id="rId8"/>
    <p:sldId id="806" r:id="rId9"/>
    <p:sldId id="809" r:id="rId10"/>
    <p:sldId id="790" r:id="rId11"/>
    <p:sldId id="791" r:id="rId12"/>
    <p:sldId id="808" r:id="rId13"/>
    <p:sldId id="775" r:id="rId14"/>
    <p:sldId id="777" r:id="rId15"/>
    <p:sldId id="801" r:id="rId16"/>
    <p:sldId id="799" r:id="rId17"/>
    <p:sldId id="743" r:id="rId18"/>
    <p:sldId id="786" r:id="rId19"/>
    <p:sldId id="754" r:id="rId20"/>
    <p:sldId id="793" r:id="rId21"/>
    <p:sldId id="807" r:id="rId22"/>
    <p:sldId id="795" r:id="rId2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bjectives" id="{55E4413A-BE1F-4C01-BEB6-917B60851A1C}">
          <p14:sldIdLst>
            <p14:sldId id="797"/>
          </p14:sldIdLst>
        </p14:section>
        <p14:section name="step 1" id="{8572CD16-27D0-4F60-94D1-96F7FEDDD391}">
          <p14:sldIdLst>
            <p14:sldId id="778"/>
            <p14:sldId id="774"/>
            <p14:sldId id="802"/>
            <p14:sldId id="803"/>
            <p14:sldId id="804"/>
            <p14:sldId id="805"/>
            <p14:sldId id="806"/>
            <p14:sldId id="809"/>
            <p14:sldId id="790"/>
            <p14:sldId id="791"/>
            <p14:sldId id="808"/>
          </p14:sldIdLst>
        </p14:section>
        <p14:section name="Recent work" id="{FD8C0108-40DF-44EA-9165-79503E2CDD2A}">
          <p14:sldIdLst>
            <p14:sldId id="775"/>
            <p14:sldId id="777"/>
            <p14:sldId id="801"/>
            <p14:sldId id="799"/>
            <p14:sldId id="743"/>
            <p14:sldId id="786"/>
          </p14:sldIdLst>
        </p14:section>
        <p14:section name="Link with Arnaud clusters" id="{77E64944-D2CD-4573-AFDB-C8BAD51DF0A9}">
          <p14:sldIdLst>
            <p14:sldId id="754"/>
            <p14:sldId id="793"/>
            <p14:sldId id="807"/>
            <p14:sldId id="79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A7FFCF"/>
    <a:srgbClr val="FF1616"/>
    <a:srgbClr val="1F4E79"/>
    <a:srgbClr val="AA10FF"/>
    <a:srgbClr val="05FF76"/>
    <a:srgbClr val="EDF8E9"/>
    <a:srgbClr val="C7E9C0"/>
    <a:srgbClr val="A1D99B"/>
    <a:srgbClr val="74C4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Style moyen 3 - Accentuation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191" autoAdjust="0"/>
    <p:restoredTop sz="94022" autoAdjust="0"/>
  </p:normalViewPr>
  <p:slideViewPr>
    <p:cSldViewPr snapToGrid="0">
      <p:cViewPr varScale="1">
        <p:scale>
          <a:sx n="63" d="100"/>
          <a:sy n="63" d="100"/>
        </p:scale>
        <p:origin x="220" y="7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139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9C1508-1146-4A69-8F99-8C5D9876FDBE}" type="datetimeFigureOut">
              <a:rPr lang="fr-FR" smtClean="0"/>
              <a:t>19/10/2025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DA558A-D0F6-4A23-840A-1A4E79F93CE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805546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4D988-1420-4BDD-9CBC-4258686EC6AC}" type="datetime1">
              <a:rPr lang="fr-FR" smtClean="0"/>
              <a:t>19/10/2025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7750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59031-BF04-471D-AD33-CD26C4CC2113}" type="datetime1">
              <a:rPr lang="fr-FR" smtClean="0"/>
              <a:t>19/10/2025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310529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87DCB-0ED8-472B-BBCD-AAF1AA70433B}" type="datetime1">
              <a:rPr lang="fr-FR" smtClean="0"/>
              <a:t>19/10/2025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8302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1442D-88C1-46C3-B249-34BE66B5D513}" type="datetime1">
              <a:rPr lang="fr-FR" smtClean="0"/>
              <a:t>19/10/2025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916179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3EF1F-00A4-46A5-AAC4-DB4177211361}" type="datetime1">
              <a:rPr lang="fr-FR" smtClean="0"/>
              <a:t>19/10/2025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064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CC57D-F713-4353-8E97-B278908A2A56}" type="datetime1">
              <a:rPr lang="fr-FR" smtClean="0"/>
              <a:t>19/10/2025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7066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B040A-FB87-4644-AB04-C81EC379E170}" type="datetime1">
              <a:rPr lang="fr-FR" smtClean="0"/>
              <a:t>19/10/2025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867957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62D1B-2239-4F9B-8FD3-0E31B8FA7FA2}" type="datetime1">
              <a:rPr lang="fr-FR" smtClean="0"/>
              <a:t>19/10/2025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55905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D42F1-F846-4CC5-948A-0D5DCFBD9C37}" type="datetime1">
              <a:rPr lang="fr-FR" smtClean="0"/>
              <a:t>19/10/2025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38654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81584-49D1-4CE9-8058-FF5ACE68A6CF}" type="datetime1">
              <a:rPr lang="fr-FR" smtClean="0"/>
              <a:t>19/10/2025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51073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59BB4-5566-4AB3-A06E-FF9EB735E0B4}" type="datetime1">
              <a:rPr lang="fr-FR" smtClean="0"/>
              <a:t>19/10/2025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0796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2FA6CD-8586-41A8-8804-244B34B7E6DA}" type="datetime1">
              <a:rPr lang="fr-FR" smtClean="0"/>
              <a:t>19/10/2025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BBC808-1C2F-4D0A-88AD-4B1C02A4935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3542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407.05359" TargetMode="Externa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407.05359" TargetMode="Externa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pypi.org/project/drawsvg/" TargetMode="External"/><Relationship Id="rId2" Type="http://schemas.openxmlformats.org/officeDocument/2006/relationships/hyperlink" Target="https://github.com/marimperorclerc/homochiral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ithub.com/shrx/spectre/blob/master/spectre.py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 err="1"/>
              <a:t>Homochiral</a:t>
            </a:r>
            <a:r>
              <a:rPr lang="fr-FR" dirty="0"/>
              <a:t> </a:t>
            </a:r>
            <a:r>
              <a:rPr lang="fr-FR" dirty="0" err="1"/>
              <a:t>ideas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fr-FR" sz="2800" dirty="0"/>
              <a:t>Marianne </a:t>
            </a:r>
            <a:r>
              <a:rPr lang="fr-FR" sz="2800" dirty="0" err="1"/>
              <a:t>Imperor</a:t>
            </a:r>
            <a:r>
              <a:rPr lang="fr-FR" sz="2800" dirty="0"/>
              <a:t>-Clerc</a:t>
            </a:r>
          </a:p>
          <a:p>
            <a:r>
              <a:rPr lang="fr-FR" sz="2800" dirty="0" err="1"/>
              <a:t>October</a:t>
            </a:r>
            <a:r>
              <a:rPr lang="fr-FR" sz="2800" dirty="0"/>
              <a:t> 2025</a:t>
            </a:r>
          </a:p>
        </p:txBody>
      </p:sp>
    </p:spTree>
    <p:extLst>
      <p:ext uri="{BB962C8B-B14F-4D97-AF65-F5344CB8AC3E}">
        <p14:creationId xmlns:p14="http://schemas.microsoft.com/office/powerpoint/2010/main" val="12482003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2</a:t>
            </a:fld>
            <a:endParaRPr lang="fr-FR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840" y="1762565"/>
            <a:ext cx="10036960" cy="4593785"/>
          </a:xfrm>
          <a:prstGeom prst="rect">
            <a:avLst/>
          </a:prstGeom>
        </p:spPr>
      </p:pic>
      <p:sp>
        <p:nvSpPr>
          <p:cNvPr id="4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C85350"/>
                </a:solidFill>
              </a:rPr>
              <a:t>ODD and EVEN orientations for Tile(1,1)</a:t>
            </a:r>
            <a:endParaRPr lang="fr-FR" b="1" dirty="0">
              <a:solidFill>
                <a:srgbClr val="C853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71916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3</a:t>
            </a:fld>
            <a:endParaRPr lang="fr-FR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C85350"/>
                </a:solidFill>
              </a:rPr>
              <a:t>full cluster with its six rotations: n(2pi/6)</a:t>
            </a:r>
            <a:endParaRPr lang="fr-FR" b="1" dirty="0">
              <a:solidFill>
                <a:srgbClr val="C85350"/>
              </a:solidFill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948" y="1941535"/>
            <a:ext cx="11449192" cy="3418803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5C1DF85E-AE3C-4141-B8E3-32FC0D949336}"/>
              </a:ext>
            </a:extLst>
          </p:cNvPr>
          <p:cNvSpPr txBox="1"/>
          <p:nvPr/>
        </p:nvSpPr>
        <p:spPr>
          <a:xfrm>
            <a:off x="162627" y="1150568"/>
            <a:ext cx="20253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err="1" smtClean="0"/>
              <a:t>Tile</a:t>
            </a:r>
            <a:r>
              <a:rPr lang="fr-FR" sz="2800" dirty="0" smtClean="0"/>
              <a:t>(1,1)</a:t>
            </a:r>
            <a:endParaRPr lang="fr-FR" sz="2800" dirty="0"/>
          </a:p>
          <a:p>
            <a:endParaRPr lang="fr-FR" sz="2800" dirty="0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5C1DF85E-AE3C-4141-B8E3-32FC0D949336}"/>
              </a:ext>
            </a:extLst>
          </p:cNvPr>
          <p:cNvSpPr txBox="1"/>
          <p:nvPr/>
        </p:nvSpPr>
        <p:spPr>
          <a:xfrm>
            <a:off x="500413" y="5358577"/>
            <a:ext cx="1119117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/>
              <a:t>13 </a:t>
            </a:r>
            <a:r>
              <a:rPr lang="fr-FR" sz="2800" dirty="0" err="1" smtClean="0"/>
              <a:t>tiles</a:t>
            </a:r>
            <a:r>
              <a:rPr lang="fr-FR" sz="2800" dirty="0" smtClean="0"/>
              <a:t> in a full cluster: one ODD </a:t>
            </a:r>
            <a:r>
              <a:rPr lang="fr-FR" sz="2800" dirty="0" err="1" smtClean="0"/>
              <a:t>tile</a:t>
            </a:r>
            <a:r>
              <a:rPr lang="fr-FR" sz="2800" dirty="0" smtClean="0"/>
              <a:t> at the center + 12 EVEN </a:t>
            </a:r>
            <a:r>
              <a:rPr lang="fr-FR" sz="2800" dirty="0" err="1" smtClean="0"/>
              <a:t>tiles</a:t>
            </a:r>
            <a:r>
              <a:rPr lang="fr-FR" sz="2800" dirty="0" smtClean="0"/>
              <a:t> </a:t>
            </a:r>
            <a:r>
              <a:rPr lang="fr-FR" sz="2800" dirty="0" err="1" smtClean="0"/>
              <a:t>around</a:t>
            </a:r>
            <a:endParaRPr lang="fr-FR" sz="2800" dirty="0"/>
          </a:p>
          <a:p>
            <a:endParaRPr lang="fr-FR" sz="2800" dirty="0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5C1DF85E-AE3C-4141-B8E3-32FC0D949336}"/>
              </a:ext>
            </a:extLst>
          </p:cNvPr>
          <p:cNvSpPr txBox="1"/>
          <p:nvPr/>
        </p:nvSpPr>
        <p:spPr>
          <a:xfrm>
            <a:off x="316858" y="5988166"/>
            <a:ext cx="113747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400" dirty="0" smtClean="0"/>
              <a:t>Blue triangles (EVEN) have one horizontal </a:t>
            </a:r>
            <a:r>
              <a:rPr lang="fr-FR" sz="2400" dirty="0" err="1" smtClean="0"/>
              <a:t>edge</a:t>
            </a:r>
            <a:r>
              <a:rPr lang="fr-FR" sz="2400" dirty="0" smtClean="0"/>
              <a:t> </a:t>
            </a:r>
            <a:r>
              <a:rPr lang="fr-FR" sz="2400" dirty="0" err="1" smtClean="0"/>
              <a:t>when</a:t>
            </a:r>
            <a:r>
              <a:rPr lang="fr-FR" sz="2400" dirty="0" smtClean="0"/>
              <a:t> </a:t>
            </a:r>
            <a:r>
              <a:rPr lang="fr-FR" sz="2400" dirty="0" err="1" smtClean="0"/>
              <a:t>pink</a:t>
            </a:r>
            <a:r>
              <a:rPr lang="fr-FR" sz="2400" dirty="0" smtClean="0"/>
              <a:t> (ODD) have a vertical one</a:t>
            </a:r>
            <a:endParaRPr lang="fr-FR" sz="2400" dirty="0"/>
          </a:p>
          <a:p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18116625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4</a:t>
            </a:fld>
            <a:endParaRPr lang="fr-FR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smtClean="0">
                <a:solidFill>
                  <a:srgbClr val="C85350"/>
                </a:solidFill>
              </a:rPr>
              <a:t>Orientation of the 12 EVEN tiles in a full cluster</a:t>
            </a:r>
            <a:endParaRPr lang="fr-FR" b="1" dirty="0">
              <a:solidFill>
                <a:srgbClr val="C85350"/>
              </a:solidFill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5C1DF85E-AE3C-4141-B8E3-32FC0D949336}"/>
              </a:ext>
            </a:extLst>
          </p:cNvPr>
          <p:cNvSpPr txBox="1"/>
          <p:nvPr/>
        </p:nvSpPr>
        <p:spPr>
          <a:xfrm>
            <a:off x="162627" y="1150568"/>
            <a:ext cx="20253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err="1" smtClean="0"/>
              <a:t>Tile</a:t>
            </a:r>
            <a:r>
              <a:rPr lang="fr-FR" sz="2800" dirty="0" smtClean="0"/>
              <a:t>(1,1)</a:t>
            </a:r>
            <a:endParaRPr lang="fr-FR" sz="2800" dirty="0"/>
          </a:p>
          <a:p>
            <a:endParaRPr lang="fr-FR" sz="2800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4158" y="1150150"/>
            <a:ext cx="7432455" cy="4511937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5C1DF85E-AE3C-4141-B8E3-32FC0D949336}"/>
              </a:ext>
            </a:extLst>
          </p:cNvPr>
          <p:cNvSpPr txBox="1"/>
          <p:nvPr/>
        </p:nvSpPr>
        <p:spPr>
          <a:xfrm>
            <a:off x="805213" y="5423163"/>
            <a:ext cx="111911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400" dirty="0" smtClean="0"/>
              <a:t>6 </a:t>
            </a:r>
            <a:r>
              <a:rPr lang="fr-FR" sz="2400" dirty="0" err="1" smtClean="0"/>
              <a:t>tiles</a:t>
            </a:r>
            <a:r>
              <a:rPr lang="fr-FR" sz="2400" dirty="0" smtClean="0"/>
              <a:t> in the C-cluster (corona made of M12, M4, M2, M12, M10, M8)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400" dirty="0" smtClean="0"/>
              <a:t>3 </a:t>
            </a:r>
            <a:r>
              <a:rPr lang="fr-FR" sz="2400" dirty="0" err="1" smtClean="0"/>
              <a:t>translated</a:t>
            </a:r>
            <a:r>
              <a:rPr lang="fr-FR" sz="2400" dirty="0" smtClean="0"/>
              <a:t> (M2, M10, M12) (</a:t>
            </a:r>
            <a:r>
              <a:rPr lang="fr-FR" sz="2400" dirty="0" err="1" smtClean="0"/>
              <a:t>along</a:t>
            </a:r>
            <a:r>
              <a:rPr lang="fr-FR" sz="2400" dirty="0" smtClean="0"/>
              <a:t> </a:t>
            </a:r>
            <a:r>
              <a:rPr lang="fr-FR" sz="2400" dirty="0" err="1" smtClean="0"/>
              <a:t>blue</a:t>
            </a:r>
            <a:r>
              <a:rPr lang="fr-FR" sz="2400" dirty="0" smtClean="0"/>
              <a:t> </a:t>
            </a:r>
            <a:r>
              <a:rPr lang="fr-FR" sz="2400" dirty="0" err="1" smtClean="0"/>
              <a:t>lines</a:t>
            </a:r>
            <a:r>
              <a:rPr lang="fr-FR" sz="2400" dirty="0" smtClean="0"/>
              <a:t>, the </a:t>
            </a:r>
            <a:r>
              <a:rPr lang="fr-FR" sz="2400" dirty="0" err="1" smtClean="0"/>
              <a:t>edges</a:t>
            </a:r>
            <a:r>
              <a:rPr lang="fr-FR" sz="2400" dirty="0" smtClean="0"/>
              <a:t> of </a:t>
            </a:r>
            <a:r>
              <a:rPr lang="fr-FR" sz="2400" dirty="0" err="1" smtClean="0"/>
              <a:t>blue</a:t>
            </a:r>
            <a:r>
              <a:rPr lang="fr-FR" sz="2400" dirty="0" smtClean="0"/>
              <a:t> triangles)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400" dirty="0" smtClean="0"/>
              <a:t>3 </a:t>
            </a:r>
            <a:r>
              <a:rPr lang="fr-FR" sz="2400" dirty="0" err="1" smtClean="0"/>
              <a:t>half-turned</a:t>
            </a:r>
            <a:r>
              <a:rPr lang="fr-FR" sz="2400" dirty="0" smtClean="0"/>
              <a:t> (M4-&gt;M10, M12 -&gt; M6, M8 -&gt; M2)</a:t>
            </a:r>
            <a:endParaRPr lang="fr-FR" sz="2400" dirty="0"/>
          </a:p>
          <a:p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23226361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5</a:t>
            </a:fld>
            <a:endParaRPr lang="fr-FR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smtClean="0">
                <a:solidFill>
                  <a:srgbClr val="C85350"/>
                </a:solidFill>
              </a:rPr>
              <a:t>Inflation step 1: substitution rule for C1</a:t>
            </a:r>
            <a:endParaRPr lang="fr-FR" b="1" dirty="0">
              <a:solidFill>
                <a:srgbClr val="C85350"/>
              </a:solidFill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286" y="1696516"/>
            <a:ext cx="11401425" cy="3476625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5C1DF85E-AE3C-4141-B8E3-32FC0D949336}"/>
              </a:ext>
            </a:extLst>
          </p:cNvPr>
          <p:cNvSpPr txBox="1"/>
          <p:nvPr/>
        </p:nvSpPr>
        <p:spPr>
          <a:xfrm>
            <a:off x="865754" y="1099289"/>
            <a:ext cx="26856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/>
              <a:t>EVEN </a:t>
            </a:r>
            <a:r>
              <a:rPr lang="fr-FR" sz="2800" dirty="0" err="1" smtClean="0"/>
              <a:t>tiles</a:t>
            </a:r>
            <a:r>
              <a:rPr lang="fr-FR" sz="2800" dirty="0" smtClean="0"/>
              <a:t> in C1</a:t>
            </a:r>
            <a:endParaRPr lang="fr-FR" sz="2800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5C1DF85E-AE3C-4141-B8E3-32FC0D949336}"/>
              </a:ext>
            </a:extLst>
          </p:cNvPr>
          <p:cNvSpPr txBox="1"/>
          <p:nvPr/>
        </p:nvSpPr>
        <p:spPr>
          <a:xfrm>
            <a:off x="4347279" y="1114011"/>
            <a:ext cx="34974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/>
              <a:t>ODD </a:t>
            </a:r>
            <a:r>
              <a:rPr lang="fr-FR" sz="2800" dirty="0" err="1" smtClean="0"/>
              <a:t>tiles</a:t>
            </a:r>
            <a:r>
              <a:rPr lang="fr-FR" sz="2800" dirty="0" smtClean="0"/>
              <a:t> for </a:t>
            </a:r>
            <a:r>
              <a:rPr lang="fr-FR" sz="2800" dirty="0" err="1" smtClean="0"/>
              <a:t>step</a:t>
            </a:r>
            <a:r>
              <a:rPr lang="fr-FR" sz="2800" dirty="0" smtClean="0"/>
              <a:t> 1</a:t>
            </a:r>
            <a:endParaRPr lang="fr-FR" sz="2800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5C1DF85E-AE3C-4141-B8E3-32FC0D949336}"/>
              </a:ext>
            </a:extLst>
          </p:cNvPr>
          <p:cNvSpPr txBox="1"/>
          <p:nvPr/>
        </p:nvSpPr>
        <p:spPr>
          <a:xfrm>
            <a:off x="8362096" y="1075919"/>
            <a:ext cx="36855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err="1" smtClean="0"/>
              <a:t>same</a:t>
            </a:r>
            <a:r>
              <a:rPr lang="fr-FR" sz="2800" dirty="0" smtClean="0"/>
              <a:t> as full clusters</a:t>
            </a:r>
            <a:endParaRPr lang="fr-FR" sz="2800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5C1DF85E-AE3C-4141-B8E3-32FC0D949336}"/>
              </a:ext>
            </a:extLst>
          </p:cNvPr>
          <p:cNvSpPr txBox="1"/>
          <p:nvPr/>
        </p:nvSpPr>
        <p:spPr>
          <a:xfrm>
            <a:off x="316859" y="5246570"/>
            <a:ext cx="1165442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000" dirty="0" smtClean="0"/>
              <a:t>ODD </a:t>
            </a:r>
            <a:r>
              <a:rPr lang="fr-FR" sz="2000" dirty="0" err="1" smtClean="0"/>
              <a:t>tiles</a:t>
            </a:r>
            <a:r>
              <a:rPr lang="fr-FR" sz="2000" dirty="0" smtClean="0"/>
              <a:t> for </a:t>
            </a:r>
            <a:r>
              <a:rPr lang="fr-FR" sz="2000" dirty="0" err="1" smtClean="0"/>
              <a:t>step</a:t>
            </a:r>
            <a:r>
              <a:rPr lang="fr-FR" sz="2000" dirty="0" smtClean="0"/>
              <a:t> 1 are </a:t>
            </a:r>
            <a:r>
              <a:rPr lang="fr-FR" sz="2000" dirty="0" err="1" smtClean="0"/>
              <a:t>obtained</a:t>
            </a:r>
            <a:r>
              <a:rPr lang="fr-FR" sz="2000" dirty="0" smtClean="0"/>
              <a:t> by </a:t>
            </a:r>
            <a:r>
              <a:rPr lang="fr-FR" sz="2000" dirty="0" err="1" smtClean="0"/>
              <a:t>adding</a:t>
            </a:r>
            <a:r>
              <a:rPr lang="fr-FR" sz="2000" dirty="0" smtClean="0"/>
              <a:t> 1 (</a:t>
            </a:r>
            <a:r>
              <a:rPr lang="fr-FR" sz="2000" dirty="0" err="1" smtClean="0"/>
              <a:t>mod</a:t>
            </a:r>
            <a:r>
              <a:rPr lang="fr-FR" sz="2000" dirty="0" smtClean="0"/>
              <a:t> 12) to all EVEN </a:t>
            </a:r>
            <a:r>
              <a:rPr lang="fr-FR" sz="2000" dirty="0" err="1" smtClean="0"/>
              <a:t>tiles</a:t>
            </a:r>
            <a:r>
              <a:rPr lang="fr-FR" sz="2000" dirty="0" smtClean="0"/>
              <a:t> in the C cluster (6 </a:t>
            </a:r>
            <a:r>
              <a:rPr lang="fr-FR" sz="2000" dirty="0" err="1" smtClean="0"/>
              <a:t>tiles</a:t>
            </a:r>
            <a:r>
              <a:rPr lang="fr-FR" sz="2000" dirty="0" smtClean="0"/>
              <a:t>)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000" dirty="0" smtClean="0"/>
              <a:t>Directions of </a:t>
            </a:r>
            <a:r>
              <a:rPr lang="fr-FR" sz="2000" dirty="0" err="1" smtClean="0"/>
              <a:t>translated</a:t>
            </a:r>
            <a:r>
              <a:rPr lang="fr-FR" sz="2000" dirty="0" smtClean="0"/>
              <a:t> and </a:t>
            </a:r>
            <a:r>
              <a:rPr lang="fr-FR" sz="2000" dirty="0" err="1" smtClean="0"/>
              <a:t>half-turned</a:t>
            </a:r>
            <a:r>
              <a:rPr lang="fr-FR" sz="2000" dirty="0" smtClean="0"/>
              <a:t> </a:t>
            </a:r>
            <a:r>
              <a:rPr lang="fr-FR" sz="2000" dirty="0" err="1" smtClean="0"/>
              <a:t>tiles</a:t>
            </a:r>
            <a:r>
              <a:rPr lang="fr-FR" sz="2000" dirty="0" smtClean="0"/>
              <a:t> are </a:t>
            </a:r>
            <a:r>
              <a:rPr lang="fr-FR" sz="2000" dirty="0" err="1" smtClean="0"/>
              <a:t>exchanged</a:t>
            </a:r>
            <a:r>
              <a:rPr lang="fr-FR" sz="2000" dirty="0" smtClean="0"/>
              <a:t> (</a:t>
            </a:r>
            <a:r>
              <a:rPr lang="fr-FR" sz="2000" b="1" dirty="0" err="1" smtClean="0"/>
              <a:t>see</a:t>
            </a:r>
            <a:r>
              <a:rPr lang="fr-FR" sz="2000" b="1" dirty="0" smtClean="0"/>
              <a:t> the change of position for green points</a:t>
            </a:r>
            <a:r>
              <a:rPr lang="fr-FR" sz="2000" dirty="0" smtClean="0"/>
              <a:t>). </a:t>
            </a:r>
            <a:r>
              <a:rPr lang="fr-FR" sz="2000" dirty="0" err="1" smtClean="0"/>
              <a:t>Then</a:t>
            </a:r>
            <a:r>
              <a:rPr lang="fr-FR" sz="2000" dirty="0" smtClean="0"/>
              <a:t> </a:t>
            </a:r>
            <a:r>
              <a:rPr lang="fr-FR" sz="2000" dirty="0" err="1" smtClean="0"/>
              <a:t>three</a:t>
            </a:r>
            <a:r>
              <a:rPr lang="fr-FR" sz="2000" dirty="0" smtClean="0"/>
              <a:t> </a:t>
            </a:r>
            <a:r>
              <a:rPr lang="fr-FR" sz="2000" dirty="0" err="1" smtClean="0"/>
              <a:t>tiles</a:t>
            </a:r>
            <a:r>
              <a:rPr lang="fr-FR" sz="2000" dirty="0" smtClean="0"/>
              <a:t> are </a:t>
            </a:r>
            <a:r>
              <a:rPr lang="fr-FR" sz="2000" dirty="0" err="1" smtClean="0"/>
              <a:t>translated</a:t>
            </a:r>
            <a:r>
              <a:rPr lang="fr-FR" sz="2000" dirty="0" smtClean="0"/>
              <a:t> (M1, M3, M11) and </a:t>
            </a:r>
            <a:r>
              <a:rPr lang="fr-FR" sz="2000" dirty="0" err="1" smtClean="0"/>
              <a:t>three</a:t>
            </a:r>
            <a:r>
              <a:rPr lang="fr-FR" sz="2000" dirty="0" smtClean="0"/>
              <a:t> are </a:t>
            </a:r>
            <a:r>
              <a:rPr lang="fr-FR" sz="2000" dirty="0" err="1" smtClean="0"/>
              <a:t>half-turned</a:t>
            </a:r>
            <a:r>
              <a:rPr lang="fr-FR" sz="2000" dirty="0" smtClean="0"/>
              <a:t> (M5-&gt;M11, M1 -&gt; M7, M9 -&gt; M3)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000" dirty="0" smtClean="0"/>
              <a:t>ODD </a:t>
            </a:r>
            <a:r>
              <a:rPr lang="fr-FR" sz="2000" dirty="0" err="1" smtClean="0"/>
              <a:t>tile</a:t>
            </a:r>
            <a:r>
              <a:rPr lang="fr-FR" sz="2000" dirty="0" smtClean="0"/>
              <a:t> index </a:t>
            </a:r>
            <a:r>
              <a:rPr lang="fr-FR" sz="2000" dirty="0" err="1" smtClean="0"/>
              <a:t>is</a:t>
            </a:r>
            <a:r>
              <a:rPr lang="fr-FR" sz="2000" dirty="0" smtClean="0"/>
              <a:t> </a:t>
            </a:r>
            <a:r>
              <a:rPr lang="fr-FR" sz="2000" dirty="0" err="1" smtClean="0"/>
              <a:t>equivalent</a:t>
            </a:r>
            <a:r>
              <a:rPr lang="fr-FR" sz="2000" dirty="0" smtClean="0"/>
              <a:t> to the orientation of a full C cluster </a:t>
            </a:r>
            <a:r>
              <a:rPr lang="fr-FR" sz="2000" dirty="0" smtClean="0">
                <a:sym typeface="Wingdings" panose="05000000000000000000" pitchFamily="2" charset="2"/>
              </a:rPr>
              <a:t></a:t>
            </a:r>
            <a:endParaRPr lang="fr-FR" sz="2000" dirty="0"/>
          </a:p>
          <a:p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39864966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6</a:t>
            </a:fld>
            <a:endParaRPr lang="fr-FR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smtClean="0">
                <a:solidFill>
                  <a:srgbClr val="C85350"/>
                </a:solidFill>
              </a:rPr>
              <a:t>Inflation step 1</a:t>
            </a:r>
            <a:endParaRPr lang="fr-FR" b="1" dirty="0">
              <a:solidFill>
                <a:srgbClr val="C85350"/>
              </a:solidFill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434" y="1171070"/>
            <a:ext cx="8300709" cy="4840236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9760" y="4431578"/>
            <a:ext cx="2111057" cy="2107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9791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7</a:t>
            </a:fld>
            <a:endParaRPr lang="fr-FR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smtClean="0">
                <a:solidFill>
                  <a:srgbClr val="C85350"/>
                </a:solidFill>
              </a:rPr>
              <a:t>Inflation step 1</a:t>
            </a:r>
            <a:endParaRPr lang="fr-FR" b="1" dirty="0">
              <a:solidFill>
                <a:srgbClr val="C85350"/>
              </a:solidFill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400" y="1462626"/>
            <a:ext cx="9478962" cy="3763423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5C1DF85E-AE3C-4141-B8E3-32FC0D949336}"/>
              </a:ext>
            </a:extLst>
          </p:cNvPr>
          <p:cNvSpPr txBox="1"/>
          <p:nvPr/>
        </p:nvSpPr>
        <p:spPr>
          <a:xfrm>
            <a:off x="167335" y="5584805"/>
            <a:ext cx="1198909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/>
              <a:t>Directions </a:t>
            </a:r>
            <a:r>
              <a:rPr lang="fr-FR" sz="2800" dirty="0" err="1" smtClean="0"/>
              <a:t>along</a:t>
            </a:r>
            <a:r>
              <a:rPr lang="fr-FR" sz="2800" dirty="0" smtClean="0"/>
              <a:t> the </a:t>
            </a:r>
            <a:r>
              <a:rPr lang="fr-FR" sz="2800" dirty="0" err="1" smtClean="0"/>
              <a:t>blue</a:t>
            </a:r>
            <a:r>
              <a:rPr lang="fr-FR" sz="2800" dirty="0" smtClean="0"/>
              <a:t> </a:t>
            </a:r>
            <a:r>
              <a:rPr lang="fr-FR" sz="2800" dirty="0" err="1" smtClean="0"/>
              <a:t>lines</a:t>
            </a:r>
            <a:r>
              <a:rPr lang="fr-FR" sz="2800" dirty="0" smtClean="0"/>
              <a:t> are the </a:t>
            </a:r>
            <a:r>
              <a:rPr lang="fr-FR" sz="2800" dirty="0" err="1" smtClean="0"/>
              <a:t>edge</a:t>
            </a:r>
            <a:r>
              <a:rPr lang="fr-FR" sz="2800" dirty="0" smtClean="0"/>
              <a:t> directions of the </a:t>
            </a:r>
            <a:r>
              <a:rPr lang="fr-FR" sz="2800" dirty="0" err="1" smtClean="0"/>
              <a:t>blue</a:t>
            </a:r>
            <a:r>
              <a:rPr lang="fr-FR" sz="2800" dirty="0" smtClean="0"/>
              <a:t> triangles !!!</a:t>
            </a:r>
            <a:endParaRPr lang="fr-FR" sz="2800" dirty="0"/>
          </a:p>
          <a:p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19922704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8</a:t>
            </a:fld>
            <a:endParaRPr lang="fr-FR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smtClean="0">
                <a:solidFill>
                  <a:srgbClr val="C85350"/>
                </a:solidFill>
              </a:rPr>
              <a:t>Inflation step 1 for full cluster C1</a:t>
            </a:r>
            <a:endParaRPr lang="fr-FR" b="1" dirty="0">
              <a:solidFill>
                <a:srgbClr val="C85350"/>
              </a:solidFill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7500" y="1081952"/>
            <a:ext cx="9179890" cy="4685416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5C1DF85E-AE3C-4141-B8E3-32FC0D949336}"/>
              </a:ext>
            </a:extLst>
          </p:cNvPr>
          <p:cNvSpPr txBox="1"/>
          <p:nvPr/>
        </p:nvSpPr>
        <p:spPr>
          <a:xfrm>
            <a:off x="202908" y="5442569"/>
            <a:ext cx="1198909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000" dirty="0" err="1"/>
              <a:t>A</a:t>
            </a:r>
            <a:r>
              <a:rPr lang="fr-FR" sz="2000" dirty="0" err="1" smtClean="0"/>
              <a:t>ssembly</a:t>
            </a:r>
            <a:r>
              <a:rPr lang="fr-FR" sz="2000" dirty="0" smtClean="0"/>
              <a:t> of the 12 full clusters </a:t>
            </a:r>
            <a:r>
              <a:rPr lang="fr-FR" sz="2000" dirty="0" err="1" smtClean="0"/>
              <a:t>works</a:t>
            </a:r>
            <a:r>
              <a:rPr lang="fr-FR" sz="2000" dirty="0" smtClean="0"/>
              <a:t> fine !!! (</a:t>
            </a:r>
            <a:r>
              <a:rPr lang="fr-FR" sz="2000" dirty="0" err="1" smtClean="0"/>
              <a:t>done</a:t>
            </a:r>
            <a:r>
              <a:rPr lang="fr-FR" sz="2000" dirty="0" smtClean="0"/>
              <a:t> </a:t>
            </a:r>
            <a:r>
              <a:rPr lang="fr-FR" sz="2000" dirty="0" err="1" smtClean="0"/>
              <a:t>manually</a:t>
            </a:r>
            <a:r>
              <a:rPr lang="fr-FR" sz="2000" dirty="0" smtClean="0"/>
              <a:t> </a:t>
            </a:r>
            <a:r>
              <a:rPr lang="fr-FR" sz="2000" dirty="0" err="1" smtClean="0"/>
              <a:t>so</a:t>
            </a:r>
            <a:r>
              <a:rPr lang="fr-FR" sz="2000" dirty="0" smtClean="0"/>
              <a:t> far for the relative positions of clusters)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000" dirty="0" err="1" smtClean="0"/>
              <a:t>Some</a:t>
            </a:r>
            <a:r>
              <a:rPr lang="fr-FR" sz="2000" dirty="0" smtClean="0"/>
              <a:t> </a:t>
            </a:r>
            <a:r>
              <a:rPr lang="fr-FR" sz="2000" dirty="0" err="1" smtClean="0"/>
              <a:t>tiles</a:t>
            </a:r>
            <a:r>
              <a:rPr lang="fr-FR" sz="2000" dirty="0" smtClean="0"/>
              <a:t> are </a:t>
            </a:r>
            <a:r>
              <a:rPr lang="fr-FR" sz="2000" dirty="0" err="1" smtClean="0"/>
              <a:t>superimposed</a:t>
            </a:r>
            <a:endParaRPr lang="fr-FR" sz="2000" dirty="0" smtClean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000" dirty="0" err="1" smtClean="0"/>
              <a:t>Some</a:t>
            </a:r>
            <a:r>
              <a:rPr lang="fr-FR" sz="2000" dirty="0" smtClean="0"/>
              <a:t> </a:t>
            </a:r>
            <a:r>
              <a:rPr lang="fr-FR" sz="2000" dirty="0" err="1" smtClean="0"/>
              <a:t>half-turned</a:t>
            </a:r>
            <a:r>
              <a:rPr lang="fr-FR" sz="2000" dirty="0" smtClean="0"/>
              <a:t> </a:t>
            </a:r>
            <a:r>
              <a:rPr lang="fr-FR" sz="2000" dirty="0" err="1" smtClean="0"/>
              <a:t>tiles</a:t>
            </a:r>
            <a:r>
              <a:rPr lang="fr-FR" sz="2000" dirty="0" smtClean="0"/>
              <a:t> </a:t>
            </a:r>
            <a:r>
              <a:rPr lang="fr-FR" sz="2000" dirty="0" err="1" smtClean="0"/>
              <a:t>need</a:t>
            </a:r>
            <a:r>
              <a:rPr lang="fr-FR" sz="2000" dirty="0" smtClean="0"/>
              <a:t> to </a:t>
            </a:r>
            <a:r>
              <a:rPr lang="fr-FR" sz="2000" dirty="0" err="1" smtClean="0"/>
              <a:t>be</a:t>
            </a:r>
            <a:r>
              <a:rPr lang="fr-FR" sz="2000" dirty="0" smtClean="0"/>
              <a:t> </a:t>
            </a:r>
            <a:r>
              <a:rPr lang="fr-FR" sz="2000" dirty="0" err="1" smtClean="0"/>
              <a:t>removed</a:t>
            </a:r>
            <a:r>
              <a:rPr lang="fr-FR" sz="2000" dirty="0" smtClean="0"/>
              <a:t> </a:t>
            </a:r>
            <a:r>
              <a:rPr lang="fr-FR" sz="2000" dirty="0" err="1" smtClean="0"/>
              <a:t>with</a:t>
            </a:r>
            <a:r>
              <a:rPr lang="fr-FR" sz="2000" dirty="0" smtClean="0"/>
              <a:t> a simple </a:t>
            </a:r>
            <a:r>
              <a:rPr lang="fr-FR" sz="2000" dirty="0" err="1" smtClean="0"/>
              <a:t>rule</a:t>
            </a:r>
            <a:r>
              <a:rPr lang="fr-FR" sz="2000" dirty="0" smtClean="0"/>
              <a:t>: </a:t>
            </a:r>
            <a:r>
              <a:rPr lang="fr-FR" sz="2000" b="1" dirty="0" smtClean="0"/>
              <a:t>translation </a:t>
            </a:r>
            <a:r>
              <a:rPr lang="fr-FR" sz="2000" b="1" dirty="0" err="1" smtClean="0"/>
              <a:t>wins</a:t>
            </a:r>
            <a:r>
              <a:rPr lang="fr-FR" sz="2000" b="1" dirty="0" smtClean="0"/>
              <a:t> over </a:t>
            </a:r>
            <a:r>
              <a:rPr lang="fr-FR" sz="2000" b="1" dirty="0" err="1" smtClean="0"/>
              <a:t>half-turn</a:t>
            </a:r>
            <a:r>
              <a:rPr lang="fr-FR" sz="2000" b="1" dirty="0" smtClean="0"/>
              <a:t> </a:t>
            </a:r>
            <a:r>
              <a:rPr lang="fr-FR" sz="2000" dirty="0" smtClean="0"/>
              <a:t>!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000" dirty="0" smtClean="0"/>
              <a:t>A </a:t>
            </a:r>
            <a:r>
              <a:rPr lang="fr-FR" sz="2000" dirty="0" err="1" smtClean="0"/>
              <a:t>bigger</a:t>
            </a:r>
            <a:r>
              <a:rPr lang="fr-FR" sz="2000" dirty="0" smtClean="0"/>
              <a:t> green triangle </a:t>
            </a:r>
            <a:r>
              <a:rPr lang="fr-FR" sz="2000" dirty="0" err="1" smtClean="0"/>
              <a:t>is</a:t>
            </a:r>
            <a:r>
              <a:rPr lang="fr-FR" sz="2000" dirty="0" smtClean="0"/>
              <a:t> </a:t>
            </a:r>
            <a:r>
              <a:rPr lang="fr-FR" sz="2000" dirty="0" err="1" smtClean="0"/>
              <a:t>identified</a:t>
            </a:r>
            <a:r>
              <a:rPr lang="fr-FR" sz="2000" dirty="0" smtClean="0"/>
              <a:t>, </a:t>
            </a:r>
            <a:r>
              <a:rPr lang="fr-FR" sz="2000" dirty="0" err="1" smtClean="0"/>
              <a:t>centered</a:t>
            </a:r>
            <a:r>
              <a:rPr lang="fr-FR" sz="2000" dirty="0" smtClean="0"/>
              <a:t> on a </a:t>
            </a:r>
            <a:r>
              <a:rPr lang="fr-FR" sz="2000" dirty="0" err="1" smtClean="0"/>
              <a:t>trifle</a:t>
            </a:r>
            <a:r>
              <a:rPr lang="fr-FR" sz="2000" dirty="0" smtClean="0"/>
              <a:t> at the center of the figure </a:t>
            </a:r>
            <a:r>
              <a:rPr lang="fr-FR" sz="2000" dirty="0" smtClean="0">
                <a:sym typeface="Wingdings" panose="05000000000000000000" pitchFamily="2" charset="2"/>
              </a:rPr>
              <a:t></a:t>
            </a:r>
            <a:endParaRPr lang="fr-FR" sz="2000" dirty="0"/>
          </a:p>
          <a:p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9370407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9</a:t>
            </a:fld>
            <a:endParaRPr lang="fr-FR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smtClean="0">
                <a:solidFill>
                  <a:srgbClr val="C85350"/>
                </a:solidFill>
              </a:rPr>
              <a:t>Inflation step 1 for full cluster C1</a:t>
            </a:r>
            <a:endParaRPr lang="fr-FR" b="1" dirty="0">
              <a:solidFill>
                <a:srgbClr val="C85350"/>
              </a:solidFill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 rotWithShape="1">
          <a:blip r:embed="rId2"/>
          <a:srcRect r="50112"/>
          <a:stretch/>
        </p:blipFill>
        <p:spPr>
          <a:xfrm>
            <a:off x="6320790" y="1035430"/>
            <a:ext cx="4579620" cy="4685416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5C1DF85E-AE3C-4141-B8E3-32FC0D949336}"/>
              </a:ext>
            </a:extLst>
          </p:cNvPr>
          <p:cNvSpPr txBox="1"/>
          <p:nvPr/>
        </p:nvSpPr>
        <p:spPr>
          <a:xfrm>
            <a:off x="1351768" y="5376879"/>
            <a:ext cx="948973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000" dirty="0" smtClean="0"/>
              <a:t>TO DO: </a:t>
            </a:r>
            <a:r>
              <a:rPr lang="fr-FR" sz="2000" dirty="0" err="1" smtClean="0"/>
              <a:t>Find</a:t>
            </a:r>
            <a:r>
              <a:rPr lang="fr-FR" sz="2000" dirty="0" smtClean="0"/>
              <a:t> </a:t>
            </a:r>
            <a:r>
              <a:rPr lang="fr-FR" sz="2000" dirty="0"/>
              <a:t>a </a:t>
            </a:r>
            <a:r>
              <a:rPr lang="fr-FR" sz="2000" dirty="0" err="1" smtClean="0"/>
              <a:t>rule</a:t>
            </a:r>
            <a:r>
              <a:rPr lang="fr-FR" sz="2000" dirty="0" smtClean="0"/>
              <a:t> for the relative positions </a:t>
            </a:r>
            <a:r>
              <a:rPr lang="fr-FR" sz="2000" dirty="0" err="1" smtClean="0"/>
              <a:t>between</a:t>
            </a:r>
            <a:r>
              <a:rPr lang="fr-FR" sz="2000" dirty="0" smtClean="0"/>
              <a:t> clusters in the </a:t>
            </a:r>
            <a:r>
              <a:rPr lang="fr-FR" sz="2000" dirty="0" err="1" smtClean="0"/>
              <a:t>assembly</a:t>
            </a:r>
            <a:endParaRPr lang="fr-FR" sz="2000" dirty="0" smtClean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000" dirty="0" smtClean="0"/>
              <a:t>Clusters are </a:t>
            </a:r>
            <a:r>
              <a:rPr lang="fr-FR" sz="2000" dirty="0" err="1" smtClean="0"/>
              <a:t>translated</a:t>
            </a:r>
            <a:r>
              <a:rPr lang="fr-FR" sz="2000" dirty="0" smtClean="0"/>
              <a:t> </a:t>
            </a:r>
            <a:r>
              <a:rPr lang="fr-FR" sz="2000" dirty="0" err="1" smtClean="0"/>
              <a:t>from</a:t>
            </a:r>
            <a:r>
              <a:rPr lang="fr-FR" sz="2000" dirty="0" smtClean="0"/>
              <a:t> </a:t>
            </a:r>
            <a:r>
              <a:rPr lang="fr-FR" sz="2000" dirty="0" err="1" smtClean="0"/>
              <a:t>each</a:t>
            </a:r>
            <a:r>
              <a:rPr lang="fr-FR" sz="2000" dirty="0" smtClean="0"/>
              <a:t> </a:t>
            </a:r>
            <a:r>
              <a:rPr lang="fr-FR" sz="2000" dirty="0" err="1" smtClean="0"/>
              <a:t>other</a:t>
            </a:r>
            <a:r>
              <a:rPr lang="fr-FR" sz="2000" dirty="0" smtClean="0"/>
              <a:t> </a:t>
            </a:r>
            <a:r>
              <a:rPr lang="fr-FR" sz="2000" dirty="0" err="1" smtClean="0"/>
              <a:t>along</a:t>
            </a:r>
            <a:r>
              <a:rPr lang="fr-FR" sz="2000" dirty="0" smtClean="0"/>
              <a:t> the </a:t>
            </a:r>
            <a:r>
              <a:rPr lang="fr-FR" sz="2000" dirty="0" err="1" smtClean="0"/>
              <a:t>blue</a:t>
            </a:r>
            <a:r>
              <a:rPr lang="fr-FR" sz="2000" dirty="0" smtClean="0"/>
              <a:t> </a:t>
            </a:r>
            <a:r>
              <a:rPr lang="fr-FR" sz="2000" dirty="0" err="1" smtClean="0"/>
              <a:t>lines</a:t>
            </a:r>
            <a:r>
              <a:rPr lang="fr-FR" sz="2000" dirty="0" smtClean="0"/>
              <a:t>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000" dirty="0" smtClean="0"/>
              <a:t>Use superposition </a:t>
            </a:r>
            <a:r>
              <a:rPr lang="fr-FR" sz="2000" dirty="0"/>
              <a:t>of green points </a:t>
            </a:r>
            <a:r>
              <a:rPr lang="fr-FR" sz="2000" dirty="0" err="1" smtClean="0"/>
              <a:t>from</a:t>
            </a:r>
            <a:r>
              <a:rPr lang="fr-FR" sz="2000" dirty="0" smtClean="0"/>
              <a:t> </a:t>
            </a:r>
            <a:r>
              <a:rPr lang="fr-FR" sz="2000" dirty="0" err="1" smtClean="0"/>
              <a:t>two</a:t>
            </a:r>
            <a:r>
              <a:rPr lang="fr-FR" sz="2000" dirty="0" smtClean="0"/>
              <a:t> </a:t>
            </a:r>
            <a:r>
              <a:rPr lang="fr-FR" sz="2000" dirty="0"/>
              <a:t>adjacent clusters </a:t>
            </a:r>
            <a:r>
              <a:rPr lang="fr-FR" sz="2000" dirty="0" smtClean="0"/>
              <a:t>??? </a:t>
            </a:r>
            <a:endParaRPr lang="fr-FR" sz="2000" dirty="0" smtClean="0"/>
          </a:p>
          <a:p>
            <a:endParaRPr lang="fr-FR" sz="2000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5881" y="1473199"/>
            <a:ext cx="4016597" cy="3430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2656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10</a:t>
            </a:fld>
            <a:endParaRPr lang="fr-FR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C85350"/>
                </a:solidFill>
              </a:rPr>
              <a:t>Defect healing</a:t>
            </a:r>
            <a:endParaRPr lang="fr-FR" b="1" dirty="0">
              <a:solidFill>
                <a:srgbClr val="C85350"/>
              </a:solidFill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5C1DF85E-AE3C-4141-B8E3-32FC0D949336}"/>
              </a:ext>
            </a:extLst>
          </p:cNvPr>
          <p:cNvSpPr txBox="1"/>
          <p:nvPr/>
        </p:nvSpPr>
        <p:spPr>
          <a:xfrm>
            <a:off x="951348" y="6061858"/>
            <a:ext cx="555814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err="1"/>
              <a:t>Starting</a:t>
            </a:r>
            <a:r>
              <a:rPr lang="fr-FR" sz="2800" dirty="0"/>
              <a:t> point for </a:t>
            </a:r>
            <a:r>
              <a:rPr lang="fr-FR" sz="2800" dirty="0" err="1"/>
              <a:t>worms</a:t>
            </a:r>
            <a:r>
              <a:rPr lang="fr-FR" sz="2800" dirty="0"/>
              <a:t> </a:t>
            </a:r>
            <a:r>
              <a:rPr lang="fr-FR" sz="2800" dirty="0">
                <a:sym typeface="Wingdings" panose="05000000000000000000" pitchFamily="2" charset="2"/>
              </a:rPr>
              <a:t></a:t>
            </a:r>
            <a:endParaRPr lang="fr-FR" sz="2800" dirty="0"/>
          </a:p>
          <a:p>
            <a:endParaRPr lang="fr-FR" sz="2800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293" y="1313707"/>
            <a:ext cx="4675770" cy="4510527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9497" y="1361301"/>
            <a:ext cx="4901886" cy="4652962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5C1DF85E-AE3C-4141-B8E3-32FC0D949336}"/>
              </a:ext>
            </a:extLst>
          </p:cNvPr>
          <p:cNvSpPr txBox="1"/>
          <p:nvPr/>
        </p:nvSpPr>
        <p:spPr>
          <a:xfrm>
            <a:off x="6076803" y="6069757"/>
            <a:ext cx="607674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err="1"/>
              <a:t>After</a:t>
            </a:r>
            <a:r>
              <a:rPr lang="fr-FR" sz="2800" dirty="0"/>
              <a:t> </a:t>
            </a:r>
            <a:r>
              <a:rPr lang="fr-FR" sz="2800" dirty="0" err="1"/>
              <a:t>removing</a:t>
            </a:r>
            <a:r>
              <a:rPr lang="fr-FR" sz="2800" dirty="0"/>
              <a:t> </a:t>
            </a:r>
            <a:r>
              <a:rPr lang="fr-FR" sz="2800" dirty="0" err="1"/>
              <a:t>two</a:t>
            </a:r>
            <a:r>
              <a:rPr lang="fr-FR" sz="2800" dirty="0"/>
              <a:t> </a:t>
            </a:r>
            <a:r>
              <a:rPr lang="fr-FR" sz="2800" dirty="0" err="1" smtClean="0"/>
              <a:t>half-turned</a:t>
            </a:r>
            <a:r>
              <a:rPr lang="fr-FR" sz="2800" dirty="0" smtClean="0"/>
              <a:t> </a:t>
            </a:r>
            <a:r>
              <a:rPr lang="fr-FR" sz="2800" dirty="0" err="1"/>
              <a:t>tiles</a:t>
            </a:r>
            <a:endParaRPr lang="fr-FR" sz="2800" dirty="0"/>
          </a:p>
          <a:p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134798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11</a:t>
            </a:fld>
            <a:endParaRPr lang="fr-FR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C85350"/>
                </a:solidFill>
              </a:rPr>
              <a:t>Defect healing</a:t>
            </a:r>
            <a:endParaRPr lang="fr-FR" b="1" dirty="0">
              <a:solidFill>
                <a:srgbClr val="C85350"/>
              </a:solidFill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991" y="1570221"/>
            <a:ext cx="5630509" cy="4235122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1680" y="1460010"/>
            <a:ext cx="5779293" cy="4345333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5C1DF85E-AE3C-4141-B8E3-32FC0D949336}"/>
              </a:ext>
            </a:extLst>
          </p:cNvPr>
          <p:cNvSpPr txBox="1"/>
          <p:nvPr/>
        </p:nvSpPr>
        <p:spPr>
          <a:xfrm>
            <a:off x="951348" y="6061858"/>
            <a:ext cx="555814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err="1"/>
              <a:t>Starting</a:t>
            </a:r>
            <a:r>
              <a:rPr lang="fr-FR" sz="2800" dirty="0"/>
              <a:t> point for </a:t>
            </a:r>
            <a:r>
              <a:rPr lang="fr-FR" sz="2800" dirty="0" err="1"/>
              <a:t>worms</a:t>
            </a:r>
            <a:r>
              <a:rPr lang="fr-FR" sz="2800" dirty="0"/>
              <a:t> </a:t>
            </a:r>
            <a:r>
              <a:rPr lang="fr-FR" sz="2800" dirty="0">
                <a:sym typeface="Wingdings" panose="05000000000000000000" pitchFamily="2" charset="2"/>
              </a:rPr>
              <a:t></a:t>
            </a:r>
            <a:endParaRPr lang="fr-FR" sz="2800" dirty="0"/>
          </a:p>
          <a:p>
            <a:endParaRPr lang="fr-FR" sz="2800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5C1DF85E-AE3C-4141-B8E3-32FC0D949336}"/>
              </a:ext>
            </a:extLst>
          </p:cNvPr>
          <p:cNvSpPr txBox="1"/>
          <p:nvPr/>
        </p:nvSpPr>
        <p:spPr>
          <a:xfrm>
            <a:off x="6076803" y="6069757"/>
            <a:ext cx="607674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err="1"/>
              <a:t>After</a:t>
            </a:r>
            <a:r>
              <a:rPr lang="fr-FR" sz="2800" dirty="0"/>
              <a:t> </a:t>
            </a:r>
            <a:r>
              <a:rPr lang="fr-FR" sz="2800" dirty="0" err="1"/>
              <a:t>removing</a:t>
            </a:r>
            <a:r>
              <a:rPr lang="fr-FR" sz="2800" dirty="0"/>
              <a:t> </a:t>
            </a:r>
            <a:r>
              <a:rPr lang="fr-FR" sz="2800" dirty="0" err="1"/>
              <a:t>two</a:t>
            </a:r>
            <a:r>
              <a:rPr lang="fr-FR" sz="2800" dirty="0"/>
              <a:t> </a:t>
            </a:r>
            <a:r>
              <a:rPr lang="fr-FR" sz="2800" dirty="0" err="1" smtClean="0"/>
              <a:t>half-turned</a:t>
            </a:r>
            <a:r>
              <a:rPr lang="fr-FR" sz="2800" dirty="0" smtClean="0"/>
              <a:t> </a:t>
            </a:r>
            <a:r>
              <a:rPr lang="fr-FR" sz="2800" dirty="0" err="1"/>
              <a:t>tiles</a:t>
            </a:r>
            <a:endParaRPr lang="fr-FR" sz="2800" dirty="0"/>
          </a:p>
          <a:p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26085893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12</a:t>
            </a:fld>
            <a:endParaRPr lang="fr-FR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999" y="1151255"/>
            <a:ext cx="4572000" cy="3905250"/>
          </a:xfrm>
          <a:prstGeom prst="rect">
            <a:avLst/>
          </a:prstGeom>
        </p:spPr>
      </p:pic>
      <p:sp>
        <p:nvSpPr>
          <p:cNvPr id="4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smtClean="0">
                <a:solidFill>
                  <a:srgbClr val="C85350"/>
                </a:solidFill>
              </a:rPr>
              <a:t>TO DO: Step 2 </a:t>
            </a:r>
            <a:endParaRPr lang="fr-FR" b="1" dirty="0">
              <a:solidFill>
                <a:srgbClr val="C85350"/>
              </a:solidFill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C1DF85E-AE3C-4141-B8E3-32FC0D949336}"/>
              </a:ext>
            </a:extLst>
          </p:cNvPr>
          <p:cNvSpPr txBox="1"/>
          <p:nvPr/>
        </p:nvSpPr>
        <p:spPr>
          <a:xfrm>
            <a:off x="316859" y="5402243"/>
            <a:ext cx="1198909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/>
              <a:t>Replace all the 12 full clusters in </a:t>
            </a:r>
            <a:r>
              <a:rPr lang="fr-FR" sz="2800" dirty="0" err="1" smtClean="0"/>
              <a:t>this</a:t>
            </a:r>
            <a:r>
              <a:rPr lang="fr-FR" sz="2800" dirty="0" smtClean="0"/>
              <a:t> pattern </a:t>
            </a:r>
            <a:r>
              <a:rPr lang="fr-FR" sz="2800" dirty="0" err="1" smtClean="0"/>
              <a:t>with</a:t>
            </a:r>
            <a:r>
              <a:rPr lang="fr-FR" sz="2800" dirty="0" smtClean="0"/>
              <a:t> the </a:t>
            </a:r>
            <a:r>
              <a:rPr lang="fr-FR" sz="2800" dirty="0" err="1" smtClean="0"/>
              <a:t>same</a:t>
            </a:r>
            <a:r>
              <a:rPr lang="fr-FR" sz="2800" dirty="0" smtClean="0"/>
              <a:t> </a:t>
            </a:r>
            <a:r>
              <a:rPr lang="fr-FR" sz="2800" dirty="0" err="1" smtClean="0"/>
              <a:t>rule</a:t>
            </a:r>
            <a:r>
              <a:rPr lang="fr-FR" sz="2800" dirty="0" smtClean="0"/>
              <a:t> </a:t>
            </a:r>
            <a:r>
              <a:rPr lang="fr-FR" sz="2800" dirty="0" err="1" smtClean="0"/>
              <a:t>used</a:t>
            </a:r>
            <a:r>
              <a:rPr lang="fr-FR" sz="2800" dirty="0" smtClean="0"/>
              <a:t> </a:t>
            </a:r>
            <a:r>
              <a:rPr lang="fr-FR" sz="2800" dirty="0" err="1" smtClean="0"/>
              <a:t>previously</a:t>
            </a:r>
            <a:r>
              <a:rPr lang="fr-FR" sz="2800" dirty="0" smtClean="0"/>
              <a:t> for C1 (</a:t>
            </a:r>
            <a:r>
              <a:rPr lang="fr-FR" sz="2800" dirty="0" err="1" smtClean="0"/>
              <a:t>just</a:t>
            </a:r>
            <a:r>
              <a:rPr lang="fr-FR" sz="2800" dirty="0" smtClean="0"/>
              <a:t> a rotation of the pattern for C2, C3, C4, C5 and C6)</a:t>
            </a:r>
          </a:p>
        </p:txBody>
      </p:sp>
    </p:spTree>
    <p:extLst>
      <p:ext uri="{BB962C8B-B14F-4D97-AF65-F5344CB8AC3E}">
        <p14:creationId xmlns:p14="http://schemas.microsoft.com/office/powerpoint/2010/main" val="1883897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13</a:t>
            </a:fld>
            <a:endParaRPr lang="fr-FR"/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C85350"/>
                </a:solidFill>
              </a:rPr>
              <a:t>New reference triangle in Tile(</a:t>
            </a:r>
            <a:r>
              <a:rPr lang="en-US" b="1" dirty="0" err="1">
                <a:solidFill>
                  <a:srgbClr val="C85350"/>
                </a:solidFill>
              </a:rPr>
              <a:t>a,b</a:t>
            </a:r>
            <a:r>
              <a:rPr lang="en-US" b="1" dirty="0">
                <a:solidFill>
                  <a:srgbClr val="C85350"/>
                </a:solidFill>
              </a:rPr>
              <a:t>)</a:t>
            </a:r>
            <a:endParaRPr lang="fr-FR" b="1" dirty="0">
              <a:solidFill>
                <a:srgbClr val="C8535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749670" y="5039163"/>
            <a:ext cx="133944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dirty="0">
                <a:solidFill>
                  <a:srgbClr val="268BD2"/>
                </a:solidFill>
                <a:latin typeface="Consolas" panose="020B0609020204030204" pitchFamily="49" charset="0"/>
              </a:rPr>
              <a:t>a</a:t>
            </a:r>
            <a:r>
              <a:rPr lang="fr-FR" sz="2400" dirty="0">
                <a:solidFill>
                  <a:srgbClr val="859900"/>
                </a:solidFill>
                <a:latin typeface="Consolas" panose="020B0609020204030204" pitchFamily="49" charset="0"/>
              </a:rPr>
              <a:t>=</a:t>
            </a:r>
            <a:r>
              <a:rPr lang="fr-FR" sz="2400" dirty="0">
                <a:solidFill>
                  <a:srgbClr val="D33682"/>
                </a:solidFill>
                <a:latin typeface="Consolas" panose="020B0609020204030204" pitchFamily="49" charset="0"/>
              </a:rPr>
              <a:t>1.6</a:t>
            </a:r>
            <a:endParaRPr lang="fr-FR" sz="2400" dirty="0">
              <a:solidFill>
                <a:srgbClr val="657B83"/>
              </a:solidFill>
              <a:latin typeface="Consolas" panose="020B0609020204030204" pitchFamily="49" charset="0"/>
            </a:endParaRPr>
          </a:p>
          <a:p>
            <a:r>
              <a:rPr lang="fr-FR" sz="2400" dirty="0">
                <a:solidFill>
                  <a:srgbClr val="268BD2"/>
                </a:solidFill>
                <a:latin typeface="Consolas" panose="020B0609020204030204" pitchFamily="49" charset="0"/>
              </a:rPr>
              <a:t>b</a:t>
            </a:r>
            <a:r>
              <a:rPr lang="fr-FR" sz="2400" dirty="0">
                <a:solidFill>
                  <a:srgbClr val="859900"/>
                </a:solidFill>
                <a:latin typeface="Consolas" panose="020B0609020204030204" pitchFamily="49" charset="0"/>
              </a:rPr>
              <a:t>=</a:t>
            </a:r>
            <a:r>
              <a:rPr lang="fr-FR" sz="2400" dirty="0">
                <a:solidFill>
                  <a:srgbClr val="D33682"/>
                </a:solidFill>
                <a:latin typeface="Consolas" panose="020B0609020204030204" pitchFamily="49" charset="0"/>
              </a:rPr>
              <a:t>1.2</a:t>
            </a:r>
            <a:endParaRPr lang="fr-FR" sz="2400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7209" y="4187851"/>
            <a:ext cx="5051460" cy="2533623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0124" y="1422041"/>
            <a:ext cx="9229725" cy="2657475"/>
          </a:xfrm>
          <a:prstGeom prst="rect">
            <a:avLst/>
          </a:prstGeom>
        </p:spPr>
      </p:pic>
      <p:sp>
        <p:nvSpPr>
          <p:cNvPr id="10" name="ZoneTexte 9"/>
          <p:cNvSpPr txBox="1"/>
          <p:nvPr/>
        </p:nvSpPr>
        <p:spPr>
          <a:xfrm>
            <a:off x="901425" y="4187850"/>
            <a:ext cx="41456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err="1"/>
              <a:t>Robust</a:t>
            </a:r>
            <a:r>
              <a:rPr lang="fr-FR" sz="2800" dirty="0"/>
              <a:t> for </a:t>
            </a:r>
            <a:r>
              <a:rPr lang="fr-FR" sz="2800" dirty="0" err="1"/>
              <a:t>any</a:t>
            </a:r>
            <a:r>
              <a:rPr lang="fr-FR" sz="2800" dirty="0"/>
              <a:t> T(</a:t>
            </a:r>
            <a:r>
              <a:rPr lang="fr-FR" sz="2800" dirty="0" err="1"/>
              <a:t>a,b</a:t>
            </a:r>
            <a:r>
              <a:rPr lang="fr-FR" sz="2800" dirty="0"/>
              <a:t>) </a:t>
            </a:r>
            <a:r>
              <a:rPr lang="fr-FR" sz="2800" dirty="0" err="1"/>
              <a:t>tile</a:t>
            </a:r>
            <a:r>
              <a:rPr lang="fr-FR" sz="2800" dirty="0"/>
              <a:t> </a:t>
            </a:r>
            <a:r>
              <a:rPr lang="fr-FR" sz="2800" dirty="0">
                <a:sym typeface="Wingdings" panose="05000000000000000000" pitchFamily="2" charset="2"/>
              </a:rPr>
              <a:t>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2211825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14</a:t>
            </a:fld>
            <a:endParaRPr lang="fr-FR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424" y="2228738"/>
            <a:ext cx="10681376" cy="3157244"/>
          </a:xfrm>
          <a:prstGeom prst="rect">
            <a:avLst/>
          </a:prstGeom>
        </p:spPr>
      </p:pic>
      <p:sp>
        <p:nvSpPr>
          <p:cNvPr id="4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C85350"/>
                </a:solidFill>
              </a:rPr>
              <a:t>Link with trifle and bow-tie in Tile(1,1)</a:t>
            </a:r>
            <a:endParaRPr lang="fr-FR" b="1" dirty="0">
              <a:solidFill>
                <a:srgbClr val="C853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88248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15</a:t>
            </a:fld>
            <a:endParaRPr lang="fr-FR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7991" y="1193800"/>
            <a:ext cx="9265710" cy="5162550"/>
          </a:xfrm>
          <a:prstGeom prst="rect">
            <a:avLst/>
          </a:prstGeom>
        </p:spPr>
      </p:pic>
      <p:sp>
        <p:nvSpPr>
          <p:cNvPr id="4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C85350"/>
                </a:solidFill>
              </a:rPr>
              <a:t>Comparison with hexagon/square/rhombus decomposition</a:t>
            </a:r>
            <a:endParaRPr lang="fr-FR" b="1" dirty="0">
              <a:solidFill>
                <a:srgbClr val="C853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91882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1206" y="619760"/>
            <a:ext cx="10483934" cy="5293359"/>
          </a:xfrm>
          <a:prstGeom prst="rect">
            <a:avLst/>
          </a:prstGeom>
        </p:spPr>
      </p:pic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16</a:t>
            </a:fld>
            <a:endParaRPr lang="fr-FR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C85350"/>
                </a:solidFill>
              </a:rPr>
              <a:t>Tile(1,1) : </a:t>
            </a:r>
            <a:r>
              <a:rPr lang="en-US" b="1" dirty="0" err="1">
                <a:solidFill>
                  <a:srgbClr val="C85350"/>
                </a:solidFill>
              </a:rPr>
              <a:t>spectre</a:t>
            </a:r>
            <a:r>
              <a:rPr lang="en-US" b="1" dirty="0">
                <a:solidFill>
                  <a:srgbClr val="C85350"/>
                </a:solidFill>
              </a:rPr>
              <a:t> tile</a:t>
            </a:r>
            <a:endParaRPr lang="fr-FR" b="1" dirty="0">
              <a:solidFill>
                <a:srgbClr val="C853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23957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17</a:t>
            </a:fld>
            <a:endParaRPr lang="fr-FR"/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smtClean="0">
                <a:solidFill>
                  <a:srgbClr val="C85350"/>
                </a:solidFill>
              </a:rPr>
              <a:t>translation </a:t>
            </a:r>
            <a:r>
              <a:rPr lang="en-US" b="1" dirty="0">
                <a:solidFill>
                  <a:srgbClr val="C85350"/>
                </a:solidFill>
              </a:rPr>
              <a:t>versus </a:t>
            </a:r>
            <a:r>
              <a:rPr lang="en-US" b="1" dirty="0" smtClean="0">
                <a:solidFill>
                  <a:srgbClr val="C85350"/>
                </a:solidFill>
              </a:rPr>
              <a:t>half-turn </a:t>
            </a:r>
            <a:r>
              <a:rPr lang="en-US" b="1" dirty="0">
                <a:solidFill>
                  <a:srgbClr val="C85350"/>
                </a:solidFill>
              </a:rPr>
              <a:t>for any Tile(</a:t>
            </a:r>
            <a:r>
              <a:rPr lang="en-US" b="1" dirty="0" err="1">
                <a:solidFill>
                  <a:srgbClr val="C85350"/>
                </a:solidFill>
              </a:rPr>
              <a:t>a,b</a:t>
            </a:r>
            <a:r>
              <a:rPr lang="en-US" b="1" dirty="0">
                <a:solidFill>
                  <a:srgbClr val="C85350"/>
                </a:solidFill>
              </a:rPr>
              <a:t>)</a:t>
            </a:r>
            <a:endParaRPr lang="fr-FR" b="1" dirty="0">
              <a:solidFill>
                <a:srgbClr val="C85350"/>
              </a:solidFill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763" y="1289289"/>
            <a:ext cx="9698037" cy="4267714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807097" y="1506656"/>
            <a:ext cx="133944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dirty="0">
                <a:solidFill>
                  <a:srgbClr val="268BD2"/>
                </a:solidFill>
                <a:latin typeface="Consolas" panose="020B0609020204030204" pitchFamily="49" charset="0"/>
              </a:rPr>
              <a:t>a</a:t>
            </a:r>
            <a:r>
              <a:rPr lang="fr-FR" sz="2400" dirty="0">
                <a:solidFill>
                  <a:srgbClr val="859900"/>
                </a:solidFill>
                <a:latin typeface="Consolas" panose="020B0609020204030204" pitchFamily="49" charset="0"/>
              </a:rPr>
              <a:t>=</a:t>
            </a:r>
            <a:r>
              <a:rPr lang="fr-FR" sz="2400" dirty="0">
                <a:solidFill>
                  <a:srgbClr val="D33682"/>
                </a:solidFill>
                <a:latin typeface="Consolas" panose="020B0609020204030204" pitchFamily="49" charset="0"/>
              </a:rPr>
              <a:t>1.6</a:t>
            </a:r>
            <a:endParaRPr lang="fr-FR" sz="2400" dirty="0">
              <a:solidFill>
                <a:srgbClr val="657B83"/>
              </a:solidFill>
              <a:latin typeface="Consolas" panose="020B0609020204030204" pitchFamily="49" charset="0"/>
            </a:endParaRPr>
          </a:p>
          <a:p>
            <a:r>
              <a:rPr lang="fr-FR" sz="2400" dirty="0">
                <a:solidFill>
                  <a:srgbClr val="268BD2"/>
                </a:solidFill>
                <a:latin typeface="Consolas" panose="020B0609020204030204" pitchFamily="49" charset="0"/>
              </a:rPr>
              <a:t>b</a:t>
            </a:r>
            <a:r>
              <a:rPr lang="fr-FR" sz="2400" dirty="0">
                <a:solidFill>
                  <a:srgbClr val="859900"/>
                </a:solidFill>
                <a:latin typeface="Consolas" panose="020B0609020204030204" pitchFamily="49" charset="0"/>
              </a:rPr>
              <a:t>=</a:t>
            </a:r>
            <a:r>
              <a:rPr lang="fr-FR" sz="2400" dirty="0">
                <a:solidFill>
                  <a:srgbClr val="D33682"/>
                </a:solidFill>
                <a:latin typeface="Consolas" panose="020B0609020204030204" pitchFamily="49" charset="0"/>
              </a:rPr>
              <a:t>1.2</a:t>
            </a:r>
            <a:endParaRPr lang="fr-FR" sz="2400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96010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18</a:t>
            </a:fld>
            <a:endParaRPr lang="fr-FR"/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C85350"/>
                </a:solidFill>
              </a:rPr>
              <a:t>Cluster and full cluster</a:t>
            </a:r>
            <a:endParaRPr lang="fr-FR" b="1" dirty="0">
              <a:solidFill>
                <a:srgbClr val="C85350"/>
              </a:solidFill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4839" y="1437556"/>
            <a:ext cx="12220575" cy="340995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16859" y="1367541"/>
            <a:ext cx="133944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dirty="0">
                <a:solidFill>
                  <a:srgbClr val="268BD2"/>
                </a:solidFill>
                <a:latin typeface="Consolas" panose="020B0609020204030204" pitchFamily="49" charset="0"/>
              </a:rPr>
              <a:t>a</a:t>
            </a:r>
            <a:r>
              <a:rPr lang="fr-FR" sz="2400" dirty="0">
                <a:solidFill>
                  <a:srgbClr val="859900"/>
                </a:solidFill>
                <a:latin typeface="Consolas" panose="020B0609020204030204" pitchFamily="49" charset="0"/>
              </a:rPr>
              <a:t>=</a:t>
            </a:r>
            <a:r>
              <a:rPr lang="fr-FR" sz="2400" dirty="0">
                <a:solidFill>
                  <a:srgbClr val="D33682"/>
                </a:solidFill>
                <a:latin typeface="Consolas" panose="020B0609020204030204" pitchFamily="49" charset="0"/>
              </a:rPr>
              <a:t>1.6</a:t>
            </a:r>
            <a:endParaRPr lang="fr-FR" sz="2400" dirty="0">
              <a:solidFill>
                <a:srgbClr val="657B83"/>
              </a:solidFill>
              <a:latin typeface="Consolas" panose="020B0609020204030204" pitchFamily="49" charset="0"/>
            </a:endParaRPr>
          </a:p>
          <a:p>
            <a:r>
              <a:rPr lang="fr-FR" sz="2400" dirty="0">
                <a:solidFill>
                  <a:srgbClr val="268BD2"/>
                </a:solidFill>
                <a:latin typeface="Consolas" panose="020B0609020204030204" pitchFamily="49" charset="0"/>
              </a:rPr>
              <a:t>b</a:t>
            </a:r>
            <a:r>
              <a:rPr lang="fr-FR" sz="2400" dirty="0">
                <a:solidFill>
                  <a:srgbClr val="859900"/>
                </a:solidFill>
                <a:latin typeface="Consolas" panose="020B0609020204030204" pitchFamily="49" charset="0"/>
              </a:rPr>
              <a:t>=</a:t>
            </a:r>
            <a:r>
              <a:rPr lang="fr-FR" sz="2400" dirty="0">
                <a:solidFill>
                  <a:srgbClr val="D33682"/>
                </a:solidFill>
                <a:latin typeface="Consolas" panose="020B0609020204030204" pitchFamily="49" charset="0"/>
              </a:rPr>
              <a:t>1.2</a:t>
            </a:r>
            <a:endParaRPr lang="fr-FR" sz="2400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ZoneTexte 10"/>
          <p:cNvSpPr txBox="1"/>
          <p:nvPr/>
        </p:nvSpPr>
        <p:spPr>
          <a:xfrm>
            <a:off x="7128584" y="5153917"/>
            <a:ext cx="450636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err="1"/>
              <a:t>Three</a:t>
            </a:r>
            <a:r>
              <a:rPr lang="fr-FR" sz="2800" dirty="0"/>
              <a:t> more possible </a:t>
            </a:r>
            <a:r>
              <a:rPr lang="fr-FR" sz="2800" dirty="0" err="1"/>
              <a:t>tiles</a:t>
            </a:r>
            <a:r>
              <a:rPr lang="fr-FR" sz="2800" dirty="0"/>
              <a:t> </a:t>
            </a:r>
            <a:r>
              <a:rPr lang="fr-FR" sz="2800" dirty="0" err="1" smtClean="0"/>
              <a:t>with</a:t>
            </a:r>
            <a:r>
              <a:rPr lang="fr-FR" sz="2800" dirty="0" smtClean="0"/>
              <a:t> </a:t>
            </a:r>
            <a:r>
              <a:rPr lang="fr-FR" sz="2800" dirty="0" err="1" smtClean="0"/>
              <a:t>half-turn</a:t>
            </a:r>
            <a:r>
              <a:rPr lang="fr-FR" sz="2800" dirty="0" smtClean="0"/>
              <a:t> </a:t>
            </a:r>
            <a:r>
              <a:rPr lang="fr-FR" sz="2800" dirty="0" err="1" smtClean="0"/>
              <a:t>around</a:t>
            </a:r>
            <a:r>
              <a:rPr lang="fr-FR" sz="2800" dirty="0" smtClean="0"/>
              <a:t> </a:t>
            </a:r>
            <a:r>
              <a:rPr lang="fr-FR" sz="2800" dirty="0"/>
              <a:t>the green points</a:t>
            </a:r>
          </a:p>
        </p:txBody>
      </p:sp>
      <p:sp>
        <p:nvSpPr>
          <p:cNvPr id="12" name="ZoneTexte 11"/>
          <p:cNvSpPr txBox="1"/>
          <p:nvPr/>
        </p:nvSpPr>
        <p:spPr>
          <a:xfrm>
            <a:off x="232718" y="4971355"/>
            <a:ext cx="284717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C cluster</a:t>
            </a:r>
          </a:p>
          <a:p>
            <a:r>
              <a:rPr lang="fr-FR" sz="2800" dirty="0"/>
              <a:t>(corona </a:t>
            </a:r>
            <a:r>
              <a:rPr lang="fr-FR" sz="2800" dirty="0" err="1"/>
              <a:t>around</a:t>
            </a:r>
            <a:r>
              <a:rPr lang="fr-FR" sz="2800" dirty="0"/>
              <a:t> a ODD </a:t>
            </a:r>
            <a:r>
              <a:rPr lang="fr-FR" sz="2800" dirty="0" err="1"/>
              <a:t>tile</a:t>
            </a:r>
            <a:r>
              <a:rPr lang="fr-FR" sz="2800" dirty="0"/>
              <a:t>)</a:t>
            </a:r>
          </a:p>
        </p:txBody>
      </p:sp>
      <p:sp>
        <p:nvSpPr>
          <p:cNvPr id="13" name="ZoneTexte 12"/>
          <p:cNvSpPr txBox="1"/>
          <p:nvPr/>
        </p:nvSpPr>
        <p:spPr>
          <a:xfrm>
            <a:off x="3371135" y="5123754"/>
            <a:ext cx="284717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The </a:t>
            </a:r>
            <a:r>
              <a:rPr lang="fr-FR" sz="2800" dirty="0" err="1"/>
              <a:t>three</a:t>
            </a:r>
            <a:r>
              <a:rPr lang="fr-FR" sz="2800" dirty="0"/>
              <a:t> </a:t>
            </a:r>
            <a:r>
              <a:rPr lang="fr-FR" sz="2800" dirty="0" err="1" smtClean="0"/>
              <a:t>translated</a:t>
            </a:r>
            <a:r>
              <a:rPr lang="fr-FR" sz="2800" dirty="0" smtClean="0"/>
              <a:t> </a:t>
            </a:r>
            <a:r>
              <a:rPr lang="fr-FR" sz="2800" dirty="0" err="1"/>
              <a:t>tiles</a:t>
            </a:r>
            <a:r>
              <a:rPr lang="fr-FR" sz="2800" dirty="0"/>
              <a:t> are all in the </a:t>
            </a:r>
            <a:r>
              <a:rPr lang="fr-FR" sz="2800" dirty="0" err="1"/>
              <a:t>tiling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23624716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19</a:t>
            </a:fld>
            <a:endParaRPr lang="fr-FR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350" y="1037419"/>
            <a:ext cx="5715000" cy="494959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445435" y="6169580"/>
            <a:ext cx="118751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latin typeface="CMR10"/>
              </a:rPr>
              <a:t>Chéritat</a:t>
            </a:r>
            <a:r>
              <a:rPr lang="en-US" dirty="0">
                <a:latin typeface="CMR10"/>
              </a:rPr>
              <a:t>, A., (2024). Observations on the hex clusters of the </a:t>
            </a:r>
            <a:r>
              <a:rPr lang="en-US" dirty="0" err="1">
                <a:latin typeface="CMR10"/>
              </a:rPr>
              <a:t>spectre</a:t>
            </a:r>
            <a:r>
              <a:rPr lang="en-US" dirty="0">
                <a:latin typeface="CMR10"/>
              </a:rPr>
              <a:t> </a:t>
            </a:r>
            <a:r>
              <a:rPr lang="en-US" dirty="0" err="1">
                <a:latin typeface="CMR10"/>
              </a:rPr>
              <a:t>tilings</a:t>
            </a:r>
            <a:r>
              <a:rPr lang="en-US" dirty="0">
                <a:latin typeface="CMR10"/>
              </a:rPr>
              <a:t>. </a:t>
            </a:r>
            <a:r>
              <a:rPr lang="fr-FR" dirty="0">
                <a:latin typeface="CMR10"/>
                <a:hlinkClick r:id="rId3"/>
              </a:rPr>
              <a:t>https://arxiv.org/abs/2407.05359</a:t>
            </a:r>
            <a:endParaRPr lang="fr-FR" dirty="0">
              <a:latin typeface="CMR10"/>
            </a:endParaRPr>
          </a:p>
        </p:txBody>
      </p:sp>
      <p:sp>
        <p:nvSpPr>
          <p:cNvPr id="15" name="Titre 1">
            <a:extLst>
              <a:ext uri="{FF2B5EF4-FFF2-40B4-BE49-F238E27FC236}">
                <a16:creationId xmlns:a16="http://schemas.microsoft.com/office/drawing/2014/main" id="{051A3091-2EA5-465A-A4C4-48DDA269330D}"/>
              </a:ext>
            </a:extLst>
          </p:cNvPr>
          <p:cNvSpPr txBox="1">
            <a:spLocks/>
          </p:cNvSpPr>
          <p:nvPr/>
        </p:nvSpPr>
        <p:spPr>
          <a:xfrm>
            <a:off x="7770824" y="3059698"/>
            <a:ext cx="4676752" cy="60679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b="1" dirty="0" err="1">
                <a:solidFill>
                  <a:srgbClr val="FF0000"/>
                </a:solidFill>
              </a:rPr>
              <a:t>Combinatorial</a:t>
            </a:r>
            <a:r>
              <a:rPr lang="fr-FR" sz="3200" b="1" dirty="0">
                <a:solidFill>
                  <a:srgbClr val="FF0000"/>
                </a:solidFill>
              </a:rPr>
              <a:t> </a:t>
            </a:r>
            <a:r>
              <a:rPr lang="fr-FR" sz="3200" b="1" dirty="0" err="1">
                <a:solidFill>
                  <a:srgbClr val="FF0000"/>
                </a:solidFill>
              </a:rPr>
              <a:t>properties</a:t>
            </a:r>
            <a:endParaRPr lang="fr-FR" sz="3200" b="1" dirty="0">
              <a:solidFill>
                <a:srgbClr val="FF0000"/>
              </a:solidFill>
            </a:endParaRPr>
          </a:p>
        </p:txBody>
      </p:sp>
      <p:sp>
        <p:nvSpPr>
          <p:cNvPr id="16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smtClean="0">
                <a:solidFill>
                  <a:srgbClr val="C85350"/>
                </a:solidFill>
              </a:rPr>
              <a:t>8 types </a:t>
            </a:r>
            <a:r>
              <a:rPr lang="en-US" b="1" dirty="0">
                <a:solidFill>
                  <a:srgbClr val="C85350"/>
                </a:solidFill>
              </a:rPr>
              <a:t>of hexagonal clusters</a:t>
            </a:r>
            <a:endParaRPr lang="fr-FR" b="1" dirty="0">
              <a:solidFill>
                <a:srgbClr val="C853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71392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20</a:t>
            </a:fld>
            <a:endParaRPr lang="fr-FR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7644" y="890812"/>
            <a:ext cx="5715000" cy="494959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445435" y="6169580"/>
            <a:ext cx="118751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latin typeface="CMR10"/>
              </a:rPr>
              <a:t>Chéritat</a:t>
            </a:r>
            <a:r>
              <a:rPr lang="en-US" dirty="0">
                <a:latin typeface="CMR10"/>
              </a:rPr>
              <a:t>, A., (2024). Observations on the hex clusters of the </a:t>
            </a:r>
            <a:r>
              <a:rPr lang="en-US" dirty="0" err="1">
                <a:latin typeface="CMR10"/>
              </a:rPr>
              <a:t>spectre</a:t>
            </a:r>
            <a:r>
              <a:rPr lang="en-US" dirty="0">
                <a:latin typeface="CMR10"/>
              </a:rPr>
              <a:t> </a:t>
            </a:r>
            <a:r>
              <a:rPr lang="en-US" dirty="0" err="1">
                <a:latin typeface="CMR10"/>
              </a:rPr>
              <a:t>tilings</a:t>
            </a:r>
            <a:r>
              <a:rPr lang="en-US" dirty="0">
                <a:latin typeface="CMR10"/>
              </a:rPr>
              <a:t>. </a:t>
            </a:r>
            <a:r>
              <a:rPr lang="fr-FR" dirty="0">
                <a:latin typeface="CMR10"/>
                <a:hlinkClick r:id="rId3"/>
              </a:rPr>
              <a:t>https://arxiv.org/abs/2407.05359</a:t>
            </a:r>
            <a:endParaRPr lang="fr-FR" dirty="0">
              <a:latin typeface="CMR10"/>
            </a:endParaRPr>
          </a:p>
        </p:txBody>
      </p:sp>
      <p:sp>
        <p:nvSpPr>
          <p:cNvPr id="16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C85350"/>
                </a:solidFill>
              </a:rPr>
              <a:t>Find equivalence with the hexagonal clusters ?</a:t>
            </a:r>
            <a:endParaRPr lang="fr-FR" b="1" dirty="0">
              <a:solidFill>
                <a:srgbClr val="C85350"/>
              </a:solidFill>
            </a:endParaRPr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1481605" flipH="1">
            <a:off x="647818" y="3737993"/>
            <a:ext cx="2168926" cy="2270650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419462" flipV="1">
            <a:off x="3384168" y="3885558"/>
            <a:ext cx="2627578" cy="2167900"/>
          </a:xfrm>
          <a:prstGeom prst="rect">
            <a:avLst/>
          </a:prstGeom>
        </p:spPr>
      </p:pic>
      <p:sp>
        <p:nvSpPr>
          <p:cNvPr id="4" name="Rectangle à coins arrondis 3"/>
          <p:cNvSpPr/>
          <p:nvPr/>
        </p:nvSpPr>
        <p:spPr>
          <a:xfrm>
            <a:off x="6148921" y="4137362"/>
            <a:ext cx="1962705" cy="1867633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/>
          <p:cNvSpPr txBox="1"/>
          <p:nvPr/>
        </p:nvSpPr>
        <p:spPr>
          <a:xfrm>
            <a:off x="6383005" y="2699896"/>
            <a:ext cx="3754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dirty="0"/>
              <a:t>?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DE19A717-69CC-497E-927E-FC8869E4CA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8478" y="1088052"/>
            <a:ext cx="4732021" cy="2636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1647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21</a:t>
            </a:fld>
            <a:endParaRPr lang="fr-FR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9240" y="876300"/>
            <a:ext cx="4105275" cy="5981700"/>
          </a:xfrm>
          <a:prstGeom prst="rect">
            <a:avLst/>
          </a:prstGeom>
        </p:spPr>
      </p:pic>
      <p:sp>
        <p:nvSpPr>
          <p:cNvPr id="4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smtClean="0">
                <a:solidFill>
                  <a:srgbClr val="C85350"/>
                </a:solidFill>
              </a:rPr>
              <a:t>Full cluster superposition on the 9 combinations</a:t>
            </a:r>
            <a:endParaRPr lang="fr-FR" b="1" dirty="0">
              <a:solidFill>
                <a:srgbClr val="C85350"/>
              </a:solidFill>
            </a:endParaRP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051A3091-2EA5-465A-A4C4-48DDA269330D}"/>
              </a:ext>
            </a:extLst>
          </p:cNvPr>
          <p:cNvSpPr txBox="1">
            <a:spLocks/>
          </p:cNvSpPr>
          <p:nvPr/>
        </p:nvSpPr>
        <p:spPr>
          <a:xfrm>
            <a:off x="8898467" y="3125601"/>
            <a:ext cx="1794384" cy="60679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b="1" dirty="0" smtClean="0">
                <a:solidFill>
                  <a:srgbClr val="FF0000"/>
                </a:solidFill>
              </a:rPr>
              <a:t>WHY ???</a:t>
            </a:r>
            <a:endParaRPr lang="fr-FR" sz="3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32991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22</a:t>
            </a:fld>
            <a:endParaRPr lang="fr-FR"/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err="1">
                <a:solidFill>
                  <a:srgbClr val="C85350"/>
                </a:solidFill>
              </a:rPr>
              <a:t>Homochiral</a:t>
            </a:r>
            <a:r>
              <a:rPr lang="en-US" b="1" dirty="0">
                <a:solidFill>
                  <a:srgbClr val="C85350"/>
                </a:solidFill>
              </a:rPr>
              <a:t> python code on </a:t>
            </a:r>
            <a:r>
              <a:rPr lang="en-US" b="1" dirty="0" err="1">
                <a:solidFill>
                  <a:srgbClr val="C85350"/>
                </a:solidFill>
              </a:rPr>
              <a:t>github</a:t>
            </a:r>
            <a:endParaRPr lang="fr-FR" b="1" dirty="0">
              <a:solidFill>
                <a:srgbClr val="C85350"/>
              </a:solidFill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C1DF85E-AE3C-4141-B8E3-32FC0D949336}"/>
              </a:ext>
            </a:extLst>
          </p:cNvPr>
          <p:cNvSpPr txBox="1"/>
          <p:nvPr/>
        </p:nvSpPr>
        <p:spPr>
          <a:xfrm>
            <a:off x="441434" y="1447271"/>
            <a:ext cx="11217166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/>
              <a:t>Under construction !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>
                <a:hlinkClick r:id="rId2"/>
              </a:rPr>
              <a:t>https://github.com/marimperorclerc/homochiral</a:t>
            </a:r>
            <a:endParaRPr lang="fr-FR" sz="2800" dirty="0"/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fr-FR" sz="2800" dirty="0"/>
          </a:p>
          <a:p>
            <a:r>
              <a:rPr lang="en-US" sz="2800" dirty="0"/>
              <a:t>python code for drawing clusters with Tile(</a:t>
            </a:r>
            <a:r>
              <a:rPr lang="en-US" sz="2800" dirty="0" err="1"/>
              <a:t>a,b</a:t>
            </a:r>
            <a:r>
              <a:rPr lang="en-US" sz="2800" dirty="0"/>
              <a:t>) in </a:t>
            </a:r>
            <a:r>
              <a:rPr lang="en-US" sz="2800" dirty="0" err="1"/>
              <a:t>svg</a:t>
            </a:r>
            <a:r>
              <a:rPr lang="en-US" sz="2800" dirty="0"/>
              <a:t> graphics.</a:t>
            </a:r>
          </a:p>
          <a:p>
            <a:endParaRPr lang="en-US" sz="2800" dirty="0"/>
          </a:p>
          <a:p>
            <a:r>
              <a:rPr lang="en-US" sz="2800" b="1" dirty="0"/>
              <a:t>References</a:t>
            </a:r>
          </a:p>
          <a:p>
            <a:r>
              <a:rPr lang="en-US" sz="2800" dirty="0"/>
              <a:t>Code is based on the </a:t>
            </a:r>
            <a:r>
              <a:rPr lang="en-US" sz="2800" dirty="0" err="1"/>
              <a:t>drawsvg</a:t>
            </a:r>
            <a:r>
              <a:rPr lang="en-US" sz="2800" dirty="0"/>
              <a:t> package: </a:t>
            </a:r>
          </a:p>
          <a:p>
            <a:r>
              <a:rPr lang="en-US" sz="2800" dirty="0">
                <a:hlinkClick r:id="rId3"/>
              </a:rPr>
              <a:t>https://pypi.org/project/drawsvg/</a:t>
            </a:r>
            <a:endParaRPr lang="en-US" sz="2800" dirty="0"/>
          </a:p>
          <a:p>
            <a:r>
              <a:rPr lang="en-US" sz="2800" dirty="0"/>
              <a:t>And the python code with alternate chirality for inflation for </a:t>
            </a:r>
            <a:r>
              <a:rPr lang="en-US" sz="2800" dirty="0" err="1"/>
              <a:t>spectre</a:t>
            </a:r>
            <a:r>
              <a:rPr lang="en-US" sz="2800" dirty="0"/>
              <a:t> tiling: </a:t>
            </a:r>
          </a:p>
          <a:p>
            <a:r>
              <a:rPr lang="en-US" sz="2800" dirty="0">
                <a:hlinkClick r:id="rId4"/>
              </a:rPr>
              <a:t>https://github.com/shrx/spectre/blob/master/spectre.py</a:t>
            </a:r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fr-FR" sz="2800" dirty="0"/>
          </a:p>
          <a:p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187037838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81659</TotalTime>
  <Words>641</Words>
  <Application>Microsoft Office PowerPoint</Application>
  <PresentationFormat>Grand écran</PresentationFormat>
  <Paragraphs>97</Paragraphs>
  <Slides>22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22</vt:i4>
      </vt:variant>
    </vt:vector>
  </HeadingPairs>
  <TitlesOfParts>
    <vt:vector size="29" baseType="lpstr">
      <vt:lpstr>Arial</vt:lpstr>
      <vt:lpstr>Calibri</vt:lpstr>
      <vt:lpstr>Calibri Light</vt:lpstr>
      <vt:lpstr>CMR10</vt:lpstr>
      <vt:lpstr>Consolas</vt:lpstr>
      <vt:lpstr>Wingdings</vt:lpstr>
      <vt:lpstr>Thème Office</vt:lpstr>
      <vt:lpstr>Homochiral ideas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LPS-CNRS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SoftQC – Auto-assemblage de nanoparticules: des super-réseaux périodiques aux phases quasicristallines</dc:title>
  <dc:creator>Administrateur</dc:creator>
  <cp:lastModifiedBy>Administrateur</cp:lastModifiedBy>
  <cp:revision>991</cp:revision>
  <dcterms:created xsi:type="dcterms:W3CDTF">2024-05-03T12:49:25Z</dcterms:created>
  <dcterms:modified xsi:type="dcterms:W3CDTF">2025-10-20T10:30:59Z</dcterms:modified>
</cp:coreProperties>
</file>
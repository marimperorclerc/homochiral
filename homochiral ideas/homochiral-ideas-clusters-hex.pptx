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6"/>
  </p:notesMasterIdLst>
  <p:sldIdLst>
    <p:sldId id="797" r:id="rId2"/>
    <p:sldId id="769" r:id="rId3"/>
    <p:sldId id="795" r:id="rId4"/>
    <p:sldId id="771" r:id="rId5"/>
    <p:sldId id="775" r:id="rId6"/>
    <p:sldId id="800" r:id="rId7"/>
    <p:sldId id="801" r:id="rId8"/>
    <p:sldId id="776" r:id="rId9"/>
    <p:sldId id="778" r:id="rId10"/>
    <p:sldId id="777" r:id="rId11"/>
    <p:sldId id="799" r:id="rId12"/>
    <p:sldId id="783" r:id="rId13"/>
    <p:sldId id="785" r:id="rId14"/>
    <p:sldId id="743" r:id="rId15"/>
    <p:sldId id="794" r:id="rId16"/>
    <p:sldId id="772" r:id="rId17"/>
    <p:sldId id="786" r:id="rId18"/>
    <p:sldId id="774" r:id="rId19"/>
    <p:sldId id="788" r:id="rId20"/>
    <p:sldId id="789" r:id="rId21"/>
    <p:sldId id="781" r:id="rId22"/>
    <p:sldId id="714" r:id="rId23"/>
    <p:sldId id="791" r:id="rId24"/>
    <p:sldId id="790" r:id="rId25"/>
    <p:sldId id="754" r:id="rId26"/>
    <p:sldId id="793" r:id="rId27"/>
    <p:sldId id="792" r:id="rId28"/>
    <p:sldId id="779" r:id="rId29"/>
    <p:sldId id="744" r:id="rId30"/>
    <p:sldId id="745" r:id="rId31"/>
    <p:sldId id="746" r:id="rId32"/>
    <p:sldId id="747" r:id="rId33"/>
    <p:sldId id="748" r:id="rId34"/>
    <p:sldId id="711" r:id="rId35"/>
    <p:sldId id="715" r:id="rId36"/>
    <p:sldId id="770" r:id="rId37"/>
    <p:sldId id="729" r:id="rId38"/>
    <p:sldId id="736" r:id="rId39"/>
    <p:sldId id="737" r:id="rId40"/>
    <p:sldId id="738" r:id="rId41"/>
    <p:sldId id="739" r:id="rId42"/>
    <p:sldId id="740" r:id="rId43"/>
    <p:sldId id="742" r:id="rId44"/>
    <p:sldId id="741" r:id="rId4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bjectives" id="{55E4413A-BE1F-4C01-BEB6-917B60851A1C}">
          <p14:sldIdLst>
            <p14:sldId id="797"/>
            <p14:sldId id="769"/>
            <p14:sldId id="795"/>
          </p14:sldIdLst>
        </p14:section>
        <p14:section name="Recent work" id="{FD8C0108-40DF-44EA-9165-79503E2CDD2A}">
          <p14:sldIdLst>
            <p14:sldId id="771"/>
            <p14:sldId id="775"/>
            <p14:sldId id="800"/>
            <p14:sldId id="801"/>
            <p14:sldId id="776"/>
            <p14:sldId id="778"/>
            <p14:sldId id="777"/>
            <p14:sldId id="799"/>
            <p14:sldId id="783"/>
            <p14:sldId id="785"/>
            <p14:sldId id="743"/>
            <p14:sldId id="794"/>
            <p14:sldId id="772"/>
            <p14:sldId id="786"/>
            <p14:sldId id="774"/>
            <p14:sldId id="788"/>
            <p14:sldId id="789"/>
            <p14:sldId id="781"/>
            <p14:sldId id="714"/>
            <p14:sldId id="791"/>
            <p14:sldId id="790"/>
          </p14:sldIdLst>
        </p14:section>
        <p14:section name="Link with Arnaud clusters" id="{77E64944-D2CD-4573-AFDB-C8BAD51DF0A9}">
          <p14:sldIdLst>
            <p14:sldId id="754"/>
            <p14:sldId id="793"/>
          </p14:sldIdLst>
        </p14:section>
        <p14:section name="To continue" id="{774D787A-0282-45A3-96CF-31BF8F746A98}">
          <p14:sldIdLst>
            <p14:sldId id="792"/>
            <p14:sldId id="779"/>
            <p14:sldId id="744"/>
            <p14:sldId id="745"/>
            <p14:sldId id="746"/>
            <p14:sldId id="747"/>
            <p14:sldId id="748"/>
            <p14:sldId id="711"/>
            <p14:sldId id="715"/>
          </p14:sldIdLst>
        </p14:section>
        <p14:section name="inflation construction with alternate chiralities" id="{C6D84095-218F-473E-889A-87A2937BC8EB}">
          <p14:sldIdLst>
            <p14:sldId id="770"/>
            <p14:sldId id="729"/>
            <p14:sldId id="736"/>
            <p14:sldId id="737"/>
            <p14:sldId id="738"/>
            <p14:sldId id="739"/>
            <p14:sldId id="740"/>
            <p14:sldId id="742"/>
            <p14:sldId id="74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A7FFCF"/>
    <a:srgbClr val="FF1616"/>
    <a:srgbClr val="1F4E79"/>
    <a:srgbClr val="AA10FF"/>
    <a:srgbClr val="05FF76"/>
    <a:srgbClr val="EDF8E9"/>
    <a:srgbClr val="C7E9C0"/>
    <a:srgbClr val="A1D99B"/>
    <a:srgbClr val="74C4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Style moyen 3 - Accentuation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552" autoAdjust="0"/>
    <p:restoredTop sz="93898" autoAdjust="0"/>
  </p:normalViewPr>
  <p:slideViewPr>
    <p:cSldViewPr snapToGrid="0">
      <p:cViewPr varScale="1">
        <p:scale>
          <a:sx n="63" d="100"/>
          <a:sy n="63" d="100"/>
        </p:scale>
        <p:origin x="76" y="6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39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9C1508-1146-4A69-8F99-8C5D9876FDBE}" type="datetimeFigureOut">
              <a:rPr lang="fr-FR" smtClean="0"/>
              <a:t>13/10/2025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DA558A-D0F6-4A23-840A-1A4E79F93CE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0554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4D988-1420-4BDD-9CBC-4258686EC6AC}" type="datetime1">
              <a:rPr lang="fr-FR" smtClean="0"/>
              <a:t>13/10/2025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750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59031-BF04-471D-AD33-CD26C4CC2113}" type="datetime1">
              <a:rPr lang="fr-FR" smtClean="0"/>
              <a:t>13/10/2025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1052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87DCB-0ED8-472B-BBCD-AAF1AA70433B}" type="datetime1">
              <a:rPr lang="fr-FR" smtClean="0"/>
              <a:t>13/10/2025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8302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442D-88C1-46C3-B249-34BE66B5D513}" type="datetime1">
              <a:rPr lang="fr-FR" smtClean="0"/>
              <a:t>13/10/2025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1617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3EF1F-00A4-46A5-AAC4-DB4177211361}" type="datetime1">
              <a:rPr lang="fr-FR" smtClean="0"/>
              <a:t>13/10/2025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64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CC57D-F713-4353-8E97-B278908A2A56}" type="datetime1">
              <a:rPr lang="fr-FR" smtClean="0"/>
              <a:t>13/10/2025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7066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B040A-FB87-4644-AB04-C81EC379E170}" type="datetime1">
              <a:rPr lang="fr-FR" smtClean="0"/>
              <a:t>13/10/2025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6795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2D1B-2239-4F9B-8FD3-0E31B8FA7FA2}" type="datetime1">
              <a:rPr lang="fr-FR" smtClean="0"/>
              <a:t>13/10/2025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5905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D42F1-F846-4CC5-948A-0D5DCFBD9C37}" type="datetime1">
              <a:rPr lang="fr-FR" smtClean="0"/>
              <a:t>13/10/2025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3865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1584-49D1-4CE9-8058-FF5ACE68A6CF}" type="datetime1">
              <a:rPr lang="fr-FR" smtClean="0"/>
              <a:t>13/10/2025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1073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59BB4-5566-4AB3-A06E-FF9EB735E0B4}" type="datetime1">
              <a:rPr lang="fr-FR" smtClean="0"/>
              <a:t>13/10/2025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0796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2FA6CD-8586-41A8-8804-244B34B7E6DA}" type="datetime1">
              <a:rPr lang="fr-FR" smtClean="0"/>
              <a:t>13/10/2025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BBC808-1C2F-4D0A-88AD-4B1C02A493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3542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org/project/drawsvg/" TargetMode="External"/><Relationship Id="rId2" Type="http://schemas.openxmlformats.org/officeDocument/2006/relationships/hyperlink" Target="https://github.com/marimperorclerc/homochiral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shrx/spectre/blob/master/spectre.py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7.05359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7.05359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7.png"/><Relationship Id="rId2" Type="http://schemas.openxmlformats.org/officeDocument/2006/relationships/hyperlink" Target="https://cs.uwaterloo.ca/~csk/spectre/app.html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svg"/><Relationship Id="rId5" Type="http://schemas.openxmlformats.org/officeDocument/2006/relationships/image" Target="../media/image36.png"/><Relationship Id="rId4" Type="http://schemas.openxmlformats.org/officeDocument/2006/relationships/image" Target="../media/image22.sv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err="1" smtClean="0"/>
              <a:t>Homochiral</a:t>
            </a:r>
            <a:r>
              <a:rPr lang="fr-FR" dirty="0" smtClean="0"/>
              <a:t> </a:t>
            </a:r>
            <a:r>
              <a:rPr lang="fr-FR" dirty="0" err="1" smtClean="0"/>
              <a:t>ideas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 sz="2800" dirty="0" smtClean="0"/>
              <a:t>Marianne </a:t>
            </a:r>
            <a:r>
              <a:rPr lang="fr-FR" sz="2800" dirty="0" err="1" smtClean="0"/>
              <a:t>Imperor</a:t>
            </a:r>
            <a:r>
              <a:rPr lang="fr-FR" sz="2800" dirty="0" smtClean="0"/>
              <a:t>-Clerc</a:t>
            </a:r>
          </a:p>
          <a:p>
            <a:r>
              <a:rPr lang="fr-FR" sz="2800" dirty="0" err="1" smtClean="0"/>
              <a:t>October</a:t>
            </a:r>
            <a:r>
              <a:rPr lang="fr-FR" sz="2800" dirty="0" smtClean="0"/>
              <a:t> 2025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248200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2</a:t>
            </a:fld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Objectives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812847" y="1634426"/>
            <a:ext cx="10406247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err="1" smtClean="0"/>
              <a:t>Keep</a:t>
            </a:r>
            <a:r>
              <a:rPr lang="fr-FR" sz="2800" dirty="0" smtClean="0"/>
              <a:t> the </a:t>
            </a:r>
            <a:r>
              <a:rPr lang="fr-FR" sz="2800" dirty="0" err="1" smtClean="0"/>
              <a:t>same</a:t>
            </a:r>
            <a:r>
              <a:rPr lang="fr-FR" sz="2800" dirty="0" smtClean="0"/>
              <a:t> </a:t>
            </a:r>
            <a:r>
              <a:rPr lang="fr-FR" sz="2800" dirty="0" err="1" smtClean="0"/>
              <a:t>chirality</a:t>
            </a:r>
            <a:r>
              <a:rPr lang="fr-FR" sz="2800" dirty="0" smtClean="0"/>
              <a:t> </a:t>
            </a:r>
            <a:r>
              <a:rPr lang="fr-FR" sz="2800" dirty="0" err="1" smtClean="0"/>
              <a:t>when</a:t>
            </a:r>
            <a:r>
              <a:rPr lang="fr-FR" sz="2800" dirty="0" smtClean="0"/>
              <a:t> building the </a:t>
            </a:r>
            <a:r>
              <a:rPr lang="fr-FR" sz="2800" dirty="0" err="1" smtClean="0"/>
              <a:t>whole</a:t>
            </a:r>
            <a:r>
              <a:rPr lang="fr-FR" sz="2800" dirty="0" smtClean="0"/>
              <a:t> </a:t>
            </a:r>
            <a:r>
              <a:rPr lang="fr-FR" sz="2800" dirty="0" err="1" smtClean="0"/>
              <a:t>tiling</a:t>
            </a:r>
            <a:r>
              <a:rPr lang="fr-FR" sz="2800" dirty="0" smtClean="0"/>
              <a:t> by inflation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Use </a:t>
            </a:r>
            <a:r>
              <a:rPr lang="fr-FR" sz="2800" dirty="0" err="1" smtClean="0"/>
              <a:t>only</a:t>
            </a:r>
            <a:r>
              <a:rPr lang="fr-FR" sz="2800" dirty="0" smtClean="0"/>
              <a:t> rotations and translations </a:t>
            </a:r>
            <a:r>
              <a:rPr lang="fr-FR" sz="2800" dirty="0" err="1" smtClean="0"/>
              <a:t>operations</a:t>
            </a:r>
            <a:r>
              <a:rPr lang="fr-FR" sz="2800" dirty="0" smtClean="0"/>
              <a:t>: no </a:t>
            </a:r>
            <a:r>
              <a:rPr lang="fr-FR" sz="2800" dirty="0" err="1" smtClean="0"/>
              <a:t>mirrors</a:t>
            </a:r>
            <a:r>
              <a:rPr lang="fr-FR" sz="2800" dirty="0" smtClean="0"/>
              <a:t> !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(</a:t>
            </a:r>
            <a:r>
              <a:rPr lang="fr-FR" sz="2800" dirty="0" err="1" smtClean="0"/>
              <a:t>avoid</a:t>
            </a:r>
            <a:r>
              <a:rPr lang="fr-FR" sz="2800" dirty="0" smtClean="0"/>
              <a:t> usage of the four key-points in the original inflation </a:t>
            </a:r>
            <a:r>
              <a:rPr lang="fr-FR" sz="2800" dirty="0" err="1" smtClean="0"/>
              <a:t>rule</a:t>
            </a:r>
            <a:r>
              <a:rPr lang="fr-FR" sz="2800" dirty="0" smtClean="0"/>
              <a:t>)</a:t>
            </a:r>
          </a:p>
          <a:p>
            <a:endParaRPr lang="fr-FR" sz="2800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err="1" smtClean="0"/>
              <a:t>Keep</a:t>
            </a:r>
            <a:r>
              <a:rPr lang="fr-FR" sz="2800" dirty="0" smtClean="0"/>
              <a:t> the </a:t>
            </a:r>
            <a:r>
              <a:rPr lang="fr-FR" sz="2800" dirty="0" err="1" smtClean="0"/>
              <a:t>monotile</a:t>
            </a:r>
            <a:r>
              <a:rPr lang="fr-FR" sz="2800" dirty="0" smtClean="0"/>
              <a:t> </a:t>
            </a:r>
            <a:r>
              <a:rPr lang="fr-FR" sz="2800" dirty="0" err="1" smtClean="0"/>
              <a:t>shape</a:t>
            </a:r>
            <a:r>
              <a:rPr lang="fr-FR" sz="2800" dirty="0" smtClean="0"/>
              <a:t>: </a:t>
            </a:r>
            <a:r>
              <a:rPr lang="fr-FR" sz="2800" dirty="0" err="1" smtClean="0"/>
              <a:t>Tile</a:t>
            </a:r>
            <a:r>
              <a:rPr lang="fr-FR" sz="2800" dirty="0" smtClean="0"/>
              <a:t>(</a:t>
            </a:r>
            <a:r>
              <a:rPr lang="fr-FR" sz="2800" dirty="0" err="1" smtClean="0"/>
              <a:t>a,b</a:t>
            </a:r>
            <a:r>
              <a:rPr lang="fr-FR" sz="2800" dirty="0" smtClean="0"/>
              <a:t>)+</a:t>
            </a:r>
            <a:r>
              <a:rPr lang="fr-FR" sz="2800" dirty="0" err="1" smtClean="0"/>
              <a:t>Tile</a:t>
            </a:r>
            <a:r>
              <a:rPr lang="fr-FR" sz="2800" dirty="0" smtClean="0"/>
              <a:t>(</a:t>
            </a:r>
            <a:r>
              <a:rPr lang="fr-FR" sz="2800" dirty="0" err="1" smtClean="0"/>
              <a:t>b,a</a:t>
            </a:r>
            <a:r>
              <a:rPr lang="fr-FR" sz="2800" dirty="0" smtClean="0"/>
              <a:t>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Use cluster </a:t>
            </a:r>
            <a:r>
              <a:rPr lang="fr-FR" sz="2800" dirty="0" err="1" smtClean="0"/>
              <a:t>level</a:t>
            </a:r>
            <a:r>
              <a:rPr lang="fr-FR" sz="2800" dirty="0" smtClean="0"/>
              <a:t> (full cluster </a:t>
            </a:r>
            <a:r>
              <a:rPr lang="fr-FR" sz="2800" dirty="0" err="1" smtClean="0"/>
              <a:t>instead</a:t>
            </a:r>
            <a:r>
              <a:rPr lang="fr-FR" sz="2800" dirty="0" smtClean="0"/>
              <a:t> of gamma and </a:t>
            </a:r>
            <a:r>
              <a:rPr lang="fr-FR" sz="2800" dirty="0" err="1" smtClean="0"/>
              <a:t>omega</a:t>
            </a:r>
            <a:r>
              <a:rPr lang="fr-FR" sz="2800" dirty="0" smtClean="0"/>
              <a:t> </a:t>
            </a:r>
            <a:r>
              <a:rPr lang="fr-FR" sz="2800" dirty="0" err="1" smtClean="0"/>
              <a:t>ones</a:t>
            </a:r>
            <a:r>
              <a:rPr lang="fr-FR" sz="2800" dirty="0" smtClean="0"/>
              <a:t> ?)</a:t>
            </a:r>
            <a:endParaRPr lang="fr-FR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err="1" smtClean="0"/>
              <a:t>Make</a:t>
            </a:r>
            <a:r>
              <a:rPr lang="fr-FR" sz="2800" dirty="0" smtClean="0"/>
              <a:t> full use of the </a:t>
            </a:r>
            <a:r>
              <a:rPr lang="fr-FR" sz="2800" dirty="0" err="1" smtClean="0"/>
              <a:t>mapping</a:t>
            </a:r>
            <a:r>
              <a:rPr lang="fr-FR" sz="2800" dirty="0" smtClean="0"/>
              <a:t> on a </a:t>
            </a:r>
            <a:r>
              <a:rPr lang="fr-FR" sz="2800" dirty="0" err="1" smtClean="0"/>
              <a:t>triangular</a:t>
            </a:r>
            <a:r>
              <a:rPr lang="fr-FR" sz="2800" dirty="0" smtClean="0"/>
              <a:t> </a:t>
            </a:r>
            <a:r>
              <a:rPr lang="fr-FR" sz="2800" dirty="0" err="1" smtClean="0"/>
              <a:t>lattice</a:t>
            </a:r>
            <a:endParaRPr lang="fr-FR" sz="2800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err="1" smtClean="0"/>
              <a:t>Make</a:t>
            </a:r>
            <a:r>
              <a:rPr lang="fr-FR" sz="2800" dirty="0" smtClean="0"/>
              <a:t> full use of the ODD and EVEN orientations</a:t>
            </a:r>
          </a:p>
        </p:txBody>
      </p:sp>
    </p:spTree>
    <p:extLst>
      <p:ext uri="{BB962C8B-B14F-4D97-AF65-F5344CB8AC3E}">
        <p14:creationId xmlns:p14="http://schemas.microsoft.com/office/powerpoint/2010/main" val="2446130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3</a:t>
            </a:fld>
            <a:endParaRPr lang="fr-FR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err="1" smtClean="0">
                <a:solidFill>
                  <a:srgbClr val="C85350"/>
                </a:solidFill>
              </a:rPr>
              <a:t>Homochiral</a:t>
            </a:r>
            <a:r>
              <a:rPr lang="en-US" b="1" dirty="0" smtClean="0">
                <a:solidFill>
                  <a:srgbClr val="C85350"/>
                </a:solidFill>
              </a:rPr>
              <a:t> python code on </a:t>
            </a:r>
            <a:r>
              <a:rPr lang="en-US" b="1" dirty="0" err="1" smtClean="0">
                <a:solidFill>
                  <a:srgbClr val="C85350"/>
                </a:solidFill>
              </a:rPr>
              <a:t>github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441434" y="1447271"/>
            <a:ext cx="1121716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Under construction !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>
                <a:hlinkClick r:id="rId2"/>
              </a:rPr>
              <a:t>https://</a:t>
            </a:r>
            <a:r>
              <a:rPr lang="fr-FR" sz="2800" dirty="0" smtClean="0">
                <a:hlinkClick r:id="rId2"/>
              </a:rPr>
              <a:t>github.com/marimperorclerc/homochiral</a:t>
            </a:r>
            <a:endParaRPr lang="fr-FR" sz="2800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/>
          </a:p>
          <a:p>
            <a:r>
              <a:rPr lang="en-US" sz="2800" dirty="0"/>
              <a:t>python code for drawing clusters with Tile(</a:t>
            </a:r>
            <a:r>
              <a:rPr lang="en-US" sz="2800" dirty="0" err="1"/>
              <a:t>a,b</a:t>
            </a:r>
            <a:r>
              <a:rPr lang="en-US" sz="2800" dirty="0"/>
              <a:t>) in </a:t>
            </a:r>
            <a:r>
              <a:rPr lang="en-US" sz="2800" dirty="0" err="1"/>
              <a:t>svg</a:t>
            </a:r>
            <a:r>
              <a:rPr lang="en-US" sz="2800" dirty="0"/>
              <a:t> </a:t>
            </a:r>
            <a:r>
              <a:rPr lang="en-US" sz="2800" dirty="0" smtClean="0"/>
              <a:t>graphics.</a:t>
            </a:r>
          </a:p>
          <a:p>
            <a:endParaRPr lang="en-US" sz="2800" dirty="0"/>
          </a:p>
          <a:p>
            <a:r>
              <a:rPr lang="en-US" sz="2800" b="1" dirty="0"/>
              <a:t>References</a:t>
            </a:r>
          </a:p>
          <a:p>
            <a:r>
              <a:rPr lang="en-US" sz="2800" dirty="0"/>
              <a:t>Code is based on the </a:t>
            </a:r>
            <a:r>
              <a:rPr lang="en-US" sz="2800" dirty="0" err="1"/>
              <a:t>drawsvg</a:t>
            </a:r>
            <a:r>
              <a:rPr lang="en-US" sz="2800" dirty="0"/>
              <a:t> package: </a:t>
            </a:r>
            <a:endParaRPr lang="en-US" sz="2800" dirty="0" smtClean="0"/>
          </a:p>
          <a:p>
            <a:r>
              <a:rPr lang="en-US" sz="2800" dirty="0" smtClean="0">
                <a:hlinkClick r:id="rId3"/>
              </a:rPr>
              <a:t>https</a:t>
            </a:r>
            <a:r>
              <a:rPr lang="en-US" sz="2800" dirty="0">
                <a:hlinkClick r:id="rId3"/>
              </a:rPr>
              <a:t>://pypi.org/project/drawsvg/</a:t>
            </a:r>
            <a:endParaRPr lang="en-US" sz="2800" dirty="0"/>
          </a:p>
          <a:p>
            <a:r>
              <a:rPr lang="en-US" sz="2800" dirty="0"/>
              <a:t>And the python code with alternate chirality for inflation for </a:t>
            </a:r>
            <a:r>
              <a:rPr lang="en-US" sz="2800" dirty="0" err="1"/>
              <a:t>spectre</a:t>
            </a:r>
            <a:r>
              <a:rPr lang="en-US" sz="2800" dirty="0"/>
              <a:t> tiling: </a:t>
            </a:r>
            <a:endParaRPr lang="en-US" sz="2800" dirty="0" smtClean="0"/>
          </a:p>
          <a:p>
            <a:r>
              <a:rPr lang="en-US" sz="2800" dirty="0" smtClean="0">
                <a:hlinkClick r:id="rId4"/>
              </a:rPr>
              <a:t>https</a:t>
            </a:r>
            <a:r>
              <a:rPr lang="en-US" sz="2800" dirty="0">
                <a:hlinkClick r:id="rId4"/>
              </a:rPr>
              <a:t>://github.com/shrx/spectre/blob/master/spectre.py</a:t>
            </a: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 smtClean="0"/>
          </a:p>
          <a:p>
            <a:endParaRPr lang="fr-FR" sz="2800" dirty="0" smtClean="0"/>
          </a:p>
        </p:txBody>
      </p:sp>
    </p:spTree>
    <p:extLst>
      <p:ext uri="{BB962C8B-B14F-4D97-AF65-F5344CB8AC3E}">
        <p14:creationId xmlns:p14="http://schemas.microsoft.com/office/powerpoint/2010/main" val="1870378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4</a:t>
            </a:fld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Recent work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813417" y="1738158"/>
            <a:ext cx="10811742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err="1" smtClean="0"/>
              <a:t>Decomposition</a:t>
            </a:r>
            <a:r>
              <a:rPr lang="fr-FR" sz="2800" dirty="0" smtClean="0"/>
              <a:t> </a:t>
            </a:r>
            <a:r>
              <a:rPr lang="fr-FR" sz="2800" dirty="0" err="1" smtClean="0"/>
              <a:t>using</a:t>
            </a:r>
            <a:r>
              <a:rPr lang="fr-FR" sz="2800" dirty="0" smtClean="0"/>
              <a:t> one full cluster </a:t>
            </a:r>
            <a:r>
              <a:rPr lang="fr-FR" sz="2800" dirty="0" err="1" smtClean="0"/>
              <a:t>with</a:t>
            </a:r>
            <a:r>
              <a:rPr lang="fr-FR" sz="2800" dirty="0" smtClean="0"/>
              <a:t> six ODD orientations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/>
              <a:t>-&gt; </a:t>
            </a:r>
            <a:r>
              <a:rPr lang="fr-FR" sz="2800" dirty="0" err="1"/>
              <a:t>find</a:t>
            </a:r>
            <a:r>
              <a:rPr lang="fr-FR" sz="2800" dirty="0"/>
              <a:t> </a:t>
            </a:r>
            <a:r>
              <a:rPr lang="fr-FR" sz="2800" dirty="0" err="1"/>
              <a:t>some</a:t>
            </a:r>
            <a:r>
              <a:rPr lang="fr-FR" sz="2800" dirty="0"/>
              <a:t> ‘simple’ </a:t>
            </a:r>
            <a:r>
              <a:rPr lang="fr-FR" sz="2800" dirty="0" err="1"/>
              <a:t>relationships</a:t>
            </a:r>
            <a:r>
              <a:rPr lang="fr-FR" sz="2800" dirty="0"/>
              <a:t> </a:t>
            </a:r>
            <a:r>
              <a:rPr lang="fr-FR" sz="2800" dirty="0" err="1"/>
              <a:t>between</a:t>
            </a:r>
            <a:r>
              <a:rPr lang="fr-FR" sz="2800" dirty="0"/>
              <a:t> rotations and </a:t>
            </a:r>
            <a:r>
              <a:rPr lang="fr-FR" sz="2800" dirty="0" smtClean="0"/>
              <a:t>translations </a:t>
            </a:r>
            <a:endParaRPr lang="fr-FR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err="1" smtClean="0"/>
              <a:t>Identify</a:t>
            </a:r>
            <a:r>
              <a:rPr lang="fr-FR" sz="2800" dirty="0" smtClean="0"/>
              <a:t> </a:t>
            </a:r>
            <a:r>
              <a:rPr lang="fr-FR" sz="2800" dirty="0" err="1" smtClean="0"/>
              <a:t>regular</a:t>
            </a:r>
            <a:r>
              <a:rPr lang="fr-FR" sz="2800" dirty="0" smtClean="0"/>
              <a:t> triangles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Link </a:t>
            </a:r>
            <a:r>
              <a:rPr lang="fr-FR" sz="2800" dirty="0" err="1" smtClean="0"/>
              <a:t>with</a:t>
            </a:r>
            <a:r>
              <a:rPr lang="fr-FR" sz="2800" dirty="0" smtClean="0"/>
              <a:t> the </a:t>
            </a:r>
            <a:r>
              <a:rPr lang="fr-FR" sz="2800" dirty="0" err="1" smtClean="0"/>
              <a:t>trifle+bow-tie</a:t>
            </a:r>
            <a:r>
              <a:rPr lang="fr-FR" sz="2800" dirty="0" smtClean="0"/>
              <a:t> </a:t>
            </a:r>
            <a:r>
              <a:rPr lang="fr-FR" sz="2800" dirty="0" err="1" smtClean="0"/>
              <a:t>decomposition</a:t>
            </a:r>
            <a:endParaRPr lang="fr-FR" sz="2800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err="1" smtClean="0"/>
              <a:t>Tile</a:t>
            </a:r>
            <a:r>
              <a:rPr lang="fr-FR" sz="2800" dirty="0" smtClean="0"/>
              <a:t>(</a:t>
            </a:r>
            <a:r>
              <a:rPr lang="fr-FR" sz="2800" dirty="0" err="1" smtClean="0"/>
              <a:t>a,b</a:t>
            </a:r>
            <a:r>
              <a:rPr lang="fr-FR" sz="2800" dirty="0" smtClean="0"/>
              <a:t>) + </a:t>
            </a:r>
            <a:r>
              <a:rPr lang="fr-FR" sz="2800" dirty="0" err="1" smtClean="0"/>
              <a:t>Tile</a:t>
            </a:r>
            <a:r>
              <a:rPr lang="fr-FR" sz="2800" dirty="0" smtClean="0"/>
              <a:t>(</a:t>
            </a:r>
            <a:r>
              <a:rPr lang="fr-FR" sz="2800" dirty="0" err="1" smtClean="0"/>
              <a:t>b,a</a:t>
            </a:r>
            <a:r>
              <a:rPr lang="fr-FR" sz="2800" dirty="0" smtClean="0"/>
              <a:t>) for ODD and EVEN </a:t>
            </a:r>
            <a:r>
              <a:rPr lang="fr-FR" sz="2800" dirty="0" err="1" smtClean="0"/>
              <a:t>orienations</a:t>
            </a:r>
            <a:endParaRPr lang="fr-FR" sz="2800" dirty="0" smtClean="0"/>
          </a:p>
        </p:txBody>
      </p:sp>
    </p:spTree>
    <p:extLst>
      <p:ext uri="{BB962C8B-B14F-4D97-AF65-F5344CB8AC3E}">
        <p14:creationId xmlns:p14="http://schemas.microsoft.com/office/powerpoint/2010/main" val="2207218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5</a:t>
            </a:fld>
            <a:endParaRPr lang="fr-FR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New reference triangle in Tile(</a:t>
            </a:r>
            <a:r>
              <a:rPr lang="en-US" b="1" dirty="0" err="1" smtClean="0">
                <a:solidFill>
                  <a:srgbClr val="C85350"/>
                </a:solidFill>
              </a:rPr>
              <a:t>a,b</a:t>
            </a:r>
            <a:r>
              <a:rPr lang="en-US" b="1" dirty="0" smtClean="0">
                <a:solidFill>
                  <a:srgbClr val="C85350"/>
                </a:solidFill>
              </a:rPr>
              <a:t>)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749670" y="5039163"/>
            <a:ext cx="133944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rgbClr val="268BD2"/>
                </a:solidFill>
                <a:latin typeface="Consolas" panose="020B0609020204030204" pitchFamily="49" charset="0"/>
              </a:rPr>
              <a:t>a</a:t>
            </a:r>
            <a:r>
              <a:rPr lang="fr-FR" sz="2400" dirty="0">
                <a:solidFill>
                  <a:srgbClr val="859900"/>
                </a:solidFill>
                <a:latin typeface="Consolas" panose="020B0609020204030204" pitchFamily="49" charset="0"/>
              </a:rPr>
              <a:t>=</a:t>
            </a:r>
            <a:r>
              <a:rPr lang="fr-FR" sz="2400" dirty="0">
                <a:solidFill>
                  <a:srgbClr val="D33682"/>
                </a:solidFill>
                <a:latin typeface="Consolas" panose="020B0609020204030204" pitchFamily="49" charset="0"/>
              </a:rPr>
              <a:t>1.6</a:t>
            </a:r>
            <a:endParaRPr lang="fr-FR" sz="2400" dirty="0">
              <a:solidFill>
                <a:srgbClr val="657B83"/>
              </a:solidFill>
              <a:latin typeface="Consolas" panose="020B0609020204030204" pitchFamily="49" charset="0"/>
            </a:endParaRPr>
          </a:p>
          <a:p>
            <a:r>
              <a:rPr lang="fr-FR" sz="2400" dirty="0">
                <a:solidFill>
                  <a:srgbClr val="268BD2"/>
                </a:solidFill>
                <a:latin typeface="Consolas" panose="020B0609020204030204" pitchFamily="49" charset="0"/>
              </a:rPr>
              <a:t>b</a:t>
            </a:r>
            <a:r>
              <a:rPr lang="fr-FR" sz="2400" dirty="0">
                <a:solidFill>
                  <a:srgbClr val="859900"/>
                </a:solidFill>
                <a:latin typeface="Consolas" panose="020B0609020204030204" pitchFamily="49" charset="0"/>
              </a:rPr>
              <a:t>=</a:t>
            </a:r>
            <a:r>
              <a:rPr lang="fr-FR" sz="2400" dirty="0">
                <a:solidFill>
                  <a:srgbClr val="D33682"/>
                </a:solidFill>
                <a:latin typeface="Consolas" panose="020B0609020204030204" pitchFamily="49" charset="0"/>
              </a:rPr>
              <a:t>1.2</a:t>
            </a:r>
            <a:endParaRPr lang="fr-FR" sz="2400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209" y="4187851"/>
            <a:ext cx="5051460" cy="2533623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0124" y="1422041"/>
            <a:ext cx="9229725" cy="2657475"/>
          </a:xfrm>
          <a:prstGeom prst="rect">
            <a:avLst/>
          </a:prstGeom>
        </p:spPr>
      </p:pic>
      <p:sp>
        <p:nvSpPr>
          <p:cNvPr id="10" name="ZoneTexte 9"/>
          <p:cNvSpPr txBox="1"/>
          <p:nvPr/>
        </p:nvSpPr>
        <p:spPr>
          <a:xfrm>
            <a:off x="901425" y="4187850"/>
            <a:ext cx="41456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 smtClean="0"/>
              <a:t>Robust</a:t>
            </a:r>
            <a:r>
              <a:rPr lang="fr-FR" sz="2800" dirty="0" smtClean="0"/>
              <a:t> for </a:t>
            </a:r>
            <a:r>
              <a:rPr lang="fr-FR" sz="2800" dirty="0" err="1" smtClean="0"/>
              <a:t>any</a:t>
            </a:r>
            <a:r>
              <a:rPr lang="fr-FR" sz="2800" dirty="0" smtClean="0"/>
              <a:t> T(</a:t>
            </a:r>
            <a:r>
              <a:rPr lang="fr-FR" sz="2800" dirty="0" err="1" smtClean="0"/>
              <a:t>a,b</a:t>
            </a:r>
            <a:r>
              <a:rPr lang="fr-FR" sz="2800" dirty="0" smtClean="0"/>
              <a:t>) </a:t>
            </a:r>
            <a:r>
              <a:rPr lang="fr-FR" sz="2800" dirty="0" err="1" smtClean="0"/>
              <a:t>tile</a:t>
            </a:r>
            <a:r>
              <a:rPr lang="fr-FR" sz="2800" dirty="0" smtClean="0"/>
              <a:t> </a:t>
            </a:r>
            <a:r>
              <a:rPr lang="fr-FR" sz="2800" dirty="0" smtClean="0">
                <a:sym typeface="Wingdings" panose="05000000000000000000" pitchFamily="2" charset="2"/>
              </a:rPr>
              <a:t>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21182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6</a:t>
            </a:fld>
            <a:endParaRPr lang="fr-FR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New reference triangle in Tile(</a:t>
            </a:r>
            <a:r>
              <a:rPr lang="en-US" b="1" dirty="0" err="1" smtClean="0">
                <a:solidFill>
                  <a:srgbClr val="C85350"/>
                </a:solidFill>
              </a:rPr>
              <a:t>a,b</a:t>
            </a:r>
            <a:r>
              <a:rPr lang="en-US" b="1" dirty="0" smtClean="0">
                <a:solidFill>
                  <a:srgbClr val="C85350"/>
                </a:solidFill>
              </a:rPr>
              <a:t>)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749670" y="5039163"/>
            <a:ext cx="133944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rgbClr val="268BD2"/>
                </a:solidFill>
                <a:latin typeface="Consolas" panose="020B0609020204030204" pitchFamily="49" charset="0"/>
              </a:rPr>
              <a:t>a</a:t>
            </a:r>
            <a:r>
              <a:rPr lang="fr-FR" sz="2400" dirty="0">
                <a:solidFill>
                  <a:srgbClr val="859900"/>
                </a:solidFill>
                <a:latin typeface="Consolas" panose="020B0609020204030204" pitchFamily="49" charset="0"/>
              </a:rPr>
              <a:t>=</a:t>
            </a:r>
            <a:r>
              <a:rPr lang="fr-FR" sz="2400" dirty="0">
                <a:solidFill>
                  <a:srgbClr val="D33682"/>
                </a:solidFill>
                <a:latin typeface="Consolas" panose="020B0609020204030204" pitchFamily="49" charset="0"/>
              </a:rPr>
              <a:t>1.6</a:t>
            </a:r>
            <a:endParaRPr lang="fr-FR" sz="2400" dirty="0">
              <a:solidFill>
                <a:srgbClr val="657B83"/>
              </a:solidFill>
              <a:latin typeface="Consolas" panose="020B0609020204030204" pitchFamily="49" charset="0"/>
            </a:endParaRPr>
          </a:p>
          <a:p>
            <a:r>
              <a:rPr lang="fr-FR" sz="2400" dirty="0">
                <a:solidFill>
                  <a:srgbClr val="268BD2"/>
                </a:solidFill>
                <a:latin typeface="Consolas" panose="020B0609020204030204" pitchFamily="49" charset="0"/>
              </a:rPr>
              <a:t>b</a:t>
            </a:r>
            <a:r>
              <a:rPr lang="fr-FR" sz="2400" dirty="0">
                <a:solidFill>
                  <a:srgbClr val="859900"/>
                </a:solidFill>
                <a:latin typeface="Consolas" panose="020B0609020204030204" pitchFamily="49" charset="0"/>
              </a:rPr>
              <a:t>=</a:t>
            </a:r>
            <a:r>
              <a:rPr lang="fr-FR" sz="2400" dirty="0">
                <a:solidFill>
                  <a:srgbClr val="D33682"/>
                </a:solidFill>
                <a:latin typeface="Consolas" panose="020B0609020204030204" pitchFamily="49" charset="0"/>
              </a:rPr>
              <a:t>1.2</a:t>
            </a:r>
            <a:endParaRPr lang="fr-FR" sz="2400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209" y="4187851"/>
            <a:ext cx="5051460" cy="2533623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524" y="1422041"/>
            <a:ext cx="9229725" cy="2657475"/>
          </a:xfrm>
          <a:prstGeom prst="rect">
            <a:avLst/>
          </a:prstGeom>
        </p:spPr>
      </p:pic>
      <p:sp>
        <p:nvSpPr>
          <p:cNvPr id="10" name="ZoneTexte 9"/>
          <p:cNvSpPr txBox="1"/>
          <p:nvPr/>
        </p:nvSpPr>
        <p:spPr>
          <a:xfrm>
            <a:off x="901425" y="4187850"/>
            <a:ext cx="41456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 smtClean="0"/>
              <a:t>Robust</a:t>
            </a:r>
            <a:r>
              <a:rPr lang="fr-FR" sz="2800" dirty="0" smtClean="0"/>
              <a:t> for </a:t>
            </a:r>
            <a:r>
              <a:rPr lang="fr-FR" sz="2800" dirty="0" err="1" smtClean="0"/>
              <a:t>any</a:t>
            </a:r>
            <a:r>
              <a:rPr lang="fr-FR" sz="2800" dirty="0" smtClean="0"/>
              <a:t> T(</a:t>
            </a:r>
            <a:r>
              <a:rPr lang="fr-FR" sz="2800" dirty="0" err="1" smtClean="0"/>
              <a:t>a,b</a:t>
            </a:r>
            <a:r>
              <a:rPr lang="fr-FR" sz="2800" dirty="0" smtClean="0"/>
              <a:t>) </a:t>
            </a:r>
            <a:r>
              <a:rPr lang="fr-FR" sz="2800" dirty="0" err="1" smtClean="0"/>
              <a:t>tile</a:t>
            </a:r>
            <a:r>
              <a:rPr lang="fr-FR" sz="2800" dirty="0" smtClean="0"/>
              <a:t> </a:t>
            </a:r>
            <a:r>
              <a:rPr lang="fr-FR" sz="2800" dirty="0" smtClean="0">
                <a:sym typeface="Wingdings" panose="05000000000000000000" pitchFamily="2" charset="2"/>
              </a:rPr>
              <a:t>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848902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7</a:t>
            </a:fld>
            <a:endParaRPr lang="fr-FR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991" y="1193800"/>
            <a:ext cx="9265710" cy="5162550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Comparison with hexagon/square/rhombus decomposition</a:t>
            </a:r>
            <a:endParaRPr lang="fr-FR" b="1" dirty="0">
              <a:solidFill>
                <a:srgbClr val="C853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9188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8</a:t>
            </a:fld>
            <a:endParaRPr lang="fr-FR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New reference triangle in Tile(</a:t>
            </a:r>
            <a:r>
              <a:rPr lang="en-US" b="1" dirty="0" err="1" smtClean="0">
                <a:solidFill>
                  <a:srgbClr val="C85350"/>
                </a:solidFill>
              </a:rPr>
              <a:t>a,b</a:t>
            </a:r>
            <a:r>
              <a:rPr lang="en-US" b="1" dirty="0" smtClean="0">
                <a:solidFill>
                  <a:srgbClr val="C85350"/>
                </a:solidFill>
              </a:rPr>
              <a:t>)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6" name="Espace réservé du numéro de diapositive 1"/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CBBC808-1C2F-4D0A-88AD-4B1C02A49358}" type="slidenum">
              <a:rPr lang="fr-FR" smtClean="0"/>
              <a:pPr/>
              <a:t>8</a:t>
            </a:fld>
            <a:endParaRPr lang="fr-FR"/>
          </a:p>
        </p:txBody>
      </p:sp>
      <p:sp>
        <p:nvSpPr>
          <p:cNvPr id="8" name="ZoneTexte 7"/>
          <p:cNvSpPr txBox="1"/>
          <p:nvPr/>
        </p:nvSpPr>
        <p:spPr>
          <a:xfrm>
            <a:off x="1729198" y="6062297"/>
            <a:ext cx="87086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Edge</a:t>
            </a:r>
            <a:r>
              <a:rPr lang="fr-FR" sz="2800" dirty="0"/>
              <a:t> </a:t>
            </a:r>
            <a:r>
              <a:rPr lang="fr-FR" sz="2800" dirty="0" err="1"/>
              <a:t>length</a:t>
            </a:r>
            <a:r>
              <a:rPr lang="fr-FR" sz="2800" dirty="0"/>
              <a:t> of the </a:t>
            </a:r>
            <a:r>
              <a:rPr lang="fr-FR" sz="2800" dirty="0" err="1"/>
              <a:t>regular</a:t>
            </a:r>
            <a:r>
              <a:rPr lang="fr-FR" sz="2800" dirty="0"/>
              <a:t> triangle = </a:t>
            </a:r>
            <a:r>
              <a:rPr lang="fr-FR" sz="2800" dirty="0" err="1"/>
              <a:t>sqrt</a:t>
            </a:r>
            <a:r>
              <a:rPr lang="fr-FR" sz="2800" dirty="0"/>
              <a:t>(3)*</a:t>
            </a:r>
            <a:r>
              <a:rPr lang="fr-FR" sz="2800" dirty="0" err="1"/>
              <a:t>sqrt</a:t>
            </a:r>
            <a:r>
              <a:rPr lang="fr-FR" sz="2800" dirty="0"/>
              <a:t>(a^2+b^2)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5496300" y="5368404"/>
            <a:ext cx="11608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sqrt</a:t>
            </a:r>
            <a:r>
              <a:rPr lang="fr-FR" sz="2800" dirty="0"/>
              <a:t>(6)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906281" y="5384198"/>
            <a:ext cx="11608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sqrt</a:t>
            </a:r>
            <a:r>
              <a:rPr lang="fr-FR" sz="2800" dirty="0"/>
              <a:t>(3)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2735080" y="5403119"/>
            <a:ext cx="15231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2*</a:t>
            </a:r>
            <a:r>
              <a:rPr lang="fr-FR" sz="2800" dirty="0" err="1"/>
              <a:t>sqrt</a:t>
            </a:r>
            <a:r>
              <a:rPr lang="fr-FR" sz="2800" dirty="0"/>
              <a:t>(3)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7687378" y="5403119"/>
            <a:ext cx="15231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2*</a:t>
            </a:r>
            <a:r>
              <a:rPr lang="fr-FR" sz="2800" dirty="0" err="1"/>
              <a:t>sqrt</a:t>
            </a:r>
            <a:r>
              <a:rPr lang="fr-FR" sz="2800" dirty="0"/>
              <a:t>(3)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10086319" y="5376107"/>
            <a:ext cx="11608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sqrt</a:t>
            </a:r>
            <a:r>
              <a:rPr lang="fr-FR" sz="2800" dirty="0"/>
              <a:t>(3)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3755005" y="1190106"/>
            <a:ext cx="5807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Angle </a:t>
            </a:r>
            <a:r>
              <a:rPr lang="fr-FR" sz="2800" dirty="0" err="1"/>
              <a:t>between</a:t>
            </a:r>
            <a:r>
              <a:rPr lang="fr-FR" sz="2800" dirty="0"/>
              <a:t> </a:t>
            </a:r>
            <a:r>
              <a:rPr lang="fr-FR" sz="2800" dirty="0" err="1"/>
              <a:t>arrow</a:t>
            </a:r>
            <a:r>
              <a:rPr lang="fr-FR" sz="2800" dirty="0"/>
              <a:t> and x directions:</a:t>
            </a:r>
          </a:p>
        </p:txBody>
      </p:sp>
      <p:sp>
        <p:nvSpPr>
          <p:cNvPr id="20" name="ZoneTexte 19"/>
          <p:cNvSpPr txBox="1"/>
          <p:nvPr/>
        </p:nvSpPr>
        <p:spPr>
          <a:xfrm>
            <a:off x="5532568" y="1729316"/>
            <a:ext cx="7745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Pi/4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1186070" y="1746020"/>
            <a:ext cx="7745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Pi/2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2847391" y="1731120"/>
            <a:ext cx="7745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Pi/3</a:t>
            </a:r>
          </a:p>
        </p:txBody>
      </p:sp>
      <p:sp>
        <p:nvSpPr>
          <p:cNvPr id="23" name="ZoneTexte 22"/>
          <p:cNvSpPr txBox="1"/>
          <p:nvPr/>
        </p:nvSpPr>
        <p:spPr>
          <a:xfrm>
            <a:off x="8130056" y="1746020"/>
            <a:ext cx="7745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Pi/6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10447825" y="1729316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0</a:t>
            </a:r>
          </a:p>
        </p:txBody>
      </p:sp>
      <p:pic>
        <p:nvPicPr>
          <p:cNvPr id="25" name="Imag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729" y="2367287"/>
            <a:ext cx="10407775" cy="2830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390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9</a:t>
            </a:fld>
            <a:endParaRPr lang="fr-FR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840" y="1762565"/>
            <a:ext cx="10036960" cy="4593785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ODD and EVEN orientations for Tile(1,1)</a:t>
            </a:r>
            <a:endParaRPr lang="fr-FR" b="1" dirty="0">
              <a:solidFill>
                <a:srgbClr val="C853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7191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10</a:t>
            </a:fld>
            <a:endParaRPr lang="fr-FR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24" y="2228738"/>
            <a:ext cx="10681376" cy="3157244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Link with trifle and bow-tie in Tile(1,1)</a:t>
            </a:r>
            <a:endParaRPr lang="fr-FR" b="1" dirty="0">
              <a:solidFill>
                <a:srgbClr val="C853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8824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206" y="619760"/>
            <a:ext cx="10483934" cy="5293359"/>
          </a:xfrm>
          <a:prstGeom prst="rect">
            <a:avLst/>
          </a:prstGeom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11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Tile(1,1) : </a:t>
            </a:r>
            <a:r>
              <a:rPr lang="en-US" b="1" dirty="0" err="1" smtClean="0">
                <a:solidFill>
                  <a:srgbClr val="C85350"/>
                </a:solidFill>
              </a:rPr>
              <a:t>spectre</a:t>
            </a:r>
            <a:r>
              <a:rPr lang="en-US" b="1" dirty="0" smtClean="0">
                <a:solidFill>
                  <a:srgbClr val="C85350"/>
                </a:solidFill>
              </a:rPr>
              <a:t> tile</a:t>
            </a:r>
            <a:endParaRPr lang="fr-FR" b="1" dirty="0">
              <a:solidFill>
                <a:srgbClr val="C853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395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12</a:t>
            </a:fld>
            <a:endParaRPr lang="fr-FR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213485"/>
            <a:ext cx="8497887" cy="4337259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Tile(</a:t>
            </a:r>
            <a:r>
              <a:rPr lang="en-US" b="1" dirty="0" err="1" smtClean="0">
                <a:solidFill>
                  <a:srgbClr val="C85350"/>
                </a:solidFill>
              </a:rPr>
              <a:t>a,b</a:t>
            </a:r>
            <a:r>
              <a:rPr lang="en-US" b="1" dirty="0" smtClean="0">
                <a:solidFill>
                  <a:srgbClr val="C85350"/>
                </a:solidFill>
              </a:rPr>
              <a:t>) and Tile(</a:t>
            </a:r>
            <a:r>
              <a:rPr lang="en-US" b="1" dirty="0" err="1" smtClean="0">
                <a:solidFill>
                  <a:srgbClr val="C85350"/>
                </a:solidFill>
              </a:rPr>
              <a:t>b,a</a:t>
            </a:r>
            <a:r>
              <a:rPr lang="en-US" b="1" dirty="0" smtClean="0">
                <a:solidFill>
                  <a:srgbClr val="C85350"/>
                </a:solidFill>
              </a:rPr>
              <a:t>)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752600" y="5260137"/>
            <a:ext cx="936442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 err="1" smtClean="0"/>
              <a:t>Thin</a:t>
            </a:r>
            <a:r>
              <a:rPr lang="fr-FR" sz="2800" dirty="0" smtClean="0"/>
              <a:t> and fat </a:t>
            </a:r>
            <a:r>
              <a:rPr lang="fr-FR" sz="2800" dirty="0" err="1" smtClean="0"/>
              <a:t>bow-ties</a:t>
            </a:r>
            <a:endParaRPr lang="fr-FR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 err="1" smtClean="0"/>
              <a:t>Trifle</a:t>
            </a:r>
            <a:r>
              <a:rPr lang="fr-FR" sz="2800" dirty="0" smtClean="0"/>
              <a:t> </a:t>
            </a:r>
            <a:r>
              <a:rPr lang="fr-FR" sz="2800" dirty="0" err="1" smtClean="0"/>
              <a:t>gives</a:t>
            </a:r>
            <a:r>
              <a:rPr lang="fr-FR" sz="2800" dirty="0" smtClean="0"/>
              <a:t> </a:t>
            </a:r>
            <a:r>
              <a:rPr lang="fr-FR" sz="2800" dirty="0" err="1" smtClean="0"/>
              <a:t>left</a:t>
            </a:r>
            <a:r>
              <a:rPr lang="fr-FR" sz="2800" dirty="0" smtClean="0"/>
              <a:t> and right chiral </a:t>
            </a:r>
            <a:r>
              <a:rPr lang="fr-FR" sz="2800" dirty="0" err="1" smtClean="0"/>
              <a:t>shapes</a:t>
            </a:r>
            <a:endParaRPr lang="fr-FR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 smtClean="0"/>
              <a:t>The 12 base </a:t>
            </a:r>
            <a:r>
              <a:rPr lang="fr-FR" sz="2800" dirty="0" err="1" smtClean="0"/>
              <a:t>vectors</a:t>
            </a:r>
            <a:r>
              <a:rPr lang="fr-FR" sz="2800" dirty="0" smtClean="0"/>
              <a:t> </a:t>
            </a:r>
            <a:r>
              <a:rPr lang="fr-FR" sz="2800" dirty="0" err="1" smtClean="0"/>
              <a:t>deduce</a:t>
            </a:r>
            <a:r>
              <a:rPr lang="fr-FR" sz="2800" dirty="0" smtClean="0"/>
              <a:t> </a:t>
            </a:r>
            <a:r>
              <a:rPr lang="fr-FR" sz="2800" dirty="0" err="1" smtClean="0"/>
              <a:t>from</a:t>
            </a:r>
            <a:r>
              <a:rPr lang="fr-FR" sz="2800" dirty="0" smtClean="0"/>
              <a:t> a vertical </a:t>
            </a:r>
            <a:r>
              <a:rPr lang="fr-FR" sz="2800" dirty="0" err="1" smtClean="0"/>
              <a:t>mirror</a:t>
            </a:r>
            <a:r>
              <a:rPr lang="fr-FR" sz="2800" dirty="0" smtClean="0"/>
              <a:t> </a:t>
            </a:r>
            <a:r>
              <a:rPr lang="fr-FR" sz="2800" dirty="0" err="1" smtClean="0"/>
              <a:t>reflection</a:t>
            </a:r>
            <a:endParaRPr lang="fr-FR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396977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13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Tile(</a:t>
            </a:r>
            <a:r>
              <a:rPr lang="en-US" b="1" dirty="0" err="1" smtClean="0">
                <a:solidFill>
                  <a:srgbClr val="C85350"/>
                </a:solidFill>
              </a:rPr>
              <a:t>a,b</a:t>
            </a:r>
            <a:r>
              <a:rPr lang="en-US" b="1" dirty="0" smtClean="0">
                <a:solidFill>
                  <a:srgbClr val="C85350"/>
                </a:solidFill>
              </a:rPr>
              <a:t>) and Tile(</a:t>
            </a:r>
            <a:r>
              <a:rPr lang="en-US" b="1" dirty="0" err="1" smtClean="0">
                <a:solidFill>
                  <a:srgbClr val="C85350"/>
                </a:solidFill>
              </a:rPr>
              <a:t>b,a</a:t>
            </a:r>
            <a:r>
              <a:rPr lang="en-US" b="1" dirty="0" smtClean="0">
                <a:solidFill>
                  <a:srgbClr val="C85350"/>
                </a:solidFill>
              </a:rPr>
              <a:t>) for turtle and hat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752600" y="5260137"/>
            <a:ext cx="936442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 err="1" smtClean="0"/>
              <a:t>Thick</a:t>
            </a:r>
            <a:r>
              <a:rPr lang="fr-FR" sz="2800" dirty="0" smtClean="0"/>
              <a:t> and fat </a:t>
            </a:r>
            <a:r>
              <a:rPr lang="fr-FR" sz="2800" dirty="0" err="1" smtClean="0"/>
              <a:t>bow-ties</a:t>
            </a:r>
            <a:endParaRPr lang="fr-FR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 err="1" smtClean="0"/>
              <a:t>Trifle</a:t>
            </a:r>
            <a:r>
              <a:rPr lang="fr-FR" sz="2800" dirty="0" smtClean="0"/>
              <a:t> </a:t>
            </a:r>
            <a:r>
              <a:rPr lang="fr-FR" sz="2800" dirty="0" err="1" smtClean="0"/>
              <a:t>gives</a:t>
            </a:r>
            <a:r>
              <a:rPr lang="fr-FR" sz="2800" dirty="0" smtClean="0"/>
              <a:t> </a:t>
            </a:r>
            <a:r>
              <a:rPr lang="fr-FR" sz="2800" dirty="0" err="1" smtClean="0"/>
              <a:t>left</a:t>
            </a:r>
            <a:r>
              <a:rPr lang="fr-FR" sz="2800" dirty="0" smtClean="0"/>
              <a:t> and right chiral </a:t>
            </a:r>
            <a:r>
              <a:rPr lang="fr-FR" sz="2800" dirty="0" err="1" smtClean="0"/>
              <a:t>shapes</a:t>
            </a:r>
            <a:endParaRPr lang="fr-FR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 smtClean="0"/>
              <a:t>The 12 base </a:t>
            </a:r>
            <a:r>
              <a:rPr lang="fr-FR" sz="2800" dirty="0" err="1" smtClean="0"/>
              <a:t>vectors</a:t>
            </a:r>
            <a:r>
              <a:rPr lang="fr-FR" sz="2800" dirty="0" smtClean="0"/>
              <a:t> </a:t>
            </a:r>
            <a:r>
              <a:rPr lang="fr-FR" sz="2800" dirty="0" err="1" smtClean="0"/>
              <a:t>deduce</a:t>
            </a:r>
            <a:r>
              <a:rPr lang="fr-FR" sz="2800" dirty="0" smtClean="0"/>
              <a:t> </a:t>
            </a:r>
            <a:r>
              <a:rPr lang="fr-FR" sz="2800" dirty="0" err="1" smtClean="0"/>
              <a:t>from</a:t>
            </a:r>
            <a:r>
              <a:rPr lang="fr-FR" sz="2800" dirty="0" smtClean="0"/>
              <a:t> a vertical </a:t>
            </a:r>
            <a:r>
              <a:rPr lang="fr-FR" sz="2800" dirty="0" err="1" smtClean="0"/>
              <a:t>mirror</a:t>
            </a:r>
            <a:r>
              <a:rPr lang="fr-FR" sz="2800" dirty="0" smtClean="0"/>
              <a:t> </a:t>
            </a:r>
            <a:r>
              <a:rPr lang="fr-FR" sz="2800" dirty="0" err="1" smtClean="0"/>
              <a:t>reflection</a:t>
            </a:r>
            <a:endParaRPr lang="fr-FR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FR" sz="2800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937" y="1100137"/>
            <a:ext cx="9382125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693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14</a:t>
            </a:fld>
            <a:endParaRPr lang="fr-FR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Duplicated versus inverted for any Tile(</a:t>
            </a:r>
            <a:r>
              <a:rPr lang="en-US" b="1" dirty="0" err="1" smtClean="0">
                <a:solidFill>
                  <a:srgbClr val="C85350"/>
                </a:solidFill>
              </a:rPr>
              <a:t>a,b</a:t>
            </a:r>
            <a:r>
              <a:rPr lang="en-US" b="1" dirty="0" smtClean="0">
                <a:solidFill>
                  <a:srgbClr val="C85350"/>
                </a:solidFill>
              </a:rPr>
              <a:t>)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3339112" y="5649045"/>
            <a:ext cx="7225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err="1" smtClean="0"/>
              <a:t>Duplicated</a:t>
            </a:r>
            <a:r>
              <a:rPr lang="fr-FR" sz="2800" dirty="0" smtClean="0"/>
              <a:t> </a:t>
            </a:r>
            <a:r>
              <a:rPr lang="fr-FR" sz="2800" dirty="0" err="1" smtClean="0"/>
              <a:t>tile</a:t>
            </a:r>
            <a:r>
              <a:rPr lang="fr-FR" sz="2800" dirty="0" smtClean="0"/>
              <a:t> versus </a:t>
            </a:r>
            <a:r>
              <a:rPr lang="fr-FR" sz="2800" dirty="0" err="1" smtClean="0"/>
              <a:t>inverted</a:t>
            </a:r>
            <a:r>
              <a:rPr lang="fr-FR" sz="2800" dirty="0" smtClean="0"/>
              <a:t> </a:t>
            </a:r>
            <a:r>
              <a:rPr lang="fr-FR" sz="2800" dirty="0" err="1" smtClean="0"/>
              <a:t>tile</a:t>
            </a:r>
            <a:endParaRPr lang="fr-FR" sz="2800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763" y="1289289"/>
            <a:ext cx="9698037" cy="426771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07097" y="1506656"/>
            <a:ext cx="133944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rgbClr val="268BD2"/>
                </a:solidFill>
                <a:latin typeface="Consolas" panose="020B0609020204030204" pitchFamily="49" charset="0"/>
              </a:rPr>
              <a:t>a</a:t>
            </a:r>
            <a:r>
              <a:rPr lang="fr-FR" sz="2400" dirty="0">
                <a:solidFill>
                  <a:srgbClr val="859900"/>
                </a:solidFill>
                <a:latin typeface="Consolas" panose="020B0609020204030204" pitchFamily="49" charset="0"/>
              </a:rPr>
              <a:t>=</a:t>
            </a:r>
            <a:r>
              <a:rPr lang="fr-FR" sz="2400" dirty="0">
                <a:solidFill>
                  <a:srgbClr val="D33682"/>
                </a:solidFill>
                <a:latin typeface="Consolas" panose="020B0609020204030204" pitchFamily="49" charset="0"/>
              </a:rPr>
              <a:t>1.6</a:t>
            </a:r>
            <a:endParaRPr lang="fr-FR" sz="2400" dirty="0">
              <a:solidFill>
                <a:srgbClr val="657B83"/>
              </a:solidFill>
              <a:latin typeface="Consolas" panose="020B0609020204030204" pitchFamily="49" charset="0"/>
            </a:endParaRPr>
          </a:p>
          <a:p>
            <a:r>
              <a:rPr lang="fr-FR" sz="2400" dirty="0">
                <a:solidFill>
                  <a:srgbClr val="268BD2"/>
                </a:solidFill>
                <a:latin typeface="Consolas" panose="020B0609020204030204" pitchFamily="49" charset="0"/>
              </a:rPr>
              <a:t>b</a:t>
            </a:r>
            <a:r>
              <a:rPr lang="fr-FR" sz="2400" dirty="0">
                <a:solidFill>
                  <a:srgbClr val="859900"/>
                </a:solidFill>
                <a:latin typeface="Consolas" panose="020B0609020204030204" pitchFamily="49" charset="0"/>
              </a:rPr>
              <a:t>=</a:t>
            </a:r>
            <a:r>
              <a:rPr lang="fr-FR" sz="2400" dirty="0">
                <a:solidFill>
                  <a:srgbClr val="D33682"/>
                </a:solidFill>
                <a:latin typeface="Consolas" panose="020B0609020204030204" pitchFamily="49" charset="0"/>
              </a:rPr>
              <a:t>1.2</a:t>
            </a:r>
            <a:endParaRPr lang="fr-FR" sz="2400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9601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15</a:t>
            </a:fld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561" y="1134520"/>
            <a:ext cx="8220075" cy="4467225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CE56B3E6-8805-4DED-84BF-0C1678778A05}"/>
              </a:ext>
            </a:extLst>
          </p:cNvPr>
          <p:cNvSpPr txBox="1">
            <a:spLocks/>
          </p:cNvSpPr>
          <p:nvPr/>
        </p:nvSpPr>
        <p:spPr>
          <a:xfrm>
            <a:off x="999571" y="5091084"/>
            <a:ext cx="3586480" cy="138097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b="1" dirty="0"/>
              <a:t>2 </a:t>
            </a:r>
            <a:r>
              <a:rPr lang="fr-FR" sz="2800" b="1" dirty="0" err="1"/>
              <a:t>other</a:t>
            </a:r>
            <a:r>
              <a:rPr lang="fr-FR" sz="2800" b="1" dirty="0"/>
              <a:t> </a:t>
            </a:r>
            <a:r>
              <a:rPr lang="fr-FR" sz="2800" b="1" dirty="0" err="1"/>
              <a:t>shapes</a:t>
            </a:r>
            <a:r>
              <a:rPr lang="fr-FR" sz="2800" b="1" dirty="0"/>
              <a:t> are </a:t>
            </a:r>
            <a:r>
              <a:rPr lang="fr-FR" sz="2800" b="1" dirty="0" err="1"/>
              <a:t>left</a:t>
            </a:r>
            <a:r>
              <a:rPr lang="fr-FR" sz="2800" b="1" dirty="0"/>
              <a:t>:</a:t>
            </a:r>
          </a:p>
          <a:p>
            <a:r>
              <a:rPr lang="fr-FR" sz="2800" b="1" dirty="0"/>
              <a:t>-&gt; 2 </a:t>
            </a:r>
            <a:r>
              <a:rPr lang="fr-FR" sz="2800" b="1" dirty="0" err="1"/>
              <a:t>half-bows</a:t>
            </a:r>
            <a:endParaRPr lang="fr-FR" sz="2800" b="1" dirty="0"/>
          </a:p>
          <a:p>
            <a:r>
              <a:rPr lang="fr-FR" sz="2800" b="1" dirty="0"/>
              <a:t>-&gt; 1 </a:t>
            </a:r>
            <a:r>
              <a:rPr lang="fr-FR" sz="2800" b="1" dirty="0" err="1"/>
              <a:t>half-trifle</a:t>
            </a:r>
            <a:endParaRPr lang="fr-FR" sz="2800" b="1" dirty="0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CE56B3E6-8805-4DED-84BF-0C1678778A05}"/>
              </a:ext>
            </a:extLst>
          </p:cNvPr>
          <p:cNvSpPr txBox="1">
            <a:spLocks/>
          </p:cNvSpPr>
          <p:nvPr/>
        </p:nvSpPr>
        <p:spPr>
          <a:xfrm>
            <a:off x="4223406" y="4093089"/>
            <a:ext cx="1801474" cy="5658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b="1" dirty="0">
                <a:solidFill>
                  <a:srgbClr val="FF0000"/>
                </a:solidFill>
              </a:rPr>
              <a:t>Half-</a:t>
            </a:r>
            <a:r>
              <a:rPr lang="fr-FR" sz="2800" b="1" dirty="0" err="1">
                <a:solidFill>
                  <a:srgbClr val="FF0000"/>
                </a:solidFill>
              </a:rPr>
              <a:t>trifle</a:t>
            </a:r>
            <a:endParaRPr lang="fr-FR" sz="2800" b="1" dirty="0">
              <a:solidFill>
                <a:srgbClr val="FF0000"/>
              </a:solidFill>
            </a:endParaRP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CE56B3E6-8805-4DED-84BF-0C1678778A05}"/>
              </a:ext>
            </a:extLst>
          </p:cNvPr>
          <p:cNvSpPr txBox="1">
            <a:spLocks/>
          </p:cNvSpPr>
          <p:nvPr/>
        </p:nvSpPr>
        <p:spPr>
          <a:xfrm>
            <a:off x="991337" y="3220324"/>
            <a:ext cx="1801474" cy="5658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b="1" dirty="0">
                <a:solidFill>
                  <a:srgbClr val="FF0000"/>
                </a:solidFill>
              </a:rPr>
              <a:t>Half-</a:t>
            </a:r>
            <a:r>
              <a:rPr lang="fr-FR" sz="2800" b="1" dirty="0" err="1">
                <a:solidFill>
                  <a:srgbClr val="FF0000"/>
                </a:solidFill>
              </a:rPr>
              <a:t>bow</a:t>
            </a:r>
            <a:endParaRPr lang="fr-FR" sz="2800" b="1" dirty="0">
              <a:solidFill>
                <a:srgbClr val="FF0000"/>
              </a:solidFill>
            </a:endParaRP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CE56B3E6-8805-4DED-84BF-0C1678778A05}"/>
              </a:ext>
            </a:extLst>
          </p:cNvPr>
          <p:cNvSpPr txBox="1">
            <a:spLocks/>
          </p:cNvSpPr>
          <p:nvPr/>
        </p:nvSpPr>
        <p:spPr>
          <a:xfrm>
            <a:off x="3322669" y="1745854"/>
            <a:ext cx="1801474" cy="5658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b="1" dirty="0">
                <a:solidFill>
                  <a:srgbClr val="FF0000"/>
                </a:solidFill>
              </a:rPr>
              <a:t>Half-</a:t>
            </a:r>
            <a:r>
              <a:rPr lang="fr-FR" sz="2800" b="1" dirty="0" err="1">
                <a:solidFill>
                  <a:srgbClr val="FF0000"/>
                </a:solidFill>
              </a:rPr>
              <a:t>bow</a:t>
            </a:r>
            <a:endParaRPr lang="fr-FR" sz="2800" b="1" dirty="0">
              <a:solidFill>
                <a:srgbClr val="FF0000"/>
              </a:solidFill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6593426" y="5402243"/>
            <a:ext cx="40343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err="1" smtClean="0"/>
              <a:t>Duplicated</a:t>
            </a:r>
            <a:r>
              <a:rPr lang="fr-FR" sz="2800" dirty="0" smtClean="0"/>
              <a:t> </a:t>
            </a:r>
            <a:r>
              <a:rPr lang="fr-FR" sz="2800" dirty="0" err="1" smtClean="0"/>
              <a:t>tile</a:t>
            </a:r>
            <a:r>
              <a:rPr lang="fr-FR" sz="2800" dirty="0" smtClean="0"/>
              <a:t> versus </a:t>
            </a:r>
            <a:r>
              <a:rPr lang="fr-FR" sz="2800" dirty="0" err="1" smtClean="0"/>
              <a:t>inverted</a:t>
            </a:r>
            <a:r>
              <a:rPr lang="fr-FR" sz="2800" dirty="0" smtClean="0"/>
              <a:t> </a:t>
            </a:r>
            <a:r>
              <a:rPr lang="fr-FR" sz="2800" dirty="0" err="1" smtClean="0"/>
              <a:t>tile</a:t>
            </a:r>
            <a:endParaRPr lang="fr-FR" sz="2800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Duplicated versus inverted for right Tile(1,1)</a:t>
            </a:r>
            <a:endParaRPr lang="fr-FR" b="1" dirty="0">
              <a:solidFill>
                <a:srgbClr val="C853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034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16</a:t>
            </a:fld>
            <a:endParaRPr lang="fr-FR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Cluster and full cluster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331" y="2133600"/>
            <a:ext cx="3170730" cy="2974603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068" y="1469262"/>
            <a:ext cx="4333470" cy="420522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3468" y="1545157"/>
            <a:ext cx="133944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rgbClr val="268BD2"/>
                </a:solidFill>
                <a:latin typeface="Consolas" panose="020B0609020204030204" pitchFamily="49" charset="0"/>
              </a:rPr>
              <a:t>a</a:t>
            </a:r>
            <a:r>
              <a:rPr lang="fr-FR" sz="2400" dirty="0">
                <a:solidFill>
                  <a:srgbClr val="859900"/>
                </a:solidFill>
                <a:latin typeface="Consolas" panose="020B0609020204030204" pitchFamily="49" charset="0"/>
              </a:rPr>
              <a:t>=</a:t>
            </a:r>
            <a:r>
              <a:rPr lang="fr-FR" sz="2400" dirty="0">
                <a:solidFill>
                  <a:srgbClr val="D33682"/>
                </a:solidFill>
                <a:latin typeface="Consolas" panose="020B0609020204030204" pitchFamily="49" charset="0"/>
              </a:rPr>
              <a:t>1.6</a:t>
            </a:r>
            <a:endParaRPr lang="fr-FR" sz="2400" dirty="0">
              <a:solidFill>
                <a:srgbClr val="657B83"/>
              </a:solidFill>
              <a:latin typeface="Consolas" panose="020B0609020204030204" pitchFamily="49" charset="0"/>
            </a:endParaRPr>
          </a:p>
          <a:p>
            <a:r>
              <a:rPr lang="fr-FR" sz="2400" dirty="0">
                <a:solidFill>
                  <a:srgbClr val="268BD2"/>
                </a:solidFill>
                <a:latin typeface="Consolas" panose="020B0609020204030204" pitchFamily="49" charset="0"/>
              </a:rPr>
              <a:t>b</a:t>
            </a:r>
            <a:r>
              <a:rPr lang="fr-FR" sz="2400" dirty="0">
                <a:solidFill>
                  <a:srgbClr val="859900"/>
                </a:solidFill>
                <a:latin typeface="Consolas" panose="020B0609020204030204" pitchFamily="49" charset="0"/>
              </a:rPr>
              <a:t>=</a:t>
            </a:r>
            <a:r>
              <a:rPr lang="fr-FR" sz="2400" dirty="0">
                <a:solidFill>
                  <a:srgbClr val="D33682"/>
                </a:solidFill>
                <a:latin typeface="Consolas" panose="020B0609020204030204" pitchFamily="49" charset="0"/>
              </a:rPr>
              <a:t>1.2</a:t>
            </a:r>
            <a:endParaRPr lang="fr-FR" sz="2400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2669804" y="5790070"/>
            <a:ext cx="68523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>
                <a:solidFill>
                  <a:srgbClr val="FF0000"/>
                </a:solidFill>
              </a:rPr>
              <a:t>Green points </a:t>
            </a:r>
            <a:r>
              <a:rPr lang="fr-FR" sz="2800" dirty="0" err="1" smtClean="0">
                <a:solidFill>
                  <a:srgbClr val="FF0000"/>
                </a:solidFill>
              </a:rPr>
              <a:t>always</a:t>
            </a:r>
            <a:r>
              <a:rPr lang="fr-FR" sz="2800" dirty="0" smtClean="0">
                <a:solidFill>
                  <a:srgbClr val="FF0000"/>
                </a:solidFill>
              </a:rPr>
              <a:t> </a:t>
            </a:r>
            <a:r>
              <a:rPr lang="fr-FR" sz="2800" dirty="0" err="1" smtClean="0">
                <a:solidFill>
                  <a:srgbClr val="FF0000"/>
                </a:solidFill>
              </a:rPr>
              <a:t>form</a:t>
            </a:r>
            <a:r>
              <a:rPr lang="fr-FR" sz="2800" dirty="0" smtClean="0">
                <a:solidFill>
                  <a:srgbClr val="FF0000"/>
                </a:solidFill>
              </a:rPr>
              <a:t> a </a:t>
            </a:r>
            <a:r>
              <a:rPr lang="fr-FR" sz="2800" dirty="0" err="1" smtClean="0">
                <a:solidFill>
                  <a:srgbClr val="FF0000"/>
                </a:solidFill>
              </a:rPr>
              <a:t>regular</a:t>
            </a:r>
            <a:r>
              <a:rPr lang="fr-FR" sz="2800" dirty="0" smtClean="0">
                <a:solidFill>
                  <a:srgbClr val="FF0000"/>
                </a:solidFill>
              </a:rPr>
              <a:t> triangle </a:t>
            </a:r>
            <a:r>
              <a:rPr lang="fr-FR" sz="2800" dirty="0" smtClean="0">
                <a:solidFill>
                  <a:srgbClr val="FF0000"/>
                </a:solidFill>
                <a:sym typeface="Wingdings" panose="05000000000000000000" pitchFamily="2" charset="2"/>
              </a:rPr>
              <a:t></a:t>
            </a:r>
            <a:endParaRPr lang="fr-FR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768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17</a:t>
            </a:fld>
            <a:endParaRPr lang="fr-FR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Cluster and full cluster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71" y="1856395"/>
            <a:ext cx="12220575" cy="34099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16859" y="1367541"/>
            <a:ext cx="133944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rgbClr val="268BD2"/>
                </a:solidFill>
                <a:latin typeface="Consolas" panose="020B0609020204030204" pitchFamily="49" charset="0"/>
              </a:rPr>
              <a:t>a</a:t>
            </a:r>
            <a:r>
              <a:rPr lang="fr-FR" sz="2400" dirty="0">
                <a:solidFill>
                  <a:srgbClr val="859900"/>
                </a:solidFill>
                <a:latin typeface="Consolas" panose="020B0609020204030204" pitchFamily="49" charset="0"/>
              </a:rPr>
              <a:t>=</a:t>
            </a:r>
            <a:r>
              <a:rPr lang="fr-FR" sz="2400" dirty="0">
                <a:solidFill>
                  <a:srgbClr val="D33682"/>
                </a:solidFill>
                <a:latin typeface="Consolas" panose="020B0609020204030204" pitchFamily="49" charset="0"/>
              </a:rPr>
              <a:t>1.6</a:t>
            </a:r>
            <a:endParaRPr lang="fr-FR" sz="2400" dirty="0">
              <a:solidFill>
                <a:srgbClr val="657B83"/>
              </a:solidFill>
              <a:latin typeface="Consolas" panose="020B0609020204030204" pitchFamily="49" charset="0"/>
            </a:endParaRPr>
          </a:p>
          <a:p>
            <a:r>
              <a:rPr lang="fr-FR" sz="2400" dirty="0">
                <a:solidFill>
                  <a:srgbClr val="268BD2"/>
                </a:solidFill>
                <a:latin typeface="Consolas" panose="020B0609020204030204" pitchFamily="49" charset="0"/>
              </a:rPr>
              <a:t>b</a:t>
            </a:r>
            <a:r>
              <a:rPr lang="fr-FR" sz="2400" dirty="0">
                <a:solidFill>
                  <a:srgbClr val="859900"/>
                </a:solidFill>
                <a:latin typeface="Consolas" panose="020B0609020204030204" pitchFamily="49" charset="0"/>
              </a:rPr>
              <a:t>=</a:t>
            </a:r>
            <a:r>
              <a:rPr lang="fr-FR" sz="2400" dirty="0">
                <a:solidFill>
                  <a:srgbClr val="D33682"/>
                </a:solidFill>
                <a:latin typeface="Consolas" panose="020B0609020204030204" pitchFamily="49" charset="0"/>
              </a:rPr>
              <a:t>1.2</a:t>
            </a:r>
            <a:endParaRPr lang="fr-FR" sz="2400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7128584" y="5153917"/>
            <a:ext cx="450636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err="1" smtClean="0"/>
              <a:t>Three</a:t>
            </a:r>
            <a:r>
              <a:rPr lang="fr-FR" sz="2800" dirty="0" smtClean="0"/>
              <a:t> more possible </a:t>
            </a:r>
            <a:r>
              <a:rPr lang="fr-FR" sz="2800" dirty="0" err="1" smtClean="0"/>
              <a:t>tiles</a:t>
            </a:r>
            <a:r>
              <a:rPr lang="fr-FR" sz="2800" dirty="0" smtClean="0"/>
              <a:t> </a:t>
            </a:r>
            <a:r>
              <a:rPr lang="fr-FR" sz="2800" dirty="0" err="1" smtClean="0"/>
              <a:t>using</a:t>
            </a:r>
            <a:r>
              <a:rPr lang="fr-FR" sz="2800" dirty="0" smtClean="0"/>
              <a:t> inversion </a:t>
            </a:r>
            <a:r>
              <a:rPr lang="fr-FR" sz="2800" dirty="0" err="1" smtClean="0"/>
              <a:t>around</a:t>
            </a:r>
            <a:r>
              <a:rPr lang="fr-FR" sz="2800" dirty="0" smtClean="0"/>
              <a:t> the green points</a:t>
            </a:r>
            <a:endParaRPr lang="fr-FR" sz="2800" dirty="0"/>
          </a:p>
        </p:txBody>
      </p:sp>
      <p:sp>
        <p:nvSpPr>
          <p:cNvPr id="12" name="ZoneTexte 11"/>
          <p:cNvSpPr txBox="1"/>
          <p:nvPr/>
        </p:nvSpPr>
        <p:spPr>
          <a:xfrm>
            <a:off x="232718" y="4971355"/>
            <a:ext cx="284717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C cluster</a:t>
            </a:r>
          </a:p>
          <a:p>
            <a:r>
              <a:rPr lang="fr-FR" sz="2800" dirty="0" smtClean="0"/>
              <a:t>(corona </a:t>
            </a:r>
            <a:r>
              <a:rPr lang="fr-FR" sz="2800" dirty="0" err="1" smtClean="0"/>
              <a:t>around</a:t>
            </a:r>
            <a:r>
              <a:rPr lang="fr-FR" sz="2800" dirty="0" smtClean="0"/>
              <a:t> a ODD </a:t>
            </a:r>
            <a:r>
              <a:rPr lang="fr-FR" sz="2800" dirty="0" err="1" smtClean="0"/>
              <a:t>tile</a:t>
            </a:r>
            <a:r>
              <a:rPr lang="fr-FR" sz="2800" dirty="0" smtClean="0"/>
              <a:t>)</a:t>
            </a:r>
            <a:endParaRPr lang="fr-FR" sz="2800" dirty="0"/>
          </a:p>
        </p:txBody>
      </p:sp>
      <p:sp>
        <p:nvSpPr>
          <p:cNvPr id="13" name="ZoneTexte 12"/>
          <p:cNvSpPr txBox="1"/>
          <p:nvPr/>
        </p:nvSpPr>
        <p:spPr>
          <a:xfrm>
            <a:off x="3371135" y="5123754"/>
            <a:ext cx="284717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The </a:t>
            </a:r>
            <a:r>
              <a:rPr lang="fr-FR" sz="2800" dirty="0" err="1" smtClean="0"/>
              <a:t>three</a:t>
            </a:r>
            <a:r>
              <a:rPr lang="fr-FR" sz="2800" dirty="0" smtClean="0"/>
              <a:t> </a:t>
            </a:r>
            <a:r>
              <a:rPr lang="fr-FR" sz="2800" dirty="0" err="1" smtClean="0"/>
              <a:t>duplicated</a:t>
            </a:r>
            <a:r>
              <a:rPr lang="fr-FR" sz="2800" dirty="0" smtClean="0"/>
              <a:t> </a:t>
            </a:r>
            <a:r>
              <a:rPr lang="fr-FR" sz="2800" dirty="0" err="1" smtClean="0"/>
              <a:t>tiles</a:t>
            </a:r>
            <a:r>
              <a:rPr lang="fr-FR" sz="2800" dirty="0" smtClean="0"/>
              <a:t> are all in the </a:t>
            </a:r>
            <a:r>
              <a:rPr lang="fr-FR" sz="2800" dirty="0" err="1" smtClean="0"/>
              <a:t>tiling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3624716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18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full cluster with its six rotations: n(2pi/6)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1137823" y="5042118"/>
            <a:ext cx="1116847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TO DO: code </a:t>
            </a:r>
            <a:r>
              <a:rPr lang="fr-FR" sz="2800" dirty="0" err="1" smtClean="0"/>
              <a:t>assembly</a:t>
            </a:r>
            <a:r>
              <a:rPr lang="fr-FR" sz="2800" dirty="0" smtClean="0"/>
              <a:t> </a:t>
            </a:r>
            <a:r>
              <a:rPr lang="fr-FR" sz="2800" dirty="0" err="1" smtClean="0"/>
              <a:t>rules</a:t>
            </a:r>
            <a:r>
              <a:rPr lang="fr-FR" sz="2800" dirty="0" smtClean="0"/>
              <a:t> </a:t>
            </a:r>
            <a:r>
              <a:rPr lang="fr-FR" sz="2800" dirty="0" err="1" smtClean="0"/>
              <a:t>using</a:t>
            </a:r>
            <a:r>
              <a:rPr lang="fr-FR" sz="2800" dirty="0" smtClean="0"/>
              <a:t> translations </a:t>
            </a:r>
            <a:r>
              <a:rPr lang="fr-FR" sz="2800" dirty="0" err="1" smtClean="0"/>
              <a:t>along</a:t>
            </a:r>
            <a:r>
              <a:rPr lang="fr-FR" sz="2800" dirty="0" smtClean="0"/>
              <a:t> triangle </a:t>
            </a:r>
            <a:r>
              <a:rPr lang="fr-FR" sz="2800" dirty="0" err="1" smtClean="0"/>
              <a:t>edges</a:t>
            </a:r>
            <a:r>
              <a:rPr lang="fr-FR" sz="2800" dirty="0" smtClean="0"/>
              <a:t> !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Link </a:t>
            </a:r>
            <a:r>
              <a:rPr lang="fr-FR" sz="2800" dirty="0" err="1" smtClean="0"/>
              <a:t>between</a:t>
            </a:r>
            <a:r>
              <a:rPr lang="fr-FR" sz="2800" dirty="0" smtClean="0"/>
              <a:t> translations and relative ODD orientations ???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-&gt; </a:t>
            </a:r>
            <a:r>
              <a:rPr lang="fr-FR" sz="2800" dirty="0" err="1" smtClean="0"/>
              <a:t>combinatory</a:t>
            </a:r>
            <a:r>
              <a:rPr lang="fr-FR" sz="2800" dirty="0" smtClean="0"/>
              <a:t> </a:t>
            </a:r>
            <a:r>
              <a:rPr lang="fr-FR" sz="2800" dirty="0" err="1" smtClean="0"/>
              <a:t>properties</a:t>
            </a:r>
            <a:endParaRPr lang="fr-FR" sz="2800" dirty="0" smtClean="0"/>
          </a:p>
          <a:p>
            <a:endParaRPr lang="fr-FR" sz="2800" dirty="0" smtClean="0"/>
          </a:p>
        </p:txBody>
      </p:sp>
      <p:sp>
        <p:nvSpPr>
          <p:cNvPr id="6" name="Rectangle 5"/>
          <p:cNvSpPr/>
          <p:nvPr/>
        </p:nvSpPr>
        <p:spPr>
          <a:xfrm>
            <a:off x="117951" y="1206637"/>
            <a:ext cx="133944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rgbClr val="268BD2"/>
                </a:solidFill>
                <a:latin typeface="Consolas" panose="020B0609020204030204" pitchFamily="49" charset="0"/>
              </a:rPr>
              <a:t>a</a:t>
            </a:r>
            <a:r>
              <a:rPr lang="fr-FR" sz="2400" dirty="0">
                <a:solidFill>
                  <a:srgbClr val="859900"/>
                </a:solidFill>
                <a:latin typeface="Consolas" panose="020B0609020204030204" pitchFamily="49" charset="0"/>
              </a:rPr>
              <a:t>=</a:t>
            </a:r>
            <a:r>
              <a:rPr lang="fr-FR" sz="2400" dirty="0">
                <a:solidFill>
                  <a:srgbClr val="D33682"/>
                </a:solidFill>
                <a:latin typeface="Consolas" panose="020B0609020204030204" pitchFamily="49" charset="0"/>
              </a:rPr>
              <a:t>1.6</a:t>
            </a:r>
            <a:endParaRPr lang="fr-FR" sz="2400" dirty="0">
              <a:solidFill>
                <a:srgbClr val="657B83"/>
              </a:solidFill>
              <a:latin typeface="Consolas" panose="020B0609020204030204" pitchFamily="49" charset="0"/>
            </a:endParaRPr>
          </a:p>
          <a:p>
            <a:r>
              <a:rPr lang="fr-FR" sz="2400" dirty="0">
                <a:solidFill>
                  <a:srgbClr val="268BD2"/>
                </a:solidFill>
                <a:latin typeface="Consolas" panose="020B0609020204030204" pitchFamily="49" charset="0"/>
              </a:rPr>
              <a:t>b</a:t>
            </a:r>
            <a:r>
              <a:rPr lang="fr-FR" sz="2400" dirty="0">
                <a:solidFill>
                  <a:srgbClr val="859900"/>
                </a:solidFill>
                <a:latin typeface="Consolas" panose="020B0609020204030204" pitchFamily="49" charset="0"/>
              </a:rPr>
              <a:t>=</a:t>
            </a:r>
            <a:r>
              <a:rPr lang="fr-FR" sz="2400" dirty="0">
                <a:solidFill>
                  <a:srgbClr val="D33682"/>
                </a:solidFill>
                <a:latin typeface="Consolas" panose="020B0609020204030204" pitchFamily="49" charset="0"/>
              </a:rPr>
              <a:t>1.2</a:t>
            </a:r>
            <a:endParaRPr lang="fr-FR" sz="2400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18" y="2366929"/>
            <a:ext cx="11543591" cy="256789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64831" y="2073292"/>
            <a:ext cx="5036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 smtClean="0"/>
              <a:t>C1</a:t>
            </a:r>
            <a:endParaRPr lang="fr-FR" sz="2400" dirty="0"/>
          </a:p>
        </p:txBody>
      </p:sp>
      <p:sp>
        <p:nvSpPr>
          <p:cNvPr id="9" name="Rectangle 8"/>
          <p:cNvSpPr/>
          <p:nvPr/>
        </p:nvSpPr>
        <p:spPr>
          <a:xfrm>
            <a:off x="2766898" y="2073292"/>
            <a:ext cx="5036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 smtClean="0"/>
              <a:t>C2</a:t>
            </a:r>
            <a:endParaRPr lang="fr-FR" sz="2400" dirty="0"/>
          </a:p>
        </p:txBody>
      </p:sp>
      <p:sp>
        <p:nvSpPr>
          <p:cNvPr id="10" name="Rectangle 9"/>
          <p:cNvSpPr/>
          <p:nvPr/>
        </p:nvSpPr>
        <p:spPr>
          <a:xfrm>
            <a:off x="4547572" y="2073291"/>
            <a:ext cx="5036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 smtClean="0"/>
              <a:t>C3</a:t>
            </a:r>
            <a:endParaRPr lang="fr-FR" sz="2400" dirty="0"/>
          </a:p>
        </p:txBody>
      </p:sp>
      <p:sp>
        <p:nvSpPr>
          <p:cNvPr id="11" name="Rectangle 10"/>
          <p:cNvSpPr/>
          <p:nvPr/>
        </p:nvSpPr>
        <p:spPr>
          <a:xfrm>
            <a:off x="6405248" y="2073291"/>
            <a:ext cx="5036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 smtClean="0"/>
              <a:t>C4</a:t>
            </a:r>
            <a:endParaRPr lang="fr-FR" sz="2400" dirty="0"/>
          </a:p>
        </p:txBody>
      </p:sp>
      <p:sp>
        <p:nvSpPr>
          <p:cNvPr id="12" name="Rectangle 11"/>
          <p:cNvSpPr/>
          <p:nvPr/>
        </p:nvSpPr>
        <p:spPr>
          <a:xfrm>
            <a:off x="8610600" y="2073291"/>
            <a:ext cx="5036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 smtClean="0"/>
              <a:t>C5</a:t>
            </a:r>
            <a:endParaRPr lang="fr-FR" sz="2400" dirty="0"/>
          </a:p>
        </p:txBody>
      </p:sp>
      <p:sp>
        <p:nvSpPr>
          <p:cNvPr id="13" name="Rectangle 12"/>
          <p:cNvSpPr/>
          <p:nvPr/>
        </p:nvSpPr>
        <p:spPr>
          <a:xfrm>
            <a:off x="10777144" y="2114357"/>
            <a:ext cx="5036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 smtClean="0"/>
              <a:t>C6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8116625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59" y="2270415"/>
            <a:ext cx="11752036" cy="2515974"/>
          </a:xfrm>
          <a:prstGeom prst="rect">
            <a:avLst/>
          </a:prstGeom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19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full cluster with its six rotations: n(2pi/6)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7951" y="1206637"/>
            <a:ext cx="133944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rgbClr val="268BD2"/>
                </a:solidFill>
                <a:latin typeface="Consolas" panose="020B0609020204030204" pitchFamily="49" charset="0"/>
              </a:rPr>
              <a:t>a</a:t>
            </a:r>
            <a:r>
              <a:rPr lang="fr-FR" sz="2400" dirty="0">
                <a:solidFill>
                  <a:srgbClr val="859900"/>
                </a:solidFill>
                <a:latin typeface="Consolas" panose="020B0609020204030204" pitchFamily="49" charset="0"/>
              </a:rPr>
              <a:t>=</a:t>
            </a:r>
            <a:r>
              <a:rPr lang="fr-FR" sz="2400" dirty="0">
                <a:solidFill>
                  <a:srgbClr val="D33682"/>
                </a:solidFill>
                <a:latin typeface="Consolas" panose="020B0609020204030204" pitchFamily="49" charset="0"/>
              </a:rPr>
              <a:t>1.6</a:t>
            </a:r>
            <a:endParaRPr lang="fr-FR" sz="2400" dirty="0">
              <a:solidFill>
                <a:srgbClr val="657B83"/>
              </a:solidFill>
              <a:latin typeface="Consolas" panose="020B0609020204030204" pitchFamily="49" charset="0"/>
            </a:endParaRPr>
          </a:p>
          <a:p>
            <a:r>
              <a:rPr lang="fr-FR" sz="2400" dirty="0">
                <a:solidFill>
                  <a:srgbClr val="268BD2"/>
                </a:solidFill>
                <a:latin typeface="Consolas" panose="020B0609020204030204" pitchFamily="49" charset="0"/>
              </a:rPr>
              <a:t>b</a:t>
            </a:r>
            <a:r>
              <a:rPr lang="fr-FR" sz="2400" dirty="0">
                <a:solidFill>
                  <a:srgbClr val="859900"/>
                </a:solidFill>
                <a:latin typeface="Consolas" panose="020B0609020204030204" pitchFamily="49" charset="0"/>
              </a:rPr>
              <a:t>=</a:t>
            </a:r>
            <a:r>
              <a:rPr lang="fr-FR" sz="2400" dirty="0">
                <a:solidFill>
                  <a:srgbClr val="D33682"/>
                </a:solidFill>
                <a:latin typeface="Consolas" panose="020B0609020204030204" pitchFamily="49" charset="0"/>
              </a:rPr>
              <a:t>1.2</a:t>
            </a:r>
            <a:endParaRPr lang="fr-FR" sz="2400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64831" y="2073292"/>
            <a:ext cx="5036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 smtClean="0"/>
              <a:t>C1</a:t>
            </a:r>
            <a:endParaRPr lang="fr-FR" sz="2400" dirty="0"/>
          </a:p>
        </p:txBody>
      </p:sp>
      <p:sp>
        <p:nvSpPr>
          <p:cNvPr id="9" name="Rectangle 8"/>
          <p:cNvSpPr/>
          <p:nvPr/>
        </p:nvSpPr>
        <p:spPr>
          <a:xfrm>
            <a:off x="2766898" y="2073292"/>
            <a:ext cx="5036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 smtClean="0"/>
              <a:t>C2</a:t>
            </a:r>
            <a:endParaRPr lang="fr-FR" sz="2400" dirty="0"/>
          </a:p>
        </p:txBody>
      </p:sp>
      <p:sp>
        <p:nvSpPr>
          <p:cNvPr id="10" name="Rectangle 9"/>
          <p:cNvSpPr/>
          <p:nvPr/>
        </p:nvSpPr>
        <p:spPr>
          <a:xfrm>
            <a:off x="4547572" y="2073291"/>
            <a:ext cx="5036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 smtClean="0"/>
              <a:t>C3</a:t>
            </a:r>
            <a:endParaRPr lang="fr-FR" sz="2400" dirty="0"/>
          </a:p>
        </p:txBody>
      </p:sp>
      <p:sp>
        <p:nvSpPr>
          <p:cNvPr id="11" name="Rectangle 10"/>
          <p:cNvSpPr/>
          <p:nvPr/>
        </p:nvSpPr>
        <p:spPr>
          <a:xfrm>
            <a:off x="6405248" y="2073291"/>
            <a:ext cx="5036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 smtClean="0"/>
              <a:t>C4</a:t>
            </a:r>
            <a:endParaRPr lang="fr-FR" sz="2400" dirty="0"/>
          </a:p>
        </p:txBody>
      </p:sp>
      <p:sp>
        <p:nvSpPr>
          <p:cNvPr id="12" name="Rectangle 11"/>
          <p:cNvSpPr/>
          <p:nvPr/>
        </p:nvSpPr>
        <p:spPr>
          <a:xfrm>
            <a:off x="8610600" y="2073291"/>
            <a:ext cx="5036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 smtClean="0"/>
              <a:t>C5</a:t>
            </a:r>
            <a:endParaRPr lang="fr-FR" sz="2400" dirty="0"/>
          </a:p>
        </p:txBody>
      </p:sp>
      <p:sp>
        <p:nvSpPr>
          <p:cNvPr id="13" name="Rectangle 12"/>
          <p:cNvSpPr/>
          <p:nvPr/>
        </p:nvSpPr>
        <p:spPr>
          <a:xfrm>
            <a:off x="10777144" y="2114357"/>
            <a:ext cx="5036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 smtClean="0"/>
              <a:t>C6</a:t>
            </a:r>
            <a:endParaRPr lang="fr-FR" sz="2400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1137823" y="5042118"/>
            <a:ext cx="1116847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TO DO: code </a:t>
            </a:r>
            <a:r>
              <a:rPr lang="fr-FR" sz="2800" dirty="0" err="1" smtClean="0"/>
              <a:t>assembly</a:t>
            </a:r>
            <a:r>
              <a:rPr lang="fr-FR" sz="2800" dirty="0" smtClean="0"/>
              <a:t> </a:t>
            </a:r>
            <a:r>
              <a:rPr lang="fr-FR" sz="2800" dirty="0" err="1" smtClean="0"/>
              <a:t>rules</a:t>
            </a:r>
            <a:r>
              <a:rPr lang="fr-FR" sz="2800" dirty="0" smtClean="0"/>
              <a:t> </a:t>
            </a:r>
            <a:r>
              <a:rPr lang="fr-FR" sz="2800" dirty="0" err="1" smtClean="0"/>
              <a:t>using</a:t>
            </a:r>
            <a:r>
              <a:rPr lang="fr-FR" sz="2800" dirty="0" smtClean="0"/>
              <a:t> translations </a:t>
            </a:r>
            <a:r>
              <a:rPr lang="fr-FR" sz="2800" dirty="0" err="1" smtClean="0"/>
              <a:t>along</a:t>
            </a:r>
            <a:r>
              <a:rPr lang="fr-FR" sz="2800" dirty="0" smtClean="0"/>
              <a:t> triangle </a:t>
            </a:r>
            <a:r>
              <a:rPr lang="fr-FR" sz="2800" dirty="0" err="1" smtClean="0"/>
              <a:t>edges</a:t>
            </a:r>
            <a:r>
              <a:rPr lang="fr-FR" sz="2800" dirty="0" smtClean="0"/>
              <a:t> !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Link </a:t>
            </a:r>
            <a:r>
              <a:rPr lang="fr-FR" sz="2800" dirty="0" err="1" smtClean="0"/>
              <a:t>between</a:t>
            </a:r>
            <a:r>
              <a:rPr lang="fr-FR" sz="2800" dirty="0" smtClean="0"/>
              <a:t> translations and relative ODD orientations ???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-&gt; </a:t>
            </a:r>
            <a:r>
              <a:rPr lang="fr-FR" sz="2800" dirty="0" err="1" smtClean="0"/>
              <a:t>combinatory</a:t>
            </a:r>
            <a:r>
              <a:rPr lang="fr-FR" sz="2800" dirty="0" smtClean="0"/>
              <a:t> </a:t>
            </a:r>
            <a:r>
              <a:rPr lang="fr-FR" sz="2800" dirty="0" err="1" smtClean="0"/>
              <a:t>properties</a:t>
            </a:r>
            <a:endParaRPr lang="fr-FR" sz="2800" dirty="0" smtClean="0"/>
          </a:p>
          <a:p>
            <a:endParaRPr lang="fr-FR" sz="2800" dirty="0" smtClean="0"/>
          </a:p>
        </p:txBody>
      </p:sp>
    </p:spTree>
    <p:extLst>
      <p:ext uri="{BB962C8B-B14F-4D97-AF65-F5344CB8AC3E}">
        <p14:creationId xmlns:p14="http://schemas.microsoft.com/office/powerpoint/2010/main" val="16530060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20</a:t>
            </a:fld>
            <a:endParaRPr lang="fr-FR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880" y="1399178"/>
            <a:ext cx="4529772" cy="4742224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585" y="1955800"/>
            <a:ext cx="4619789" cy="3811587"/>
          </a:xfrm>
          <a:prstGeom prst="rect">
            <a:avLst/>
          </a:prstGeom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Some combination of three clusters</a:t>
            </a:r>
            <a:endParaRPr lang="fr-FR" b="1" dirty="0">
              <a:solidFill>
                <a:srgbClr val="C853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67643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21</a:t>
            </a:fld>
            <a:endParaRPr lang="fr-FR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C1, C3 ,C5 triangle : 5 possible combinations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015" y="1437378"/>
            <a:ext cx="6273244" cy="4880943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7531127" y="2863691"/>
            <a:ext cx="424600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Possible </a:t>
            </a:r>
            <a:r>
              <a:rPr lang="fr-FR" sz="2800" dirty="0" err="1" smtClean="0"/>
              <a:t>seed</a:t>
            </a:r>
            <a:r>
              <a:rPr lang="fr-FR" sz="2800" dirty="0" smtClean="0"/>
              <a:t> for </a:t>
            </a:r>
            <a:r>
              <a:rPr lang="fr-FR" sz="2800" dirty="0" err="1" smtClean="0"/>
              <a:t>homochiral</a:t>
            </a:r>
            <a:r>
              <a:rPr lang="fr-FR" sz="2800" dirty="0" smtClean="0"/>
              <a:t> inflation ???</a:t>
            </a:r>
          </a:p>
          <a:p>
            <a:endParaRPr lang="fr-FR" sz="2800" dirty="0" smtClean="0"/>
          </a:p>
        </p:txBody>
      </p:sp>
    </p:spTree>
    <p:extLst>
      <p:ext uri="{BB962C8B-B14F-4D97-AF65-F5344CB8AC3E}">
        <p14:creationId xmlns:p14="http://schemas.microsoft.com/office/powerpoint/2010/main" val="29717881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22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Defect healing by keeping the black </a:t>
            </a:r>
            <a:r>
              <a:rPr lang="en-US" b="1" dirty="0" smtClean="0">
                <a:solidFill>
                  <a:srgbClr val="C85350"/>
                </a:solidFill>
              </a:rPr>
              <a:t>line when superposition with a green one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325" y="1655802"/>
            <a:ext cx="9535856" cy="4220164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951348" y="6061858"/>
            <a:ext cx="55581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err="1" smtClean="0"/>
              <a:t>Starting</a:t>
            </a:r>
            <a:r>
              <a:rPr lang="fr-FR" sz="2800" dirty="0" smtClean="0"/>
              <a:t> point for </a:t>
            </a:r>
            <a:r>
              <a:rPr lang="fr-FR" sz="2800" dirty="0" err="1" smtClean="0"/>
              <a:t>worms</a:t>
            </a:r>
            <a:r>
              <a:rPr lang="fr-FR" sz="2800" dirty="0" smtClean="0"/>
              <a:t> </a:t>
            </a:r>
            <a:r>
              <a:rPr lang="fr-FR" sz="2800" dirty="0" smtClean="0">
                <a:sym typeface="Wingdings" panose="05000000000000000000" pitchFamily="2" charset="2"/>
              </a:rPr>
              <a:t></a:t>
            </a:r>
            <a:endParaRPr lang="fr-FR" sz="2800" dirty="0" smtClean="0"/>
          </a:p>
          <a:p>
            <a:endParaRPr lang="fr-FR" sz="2800" dirty="0" smtClean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6509497" y="6014263"/>
            <a:ext cx="55581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err="1" smtClean="0"/>
              <a:t>After</a:t>
            </a:r>
            <a:r>
              <a:rPr lang="fr-FR" sz="2800" dirty="0" smtClean="0"/>
              <a:t> </a:t>
            </a:r>
            <a:r>
              <a:rPr lang="fr-FR" sz="2800" dirty="0" err="1" smtClean="0"/>
              <a:t>removing</a:t>
            </a:r>
            <a:r>
              <a:rPr lang="fr-FR" sz="2800" dirty="0" smtClean="0"/>
              <a:t> </a:t>
            </a:r>
            <a:r>
              <a:rPr lang="fr-FR" sz="2800" dirty="0" err="1" smtClean="0"/>
              <a:t>two</a:t>
            </a:r>
            <a:r>
              <a:rPr lang="fr-FR" sz="2800" dirty="0" smtClean="0"/>
              <a:t> </a:t>
            </a:r>
            <a:r>
              <a:rPr lang="fr-FR" sz="2800" dirty="0" err="1" smtClean="0"/>
              <a:t>inverted</a:t>
            </a:r>
            <a:r>
              <a:rPr lang="fr-FR" sz="2800" dirty="0" smtClean="0"/>
              <a:t> </a:t>
            </a:r>
            <a:r>
              <a:rPr lang="fr-FR" sz="2800" dirty="0" err="1" smtClean="0"/>
              <a:t>tiles</a:t>
            </a:r>
            <a:endParaRPr lang="fr-FR" sz="2800" dirty="0" smtClean="0"/>
          </a:p>
          <a:p>
            <a:endParaRPr lang="fr-FR" sz="2800" dirty="0" smtClean="0"/>
          </a:p>
        </p:txBody>
      </p:sp>
    </p:spTree>
    <p:extLst>
      <p:ext uri="{BB962C8B-B14F-4D97-AF65-F5344CB8AC3E}">
        <p14:creationId xmlns:p14="http://schemas.microsoft.com/office/powerpoint/2010/main" val="20807822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23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Defect </a:t>
            </a:r>
            <a:r>
              <a:rPr lang="en-US" b="1" dirty="0" smtClean="0">
                <a:solidFill>
                  <a:srgbClr val="C85350"/>
                </a:solidFill>
              </a:rPr>
              <a:t>healing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91" y="1570221"/>
            <a:ext cx="5630509" cy="4235122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1680" y="1460010"/>
            <a:ext cx="5779293" cy="4345333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951348" y="6061858"/>
            <a:ext cx="55581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err="1" smtClean="0"/>
              <a:t>Starting</a:t>
            </a:r>
            <a:r>
              <a:rPr lang="fr-FR" sz="2800" dirty="0" smtClean="0"/>
              <a:t> point for </a:t>
            </a:r>
            <a:r>
              <a:rPr lang="fr-FR" sz="2800" dirty="0" err="1" smtClean="0"/>
              <a:t>worms</a:t>
            </a:r>
            <a:r>
              <a:rPr lang="fr-FR" sz="2800" dirty="0" smtClean="0"/>
              <a:t> </a:t>
            </a:r>
            <a:r>
              <a:rPr lang="fr-FR" sz="2800" dirty="0" smtClean="0">
                <a:sym typeface="Wingdings" panose="05000000000000000000" pitchFamily="2" charset="2"/>
              </a:rPr>
              <a:t></a:t>
            </a:r>
            <a:endParaRPr lang="fr-FR" sz="2800" dirty="0" smtClean="0"/>
          </a:p>
          <a:p>
            <a:endParaRPr lang="fr-FR" sz="2800" dirty="0" smtClean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6509497" y="6014263"/>
            <a:ext cx="55581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err="1" smtClean="0"/>
              <a:t>After</a:t>
            </a:r>
            <a:r>
              <a:rPr lang="fr-FR" sz="2800" dirty="0" smtClean="0"/>
              <a:t> </a:t>
            </a:r>
            <a:r>
              <a:rPr lang="fr-FR" sz="2800" dirty="0" err="1" smtClean="0"/>
              <a:t>removing</a:t>
            </a:r>
            <a:r>
              <a:rPr lang="fr-FR" sz="2800" dirty="0" smtClean="0"/>
              <a:t> </a:t>
            </a:r>
            <a:r>
              <a:rPr lang="fr-FR" sz="2800" dirty="0" err="1" smtClean="0"/>
              <a:t>two</a:t>
            </a:r>
            <a:r>
              <a:rPr lang="fr-FR" sz="2800" dirty="0" smtClean="0"/>
              <a:t> </a:t>
            </a:r>
            <a:r>
              <a:rPr lang="fr-FR" sz="2800" dirty="0" err="1" smtClean="0"/>
              <a:t>inverted</a:t>
            </a:r>
            <a:r>
              <a:rPr lang="fr-FR" sz="2800" dirty="0" smtClean="0"/>
              <a:t> </a:t>
            </a:r>
            <a:r>
              <a:rPr lang="fr-FR" sz="2800" dirty="0" err="1" smtClean="0"/>
              <a:t>tiles</a:t>
            </a:r>
            <a:endParaRPr lang="fr-FR" sz="2800" dirty="0" smtClean="0"/>
          </a:p>
          <a:p>
            <a:endParaRPr lang="fr-FR" sz="2800" dirty="0" smtClean="0"/>
          </a:p>
        </p:txBody>
      </p:sp>
    </p:spTree>
    <p:extLst>
      <p:ext uri="{BB962C8B-B14F-4D97-AF65-F5344CB8AC3E}">
        <p14:creationId xmlns:p14="http://schemas.microsoft.com/office/powerpoint/2010/main" val="26085893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24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Defect </a:t>
            </a:r>
            <a:r>
              <a:rPr lang="en-US" b="1" dirty="0" smtClean="0">
                <a:solidFill>
                  <a:srgbClr val="C85350"/>
                </a:solidFill>
              </a:rPr>
              <a:t>healing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951348" y="6061858"/>
            <a:ext cx="55581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err="1" smtClean="0"/>
              <a:t>Starting</a:t>
            </a:r>
            <a:r>
              <a:rPr lang="fr-FR" sz="2800" dirty="0" smtClean="0"/>
              <a:t> point for </a:t>
            </a:r>
            <a:r>
              <a:rPr lang="fr-FR" sz="2800" dirty="0" err="1" smtClean="0"/>
              <a:t>worms</a:t>
            </a:r>
            <a:r>
              <a:rPr lang="fr-FR" sz="2800" dirty="0" smtClean="0"/>
              <a:t> </a:t>
            </a:r>
            <a:r>
              <a:rPr lang="fr-FR" sz="2800" dirty="0" smtClean="0">
                <a:sym typeface="Wingdings" panose="05000000000000000000" pitchFamily="2" charset="2"/>
              </a:rPr>
              <a:t></a:t>
            </a:r>
            <a:endParaRPr lang="fr-FR" sz="2800" dirty="0" smtClean="0"/>
          </a:p>
          <a:p>
            <a:endParaRPr lang="fr-FR" sz="2800" dirty="0" smtClean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293" y="1313707"/>
            <a:ext cx="4675770" cy="4510527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497" y="1361301"/>
            <a:ext cx="4901886" cy="4652962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6509497" y="6014263"/>
            <a:ext cx="55581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err="1" smtClean="0"/>
              <a:t>After</a:t>
            </a:r>
            <a:r>
              <a:rPr lang="fr-FR" sz="2800" dirty="0" smtClean="0"/>
              <a:t> </a:t>
            </a:r>
            <a:r>
              <a:rPr lang="fr-FR" sz="2800" dirty="0" err="1" smtClean="0"/>
              <a:t>removing</a:t>
            </a:r>
            <a:r>
              <a:rPr lang="fr-FR" sz="2800" dirty="0" smtClean="0"/>
              <a:t> </a:t>
            </a:r>
            <a:r>
              <a:rPr lang="fr-FR" sz="2800" dirty="0" err="1" smtClean="0"/>
              <a:t>two</a:t>
            </a:r>
            <a:r>
              <a:rPr lang="fr-FR" sz="2800" dirty="0" smtClean="0"/>
              <a:t> </a:t>
            </a:r>
            <a:r>
              <a:rPr lang="fr-FR" sz="2800" dirty="0" err="1" smtClean="0"/>
              <a:t>inverted</a:t>
            </a:r>
            <a:r>
              <a:rPr lang="fr-FR" sz="2800" dirty="0" smtClean="0"/>
              <a:t> </a:t>
            </a:r>
            <a:r>
              <a:rPr lang="fr-FR" sz="2800" dirty="0" err="1" smtClean="0"/>
              <a:t>tiles</a:t>
            </a:r>
            <a:endParaRPr lang="fr-FR" sz="2800" dirty="0" smtClean="0"/>
          </a:p>
          <a:p>
            <a:endParaRPr lang="fr-FR" sz="2800" dirty="0" smtClean="0"/>
          </a:p>
        </p:txBody>
      </p:sp>
    </p:spTree>
    <p:extLst>
      <p:ext uri="{BB962C8B-B14F-4D97-AF65-F5344CB8AC3E}">
        <p14:creationId xmlns:p14="http://schemas.microsoft.com/office/powerpoint/2010/main" val="134798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25</a:t>
            </a:fld>
            <a:endParaRPr lang="fr-FR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350" y="1037419"/>
            <a:ext cx="5715000" cy="494959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45435" y="6169580"/>
            <a:ext cx="11875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CMR10"/>
              </a:rPr>
              <a:t>Chéritat</a:t>
            </a:r>
            <a:r>
              <a:rPr lang="en-US" dirty="0">
                <a:latin typeface="CMR10"/>
              </a:rPr>
              <a:t>, A., (2024). Observations on the hex clusters of the </a:t>
            </a:r>
            <a:r>
              <a:rPr lang="en-US" dirty="0" err="1">
                <a:latin typeface="CMR10"/>
              </a:rPr>
              <a:t>spectre</a:t>
            </a:r>
            <a:r>
              <a:rPr lang="en-US" dirty="0">
                <a:latin typeface="CMR10"/>
              </a:rPr>
              <a:t> </a:t>
            </a:r>
            <a:r>
              <a:rPr lang="en-US" dirty="0" err="1">
                <a:latin typeface="CMR10"/>
              </a:rPr>
              <a:t>tilings</a:t>
            </a:r>
            <a:r>
              <a:rPr lang="en-US" dirty="0">
                <a:latin typeface="CMR10"/>
              </a:rPr>
              <a:t>. </a:t>
            </a:r>
            <a:r>
              <a:rPr lang="fr-FR" dirty="0">
                <a:latin typeface="CMR10"/>
                <a:hlinkClick r:id="rId3"/>
              </a:rPr>
              <a:t>https://arxiv.org/abs/2407.05359</a:t>
            </a:r>
            <a:endParaRPr lang="fr-FR" dirty="0">
              <a:latin typeface="CMR10"/>
            </a:endParaRPr>
          </a:p>
        </p:txBody>
      </p:sp>
      <p:sp>
        <p:nvSpPr>
          <p:cNvPr id="15" name="Titre 1">
            <a:extLst>
              <a:ext uri="{FF2B5EF4-FFF2-40B4-BE49-F238E27FC236}">
                <a16:creationId xmlns:a16="http://schemas.microsoft.com/office/drawing/2014/main" id="{051A3091-2EA5-465A-A4C4-48DDA269330D}"/>
              </a:ext>
            </a:extLst>
          </p:cNvPr>
          <p:cNvSpPr txBox="1">
            <a:spLocks/>
          </p:cNvSpPr>
          <p:nvPr/>
        </p:nvSpPr>
        <p:spPr>
          <a:xfrm>
            <a:off x="7770824" y="3059698"/>
            <a:ext cx="4676752" cy="60679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b="1" dirty="0" err="1">
                <a:solidFill>
                  <a:srgbClr val="FF0000"/>
                </a:solidFill>
              </a:rPr>
              <a:t>Combinatorial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err="1">
                <a:solidFill>
                  <a:srgbClr val="FF0000"/>
                </a:solidFill>
              </a:rPr>
              <a:t>properties</a:t>
            </a:r>
            <a:endParaRPr lang="fr-FR" sz="3200" b="1" dirty="0">
              <a:solidFill>
                <a:srgbClr val="FF0000"/>
              </a:solidFill>
            </a:endParaRPr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Types of hexagonal clusters</a:t>
            </a:r>
            <a:endParaRPr lang="fr-FR" b="1" dirty="0">
              <a:solidFill>
                <a:srgbClr val="C853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71392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26</a:t>
            </a:fld>
            <a:endParaRPr lang="fr-FR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7644" y="890812"/>
            <a:ext cx="5715000" cy="494959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45435" y="6169580"/>
            <a:ext cx="11875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CMR10"/>
              </a:rPr>
              <a:t>Chéritat</a:t>
            </a:r>
            <a:r>
              <a:rPr lang="en-US" dirty="0">
                <a:latin typeface="CMR10"/>
              </a:rPr>
              <a:t>, A., (2024). Observations on the hex clusters of the </a:t>
            </a:r>
            <a:r>
              <a:rPr lang="en-US" dirty="0" err="1">
                <a:latin typeface="CMR10"/>
              </a:rPr>
              <a:t>spectre</a:t>
            </a:r>
            <a:r>
              <a:rPr lang="en-US" dirty="0">
                <a:latin typeface="CMR10"/>
              </a:rPr>
              <a:t> </a:t>
            </a:r>
            <a:r>
              <a:rPr lang="en-US" dirty="0" err="1">
                <a:latin typeface="CMR10"/>
              </a:rPr>
              <a:t>tilings</a:t>
            </a:r>
            <a:r>
              <a:rPr lang="en-US" dirty="0">
                <a:latin typeface="CMR10"/>
              </a:rPr>
              <a:t>. </a:t>
            </a:r>
            <a:r>
              <a:rPr lang="fr-FR" dirty="0">
                <a:latin typeface="CMR10"/>
                <a:hlinkClick r:id="rId3"/>
              </a:rPr>
              <a:t>https://arxiv.org/abs/2407.05359</a:t>
            </a:r>
            <a:endParaRPr lang="fr-FR" dirty="0">
              <a:latin typeface="CMR10"/>
            </a:endParaRPr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Find equivalence with the hexagonal clusters ?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1481605" flipH="1">
            <a:off x="776961" y="3023274"/>
            <a:ext cx="2168926" cy="2270650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419462" flipV="1">
            <a:off x="3346257" y="3074649"/>
            <a:ext cx="2627578" cy="2167900"/>
          </a:xfrm>
          <a:prstGeom prst="rect">
            <a:avLst/>
          </a:prstGeom>
        </p:spPr>
      </p:pic>
      <p:sp>
        <p:nvSpPr>
          <p:cNvPr id="4" name="Rectangle à coins arrondis 3"/>
          <p:cNvSpPr/>
          <p:nvPr/>
        </p:nvSpPr>
        <p:spPr>
          <a:xfrm>
            <a:off x="6247644" y="2406316"/>
            <a:ext cx="1962705" cy="3686476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5608686" y="2539517"/>
            <a:ext cx="3754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 smtClean="0"/>
              <a:t>?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5941647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27</a:t>
            </a:fld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Further ideas …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C1DF85E-AE3C-4141-B8E3-32FC0D949336}"/>
              </a:ext>
            </a:extLst>
          </p:cNvPr>
          <p:cNvSpPr txBox="1"/>
          <p:nvPr/>
        </p:nvSpPr>
        <p:spPr>
          <a:xfrm>
            <a:off x="850948" y="1574056"/>
            <a:ext cx="1033586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Use cluster </a:t>
            </a:r>
            <a:r>
              <a:rPr lang="fr-FR" sz="2800" dirty="0" err="1" smtClean="0"/>
              <a:t>level</a:t>
            </a:r>
            <a:r>
              <a:rPr lang="fr-FR" sz="2800" dirty="0" smtClean="0"/>
              <a:t>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For rotation part: CODE the </a:t>
            </a:r>
            <a:r>
              <a:rPr lang="fr-FR" sz="2800" dirty="0" err="1" smtClean="0"/>
              <a:t>sequence</a:t>
            </a:r>
            <a:r>
              <a:rPr lang="fr-FR" sz="2800" dirty="0" smtClean="0"/>
              <a:t> of the six rotations in the C cluster to </a:t>
            </a:r>
            <a:r>
              <a:rPr lang="fr-FR" sz="2800" dirty="0" err="1" smtClean="0"/>
              <a:t>be</a:t>
            </a:r>
            <a:r>
              <a:rPr lang="fr-FR" sz="2800" dirty="0" smtClean="0"/>
              <a:t> </a:t>
            </a:r>
            <a:r>
              <a:rPr lang="fr-FR" sz="2800" dirty="0" err="1" smtClean="0"/>
              <a:t>repeated</a:t>
            </a:r>
            <a:r>
              <a:rPr lang="fr-FR" sz="2800" dirty="0" smtClean="0"/>
              <a:t> at </a:t>
            </a:r>
            <a:r>
              <a:rPr lang="fr-FR" sz="2800" dirty="0" err="1" smtClean="0"/>
              <a:t>larger</a:t>
            </a:r>
            <a:r>
              <a:rPr lang="fr-FR" sz="2800" dirty="0" smtClean="0"/>
              <a:t> </a:t>
            </a:r>
            <a:r>
              <a:rPr lang="fr-FR" sz="2800" dirty="0" err="1" smtClean="0"/>
              <a:t>length</a:t>
            </a:r>
            <a:r>
              <a:rPr lang="fr-FR" sz="2800" dirty="0" smtClean="0"/>
              <a:t> </a:t>
            </a:r>
            <a:r>
              <a:rPr lang="fr-FR" sz="2800" dirty="0" err="1" smtClean="0"/>
              <a:t>scales</a:t>
            </a:r>
            <a:endParaRPr lang="fr-FR" sz="2800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For translation part: use the </a:t>
            </a:r>
            <a:r>
              <a:rPr lang="fr-FR" sz="2800" dirty="0" err="1" smtClean="0"/>
              <a:t>duplicated</a:t>
            </a:r>
            <a:r>
              <a:rPr lang="fr-FR" sz="2800" dirty="0" smtClean="0"/>
              <a:t> </a:t>
            </a:r>
            <a:r>
              <a:rPr lang="fr-FR" sz="2800" dirty="0" err="1" smtClean="0"/>
              <a:t>tiles</a:t>
            </a:r>
            <a:r>
              <a:rPr lang="fr-FR" sz="2800" dirty="0" smtClean="0"/>
              <a:t> </a:t>
            </a:r>
            <a:r>
              <a:rPr lang="fr-FR" sz="2800" dirty="0" err="1" smtClean="0"/>
              <a:t>along</a:t>
            </a:r>
            <a:r>
              <a:rPr lang="fr-FR" sz="2800" dirty="0" smtClean="0"/>
              <a:t> the </a:t>
            </a:r>
            <a:r>
              <a:rPr lang="fr-FR" sz="2800" dirty="0" err="1" smtClean="0"/>
              <a:t>reference</a:t>
            </a:r>
            <a:r>
              <a:rPr lang="fr-FR" sz="2800" dirty="0" smtClean="0"/>
              <a:t> triangles and the </a:t>
            </a:r>
            <a:r>
              <a:rPr lang="fr-FR" sz="2800" dirty="0" err="1" smtClean="0"/>
              <a:t>inverted</a:t>
            </a:r>
            <a:r>
              <a:rPr lang="fr-FR" sz="2800" dirty="0" smtClean="0"/>
              <a:t> </a:t>
            </a:r>
            <a:r>
              <a:rPr lang="fr-FR" sz="2800" dirty="0" err="1" smtClean="0"/>
              <a:t>tiles</a:t>
            </a:r>
            <a:r>
              <a:rPr lang="fr-FR" sz="2800" dirty="0" smtClean="0"/>
              <a:t> </a:t>
            </a:r>
            <a:r>
              <a:rPr lang="fr-FR" sz="2800" dirty="0" err="1" smtClean="0"/>
              <a:t>around</a:t>
            </a:r>
            <a:r>
              <a:rPr lang="fr-FR" sz="2800" dirty="0" smtClean="0"/>
              <a:t> the </a:t>
            </a:r>
            <a:r>
              <a:rPr lang="fr-FR" sz="2800" dirty="0" err="1" smtClean="0"/>
              <a:t>three</a:t>
            </a:r>
            <a:r>
              <a:rPr lang="fr-FR" sz="2800" dirty="0" smtClean="0"/>
              <a:t> green points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err="1" smtClean="0"/>
              <a:t>Hypothesis</a:t>
            </a:r>
            <a:r>
              <a:rPr lang="fr-FR" sz="2800" dirty="0" smtClean="0"/>
              <a:t>: </a:t>
            </a:r>
            <a:r>
              <a:rPr lang="fr-FR" sz="2800" dirty="0" err="1" smtClean="0"/>
              <a:t>rule</a:t>
            </a:r>
            <a:r>
              <a:rPr lang="fr-FR" sz="2800" dirty="0" smtClean="0"/>
              <a:t> </a:t>
            </a:r>
            <a:r>
              <a:rPr lang="fr-FR" sz="2800" dirty="0" err="1" smtClean="0"/>
              <a:t>is</a:t>
            </a:r>
            <a:r>
              <a:rPr lang="fr-FR" sz="2800" dirty="0" smtClean="0"/>
              <a:t> </a:t>
            </a:r>
            <a:r>
              <a:rPr lang="fr-FR" sz="2800" dirty="0" err="1" smtClean="0"/>
              <a:t>that</a:t>
            </a:r>
            <a:r>
              <a:rPr lang="fr-FR" sz="2800" dirty="0" smtClean="0"/>
              <a:t> </a:t>
            </a:r>
            <a:r>
              <a:rPr lang="fr-FR" sz="2800" dirty="0" err="1" smtClean="0"/>
              <a:t>when</a:t>
            </a:r>
            <a:r>
              <a:rPr lang="fr-FR" sz="2800" dirty="0" smtClean="0"/>
              <a:t> </a:t>
            </a:r>
            <a:r>
              <a:rPr lang="fr-FR" sz="2800" dirty="0" err="1" smtClean="0"/>
              <a:t>two</a:t>
            </a:r>
            <a:r>
              <a:rPr lang="fr-FR" sz="2800" dirty="0" smtClean="0"/>
              <a:t> </a:t>
            </a:r>
            <a:r>
              <a:rPr lang="fr-FR" sz="2800" dirty="0" err="1" smtClean="0"/>
              <a:t>duplicated</a:t>
            </a:r>
            <a:r>
              <a:rPr lang="fr-FR" sz="2800" dirty="0" smtClean="0"/>
              <a:t> </a:t>
            </a:r>
            <a:r>
              <a:rPr lang="fr-FR" sz="2800" dirty="0" err="1" smtClean="0"/>
              <a:t>tiles</a:t>
            </a:r>
            <a:r>
              <a:rPr lang="fr-FR" sz="2800" dirty="0" smtClean="0"/>
              <a:t> </a:t>
            </a:r>
            <a:r>
              <a:rPr lang="fr-FR" sz="2800" dirty="0" err="1" smtClean="0"/>
              <a:t>superimposed</a:t>
            </a:r>
            <a:r>
              <a:rPr lang="fr-FR" sz="2800" dirty="0" smtClean="0"/>
              <a:t> </a:t>
            </a:r>
            <a:r>
              <a:rPr lang="fr-FR" sz="2800" dirty="0" err="1" smtClean="0"/>
              <a:t>with</a:t>
            </a:r>
            <a:r>
              <a:rPr lang="fr-FR" sz="2800" dirty="0" smtClean="0"/>
              <a:t> </a:t>
            </a:r>
            <a:r>
              <a:rPr lang="fr-FR" sz="2800" dirty="0" err="1" smtClean="0"/>
              <a:t>two</a:t>
            </a:r>
            <a:r>
              <a:rPr lang="fr-FR" sz="2800" dirty="0" smtClean="0"/>
              <a:t> </a:t>
            </a:r>
            <a:r>
              <a:rPr lang="fr-FR" sz="2800" dirty="0" err="1" smtClean="0"/>
              <a:t>inverted</a:t>
            </a:r>
            <a:r>
              <a:rPr lang="fr-FR" sz="2800" dirty="0" smtClean="0"/>
              <a:t> </a:t>
            </a:r>
            <a:r>
              <a:rPr lang="fr-FR" sz="2800" dirty="0" err="1" smtClean="0"/>
              <a:t>tiles</a:t>
            </a:r>
            <a:r>
              <a:rPr lang="fr-FR" sz="2800" dirty="0" smtClean="0"/>
              <a:t> at a green point, one </a:t>
            </a:r>
            <a:r>
              <a:rPr lang="fr-FR" sz="2800" dirty="0" err="1" smtClean="0"/>
              <a:t>inverted</a:t>
            </a:r>
            <a:r>
              <a:rPr lang="fr-FR" sz="2800" dirty="0" smtClean="0"/>
              <a:t> </a:t>
            </a:r>
            <a:r>
              <a:rPr lang="fr-FR" sz="2800" dirty="0" err="1" smtClean="0"/>
              <a:t>tile</a:t>
            </a:r>
            <a:r>
              <a:rPr lang="fr-FR" sz="2800" dirty="0" smtClean="0"/>
              <a:t> </a:t>
            </a:r>
            <a:r>
              <a:rPr lang="fr-FR" sz="2800" dirty="0" err="1" smtClean="0"/>
              <a:t>is</a:t>
            </a:r>
            <a:r>
              <a:rPr lang="fr-FR" sz="2800" dirty="0" smtClean="0"/>
              <a:t> </a:t>
            </a:r>
            <a:r>
              <a:rPr lang="fr-FR" sz="2800" dirty="0" err="1" smtClean="0"/>
              <a:t>omitted</a:t>
            </a:r>
            <a:endParaRPr lang="fr-FR" sz="2800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/>
              <a:t>Use the green points to assemble the clusters ???</a:t>
            </a:r>
          </a:p>
          <a:p>
            <a:endParaRPr lang="fr-FR" sz="2800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 smtClean="0"/>
          </a:p>
        </p:txBody>
      </p:sp>
    </p:spTree>
    <p:extLst>
      <p:ext uri="{BB962C8B-B14F-4D97-AF65-F5344CB8AC3E}">
        <p14:creationId xmlns:p14="http://schemas.microsoft.com/office/powerpoint/2010/main" val="35864045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28</a:t>
            </a:fld>
            <a:endParaRPr lang="fr-FR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1966" y="2411499"/>
            <a:ext cx="2237845" cy="2983793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C85350"/>
                </a:solidFill>
              </a:rPr>
              <a:t>Add the full cluster at this level </a:t>
            </a:r>
            <a:r>
              <a:rPr lang="en-US" b="1" dirty="0" smtClean="0">
                <a:solidFill>
                  <a:srgbClr val="C85350"/>
                </a:solidFill>
                <a:sym typeface="Wingdings" panose="05000000000000000000" pitchFamily="2" charset="2"/>
              </a:rPr>
              <a:t>???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5" name="Triangle isocèle 4"/>
          <p:cNvSpPr/>
          <p:nvPr/>
        </p:nvSpPr>
        <p:spPr>
          <a:xfrm rot="16200000" flipH="1">
            <a:off x="7192463" y="3761259"/>
            <a:ext cx="972152" cy="856649"/>
          </a:xfrm>
          <a:prstGeom prst="triangle">
            <a:avLst/>
          </a:prstGeom>
          <a:noFill/>
          <a:ln w="444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riangle isocèle 5"/>
          <p:cNvSpPr/>
          <p:nvPr/>
        </p:nvSpPr>
        <p:spPr>
          <a:xfrm rot="16200000" flipH="1">
            <a:off x="8973136" y="3761259"/>
            <a:ext cx="972152" cy="856649"/>
          </a:xfrm>
          <a:prstGeom prst="triangle">
            <a:avLst/>
          </a:prstGeom>
          <a:noFill/>
          <a:ln w="444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riangle isocèle 6"/>
          <p:cNvSpPr/>
          <p:nvPr/>
        </p:nvSpPr>
        <p:spPr>
          <a:xfrm rot="16200000" flipH="1">
            <a:off x="8116488" y="2211590"/>
            <a:ext cx="972152" cy="856649"/>
          </a:xfrm>
          <a:prstGeom prst="triangle">
            <a:avLst/>
          </a:prstGeom>
          <a:noFill/>
          <a:ln w="444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1167" y="2153838"/>
            <a:ext cx="2237845" cy="2983793"/>
          </a:xfrm>
          <a:prstGeom prst="rect">
            <a:avLst/>
          </a:prstGeom>
        </p:spPr>
      </p:pic>
      <p:sp>
        <p:nvSpPr>
          <p:cNvPr id="9" name="Ellipse 8"/>
          <p:cNvSpPr/>
          <p:nvPr/>
        </p:nvSpPr>
        <p:spPr>
          <a:xfrm>
            <a:off x="8804693" y="1939861"/>
            <a:ext cx="452388" cy="471638"/>
          </a:xfrm>
          <a:prstGeom prst="ellipse">
            <a:avLst/>
          </a:prstGeom>
          <a:solidFill>
            <a:srgbClr val="A7FFC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/>
          <p:cNvSpPr/>
          <p:nvPr/>
        </p:nvSpPr>
        <p:spPr>
          <a:xfrm>
            <a:off x="9697423" y="4461683"/>
            <a:ext cx="452388" cy="471638"/>
          </a:xfrm>
          <a:prstGeom prst="ellipse">
            <a:avLst/>
          </a:prstGeom>
          <a:solidFill>
            <a:srgbClr val="A7FFC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/>
          <p:cNvSpPr/>
          <p:nvPr/>
        </p:nvSpPr>
        <p:spPr>
          <a:xfrm>
            <a:off x="7037248" y="3953764"/>
            <a:ext cx="452388" cy="471638"/>
          </a:xfrm>
          <a:prstGeom prst="ellipse">
            <a:avLst/>
          </a:prstGeom>
          <a:solidFill>
            <a:srgbClr val="A7FFC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Triangle isocèle 11"/>
          <p:cNvSpPr/>
          <p:nvPr/>
        </p:nvSpPr>
        <p:spPr>
          <a:xfrm rot="16200000" flipH="1">
            <a:off x="7205691" y="2731334"/>
            <a:ext cx="972152" cy="856649"/>
          </a:xfrm>
          <a:prstGeom prst="triangle">
            <a:avLst/>
          </a:prstGeom>
          <a:noFill/>
          <a:ln w="444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Ellipse 12"/>
          <p:cNvSpPr/>
          <p:nvPr/>
        </p:nvSpPr>
        <p:spPr>
          <a:xfrm>
            <a:off x="7024020" y="2916829"/>
            <a:ext cx="452388" cy="471638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ZoneTexte 14"/>
          <p:cNvSpPr txBox="1"/>
          <p:nvPr/>
        </p:nvSpPr>
        <p:spPr>
          <a:xfrm>
            <a:off x="7050884" y="2977211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C1</a:t>
            </a:r>
            <a:endParaRPr lang="fr-FR" dirty="0"/>
          </a:p>
        </p:txBody>
      </p:sp>
      <p:sp>
        <p:nvSpPr>
          <p:cNvPr id="16" name="ZoneTexte 15"/>
          <p:cNvSpPr txBox="1"/>
          <p:nvPr/>
        </p:nvSpPr>
        <p:spPr>
          <a:xfrm>
            <a:off x="7037656" y="3996533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C4</a:t>
            </a:r>
            <a:endParaRPr lang="fr-FR" dirty="0"/>
          </a:p>
        </p:txBody>
      </p:sp>
      <p:sp>
        <p:nvSpPr>
          <p:cNvPr id="17" name="ZoneTexte 16"/>
          <p:cNvSpPr txBox="1"/>
          <p:nvPr/>
        </p:nvSpPr>
        <p:spPr>
          <a:xfrm>
            <a:off x="9711059" y="4512836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C3</a:t>
            </a:r>
            <a:endParaRPr lang="fr-FR" dirty="0"/>
          </a:p>
        </p:txBody>
      </p:sp>
      <p:sp>
        <p:nvSpPr>
          <p:cNvPr id="18" name="ZoneTexte 17"/>
          <p:cNvSpPr txBox="1"/>
          <p:nvPr/>
        </p:nvSpPr>
        <p:spPr>
          <a:xfrm>
            <a:off x="8831965" y="1969172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C6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585457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29</a:t>
            </a:fld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9" y="1952996"/>
            <a:ext cx="4049395" cy="3980761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1658" y="2165326"/>
            <a:ext cx="4056258" cy="387781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5516" y="2062809"/>
            <a:ext cx="3864084" cy="3761133"/>
          </a:xfrm>
          <a:prstGeom prst="rect">
            <a:avLst/>
          </a:prstGeom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Triangles inside a full cluster</a:t>
            </a:r>
            <a:endParaRPr lang="fr-FR" b="1" dirty="0">
              <a:solidFill>
                <a:srgbClr val="C853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0770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30</a:t>
            </a:fld>
            <a:endParaRPr lang="fr-FR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0" y="1840547"/>
            <a:ext cx="7581900" cy="4010025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6354517" y="2137888"/>
            <a:ext cx="3482501" cy="3495742"/>
          </a:xfrm>
          <a:prstGeom prst="rect">
            <a:avLst/>
          </a:prstGeom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Identification of junction lines</a:t>
            </a:r>
            <a:endParaRPr lang="fr-FR" b="1" dirty="0">
              <a:solidFill>
                <a:srgbClr val="C853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82548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31</a:t>
            </a:fld>
            <a:endParaRPr lang="fr-FR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0" y="1880746"/>
            <a:ext cx="7581900" cy="4010025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6354517" y="2137888"/>
            <a:ext cx="3482501" cy="3495742"/>
          </a:xfrm>
          <a:prstGeom prst="rect">
            <a:avLst/>
          </a:prstGeom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Sequence of rotations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3937446" y="3885758"/>
            <a:ext cx="2551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0</a:t>
            </a:r>
            <a:endParaRPr lang="fr-FR" sz="1050" dirty="0"/>
          </a:p>
        </p:txBody>
      </p:sp>
      <p:sp>
        <p:nvSpPr>
          <p:cNvPr id="10" name="ZoneTexte 9"/>
          <p:cNvSpPr txBox="1"/>
          <p:nvPr/>
        </p:nvSpPr>
        <p:spPr>
          <a:xfrm>
            <a:off x="4425422" y="3555248"/>
            <a:ext cx="63991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p</a:t>
            </a:r>
            <a:r>
              <a:rPr lang="fr-FR" sz="1050" dirty="0"/>
              <a:t>/6+</a:t>
            </a:r>
            <a:r>
              <a:rPr lang="fr-FR" sz="1050" dirty="0">
                <a:latin typeface="Symbol" panose="05050102010706020507" pitchFamily="18" charset="2"/>
              </a:rPr>
              <a:t>p</a:t>
            </a:r>
            <a:r>
              <a:rPr lang="fr-FR" sz="1050" dirty="0"/>
              <a:t>/3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4248248" y="4348468"/>
            <a:ext cx="4523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-p</a:t>
            </a:r>
            <a:r>
              <a:rPr lang="fr-FR" sz="1050" dirty="0"/>
              <a:t>/6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3454374" y="4475426"/>
            <a:ext cx="4523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-p</a:t>
            </a:r>
            <a:r>
              <a:rPr lang="fr-FR" sz="1050" dirty="0"/>
              <a:t>/2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3265059" y="3615890"/>
            <a:ext cx="3786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p</a:t>
            </a:r>
            <a:r>
              <a:rPr lang="fr-FR" sz="1050" dirty="0"/>
              <a:t>/6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4082064" y="4969328"/>
            <a:ext cx="4523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-p</a:t>
            </a:r>
            <a:r>
              <a:rPr lang="fr-FR" sz="1050" dirty="0"/>
              <a:t>/6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2813124" y="3193037"/>
            <a:ext cx="3786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p</a:t>
            </a:r>
            <a:r>
              <a:rPr lang="fr-FR" sz="1050" dirty="0"/>
              <a:t>/6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4404010" y="2469941"/>
            <a:ext cx="4523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-p</a:t>
            </a:r>
            <a:r>
              <a:rPr lang="fr-FR" sz="1050" dirty="0"/>
              <a:t>/6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4980077" y="4092835"/>
            <a:ext cx="3786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p</a:t>
            </a:r>
            <a:r>
              <a:rPr lang="fr-FR" sz="1050" dirty="0"/>
              <a:t>/6</a:t>
            </a:r>
          </a:p>
        </p:txBody>
      </p:sp>
      <p:sp>
        <p:nvSpPr>
          <p:cNvPr id="19" name="ZoneTexte 18"/>
          <p:cNvSpPr txBox="1"/>
          <p:nvPr/>
        </p:nvSpPr>
        <p:spPr>
          <a:xfrm>
            <a:off x="5169392" y="4864845"/>
            <a:ext cx="51969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p</a:t>
            </a:r>
            <a:r>
              <a:rPr lang="fr-FR" sz="1050" dirty="0"/>
              <a:t>/6+</a:t>
            </a:r>
            <a:r>
              <a:rPr lang="fr-FR" sz="1050" dirty="0">
                <a:latin typeface="Symbol" panose="05050102010706020507" pitchFamily="18" charset="2"/>
              </a:rPr>
              <a:t>p</a:t>
            </a:r>
            <a:endParaRPr lang="fr-FR" sz="1050" dirty="0"/>
          </a:p>
        </p:txBody>
      </p:sp>
      <p:sp>
        <p:nvSpPr>
          <p:cNvPr id="20" name="ZoneTexte 19"/>
          <p:cNvSpPr txBox="1"/>
          <p:nvPr/>
        </p:nvSpPr>
        <p:spPr>
          <a:xfrm>
            <a:off x="5040460" y="3387374"/>
            <a:ext cx="63991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p</a:t>
            </a:r>
            <a:r>
              <a:rPr lang="fr-FR" sz="1050" dirty="0"/>
              <a:t>/6+</a:t>
            </a:r>
            <a:r>
              <a:rPr lang="fr-FR" sz="1050" dirty="0">
                <a:latin typeface="Symbol" panose="05050102010706020507" pitchFamily="18" charset="2"/>
              </a:rPr>
              <a:t>p</a:t>
            </a:r>
            <a:r>
              <a:rPr lang="fr-FR" sz="1050" dirty="0"/>
              <a:t>/3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3710621" y="2933123"/>
            <a:ext cx="7088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p</a:t>
            </a:r>
            <a:r>
              <a:rPr lang="fr-FR" sz="1050" dirty="0"/>
              <a:t>/6+2</a:t>
            </a:r>
            <a:r>
              <a:rPr lang="fr-FR" sz="1050" dirty="0">
                <a:latin typeface="Symbol" panose="05050102010706020507" pitchFamily="18" charset="2"/>
              </a:rPr>
              <a:t>p</a:t>
            </a:r>
            <a:r>
              <a:rPr lang="fr-FR" sz="1050" dirty="0"/>
              <a:t>/3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2730310" y="4346751"/>
            <a:ext cx="63991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p</a:t>
            </a:r>
            <a:r>
              <a:rPr lang="fr-FR" sz="1050" dirty="0"/>
              <a:t>/6+</a:t>
            </a:r>
            <a:r>
              <a:rPr lang="fr-FR" sz="1050" dirty="0">
                <a:latin typeface="Symbol" panose="05050102010706020507" pitchFamily="18" charset="2"/>
              </a:rPr>
              <a:t>p</a:t>
            </a:r>
            <a:r>
              <a:rPr lang="fr-FR" sz="1050" dirty="0"/>
              <a:t>/3</a:t>
            </a:r>
          </a:p>
        </p:txBody>
      </p:sp>
      <p:sp>
        <p:nvSpPr>
          <p:cNvPr id="23" name="ZoneTexte 22"/>
          <p:cNvSpPr txBox="1"/>
          <p:nvPr/>
        </p:nvSpPr>
        <p:spPr>
          <a:xfrm>
            <a:off x="3314137" y="4706498"/>
            <a:ext cx="7825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=p</a:t>
            </a:r>
            <a:r>
              <a:rPr lang="fr-FR" sz="1050" dirty="0"/>
              <a:t>/6+4</a:t>
            </a:r>
            <a:r>
              <a:rPr lang="fr-FR" sz="1050" dirty="0">
                <a:latin typeface="Symbol" panose="05050102010706020507" pitchFamily="18" charset="2"/>
              </a:rPr>
              <a:t>p</a:t>
            </a:r>
            <a:r>
              <a:rPr lang="fr-FR" sz="1050" dirty="0"/>
              <a:t>/3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4465084" y="2740335"/>
            <a:ext cx="7825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=p</a:t>
            </a:r>
            <a:r>
              <a:rPr lang="fr-FR" sz="1050" dirty="0"/>
              <a:t>/6+5</a:t>
            </a:r>
            <a:r>
              <a:rPr lang="fr-FR" sz="1050" dirty="0">
                <a:latin typeface="Symbol" panose="05050102010706020507" pitchFamily="18" charset="2"/>
              </a:rPr>
              <a:t>p</a:t>
            </a:r>
            <a:r>
              <a:rPr lang="fr-FR" sz="1050" dirty="0"/>
              <a:t>/3</a:t>
            </a:r>
          </a:p>
        </p:txBody>
      </p:sp>
      <p:sp>
        <p:nvSpPr>
          <p:cNvPr id="25" name="ZoneTexte 24"/>
          <p:cNvSpPr txBox="1"/>
          <p:nvPr/>
        </p:nvSpPr>
        <p:spPr>
          <a:xfrm>
            <a:off x="4309947" y="4531940"/>
            <a:ext cx="7825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=p</a:t>
            </a:r>
            <a:r>
              <a:rPr lang="fr-FR" sz="1050" dirty="0"/>
              <a:t>/6+5</a:t>
            </a:r>
            <a:r>
              <a:rPr lang="fr-FR" sz="1050" dirty="0">
                <a:latin typeface="Symbol" panose="05050102010706020507" pitchFamily="18" charset="2"/>
              </a:rPr>
              <a:t>p</a:t>
            </a:r>
            <a:r>
              <a:rPr lang="fr-FR" sz="1050" dirty="0"/>
              <a:t>/3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4073790" y="5223244"/>
            <a:ext cx="7825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=p</a:t>
            </a:r>
            <a:r>
              <a:rPr lang="fr-FR" sz="1050" dirty="0"/>
              <a:t>/6+5</a:t>
            </a:r>
            <a:r>
              <a:rPr lang="fr-FR" sz="1050" dirty="0">
                <a:latin typeface="Symbol" panose="05050102010706020507" pitchFamily="18" charset="2"/>
              </a:rPr>
              <a:t>p</a:t>
            </a:r>
            <a:r>
              <a:rPr lang="fr-FR" sz="1050" dirty="0"/>
              <a:t>/3</a:t>
            </a:r>
          </a:p>
        </p:txBody>
      </p:sp>
    </p:spTree>
    <p:extLst>
      <p:ext uri="{BB962C8B-B14F-4D97-AF65-F5344CB8AC3E}">
        <p14:creationId xmlns:p14="http://schemas.microsoft.com/office/powerpoint/2010/main" val="42228728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32</a:t>
            </a:fld>
            <a:endParaRPr lang="fr-FR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0" y="1880746"/>
            <a:ext cx="7581900" cy="4010025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6354517" y="2137888"/>
            <a:ext cx="3482501" cy="3495742"/>
          </a:xfrm>
          <a:prstGeom prst="rect">
            <a:avLst/>
          </a:prstGeom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Sequence of rotations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4508104" y="3471722"/>
            <a:ext cx="3786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p</a:t>
            </a:r>
            <a:r>
              <a:rPr lang="fr-FR" sz="1050" dirty="0"/>
              <a:t>/3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3265059" y="3615890"/>
            <a:ext cx="25199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0</a:t>
            </a:r>
            <a:endParaRPr lang="fr-FR" sz="1050" dirty="0"/>
          </a:p>
        </p:txBody>
      </p:sp>
      <p:sp>
        <p:nvSpPr>
          <p:cNvPr id="16" name="ZoneTexte 15"/>
          <p:cNvSpPr txBox="1"/>
          <p:nvPr/>
        </p:nvSpPr>
        <p:spPr>
          <a:xfrm>
            <a:off x="2813124" y="3193037"/>
            <a:ext cx="25199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0</a:t>
            </a:r>
            <a:endParaRPr lang="fr-FR" sz="1050" dirty="0"/>
          </a:p>
        </p:txBody>
      </p:sp>
      <p:sp>
        <p:nvSpPr>
          <p:cNvPr id="19" name="ZoneTexte 18"/>
          <p:cNvSpPr txBox="1"/>
          <p:nvPr/>
        </p:nvSpPr>
        <p:spPr>
          <a:xfrm>
            <a:off x="5183823" y="4809652"/>
            <a:ext cx="42992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3p/3</a:t>
            </a:r>
            <a:endParaRPr lang="fr-FR" sz="1050" dirty="0"/>
          </a:p>
        </p:txBody>
      </p:sp>
      <p:sp>
        <p:nvSpPr>
          <p:cNvPr id="20" name="ZoneTexte 19"/>
          <p:cNvSpPr txBox="1"/>
          <p:nvPr/>
        </p:nvSpPr>
        <p:spPr>
          <a:xfrm>
            <a:off x="5133594" y="3344764"/>
            <a:ext cx="3786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p</a:t>
            </a:r>
            <a:r>
              <a:rPr lang="fr-FR" sz="1050" dirty="0"/>
              <a:t>/3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3848018" y="3016890"/>
            <a:ext cx="44755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/>
              <a:t>2</a:t>
            </a:r>
            <a:r>
              <a:rPr lang="fr-FR" sz="1050" dirty="0">
                <a:latin typeface="Symbol" panose="05050102010706020507" pitchFamily="18" charset="2"/>
              </a:rPr>
              <a:t>p</a:t>
            </a:r>
            <a:r>
              <a:rPr lang="fr-FR" sz="1050" dirty="0"/>
              <a:t>/3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2812502" y="4302101"/>
            <a:ext cx="3786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p</a:t>
            </a:r>
            <a:r>
              <a:rPr lang="fr-FR" sz="1050" dirty="0"/>
              <a:t>/3</a:t>
            </a:r>
          </a:p>
        </p:txBody>
      </p:sp>
      <p:sp>
        <p:nvSpPr>
          <p:cNvPr id="23" name="ZoneTexte 22"/>
          <p:cNvSpPr txBox="1"/>
          <p:nvPr/>
        </p:nvSpPr>
        <p:spPr>
          <a:xfrm>
            <a:off x="3476460" y="4509477"/>
            <a:ext cx="44755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/>
              <a:t>4</a:t>
            </a:r>
            <a:r>
              <a:rPr lang="fr-FR" sz="1050" dirty="0">
                <a:latin typeface="Symbol" panose="05050102010706020507" pitchFamily="18" charset="2"/>
              </a:rPr>
              <a:t>p</a:t>
            </a:r>
            <a:r>
              <a:rPr lang="fr-FR" sz="1050" dirty="0"/>
              <a:t>/3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4425422" y="2464081"/>
            <a:ext cx="44755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/>
              <a:t>5</a:t>
            </a:r>
            <a:r>
              <a:rPr lang="fr-FR" sz="1050" dirty="0">
                <a:latin typeface="Symbol" panose="05050102010706020507" pitchFamily="18" charset="2"/>
              </a:rPr>
              <a:t>p</a:t>
            </a:r>
            <a:r>
              <a:rPr lang="fr-FR" sz="1050" dirty="0"/>
              <a:t>/3</a:t>
            </a:r>
          </a:p>
        </p:txBody>
      </p:sp>
      <p:sp>
        <p:nvSpPr>
          <p:cNvPr id="25" name="ZoneTexte 24"/>
          <p:cNvSpPr txBox="1"/>
          <p:nvPr/>
        </p:nvSpPr>
        <p:spPr>
          <a:xfrm>
            <a:off x="4279450" y="4390784"/>
            <a:ext cx="44755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/>
              <a:t>5</a:t>
            </a:r>
            <a:r>
              <a:rPr lang="fr-FR" sz="1050" dirty="0">
                <a:latin typeface="Symbol" panose="05050102010706020507" pitchFamily="18" charset="2"/>
              </a:rPr>
              <a:t>p</a:t>
            </a:r>
            <a:r>
              <a:rPr lang="fr-FR" sz="1050" dirty="0"/>
              <a:t>/3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4101488" y="5013819"/>
            <a:ext cx="44755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/>
              <a:t>5</a:t>
            </a:r>
            <a:r>
              <a:rPr lang="fr-FR" sz="1050" dirty="0">
                <a:latin typeface="Symbol" panose="05050102010706020507" pitchFamily="18" charset="2"/>
              </a:rPr>
              <a:t>p</a:t>
            </a:r>
            <a:r>
              <a:rPr lang="fr-FR" sz="1050" dirty="0"/>
              <a:t>/3</a:t>
            </a:r>
          </a:p>
        </p:txBody>
      </p:sp>
      <p:sp>
        <p:nvSpPr>
          <p:cNvPr id="27" name="ZoneTexte 26"/>
          <p:cNvSpPr txBox="1"/>
          <p:nvPr/>
        </p:nvSpPr>
        <p:spPr>
          <a:xfrm>
            <a:off x="3829556" y="3849681"/>
            <a:ext cx="4523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-p</a:t>
            </a:r>
            <a:r>
              <a:rPr lang="fr-FR" sz="1050" dirty="0"/>
              <a:t>/6</a:t>
            </a:r>
          </a:p>
        </p:txBody>
      </p:sp>
      <p:sp>
        <p:nvSpPr>
          <p:cNvPr id="28" name="ZoneTexte 27"/>
          <p:cNvSpPr txBox="1"/>
          <p:nvPr/>
        </p:nvSpPr>
        <p:spPr>
          <a:xfrm>
            <a:off x="5064318" y="4103597"/>
            <a:ext cx="25199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0</a:t>
            </a:r>
            <a:endParaRPr lang="fr-FR" sz="1050" dirty="0"/>
          </a:p>
        </p:txBody>
      </p:sp>
    </p:spTree>
    <p:extLst>
      <p:ext uri="{BB962C8B-B14F-4D97-AF65-F5344CB8AC3E}">
        <p14:creationId xmlns:p14="http://schemas.microsoft.com/office/powerpoint/2010/main" val="1511547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33</a:t>
            </a:fld>
            <a:endParaRPr lang="fr-FR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0" y="1880746"/>
            <a:ext cx="7581900" cy="4010025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6354517" y="2137888"/>
            <a:ext cx="3482501" cy="3495742"/>
          </a:xfrm>
          <a:prstGeom prst="rect">
            <a:avLst/>
          </a:prstGeom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Sequence of rotations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4579183" y="3454154"/>
            <a:ext cx="25199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1</a:t>
            </a:r>
            <a:endParaRPr lang="fr-FR" sz="1050" dirty="0"/>
          </a:p>
        </p:txBody>
      </p:sp>
      <p:sp>
        <p:nvSpPr>
          <p:cNvPr id="13" name="ZoneTexte 12"/>
          <p:cNvSpPr txBox="1"/>
          <p:nvPr/>
        </p:nvSpPr>
        <p:spPr>
          <a:xfrm>
            <a:off x="3332906" y="3637091"/>
            <a:ext cx="25199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0</a:t>
            </a:r>
            <a:endParaRPr lang="fr-FR" sz="1050" dirty="0"/>
          </a:p>
        </p:txBody>
      </p:sp>
      <p:sp>
        <p:nvSpPr>
          <p:cNvPr id="16" name="ZoneTexte 15"/>
          <p:cNvSpPr txBox="1"/>
          <p:nvPr/>
        </p:nvSpPr>
        <p:spPr>
          <a:xfrm>
            <a:off x="2871185" y="3217806"/>
            <a:ext cx="25199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0</a:t>
            </a:r>
            <a:endParaRPr lang="fr-FR" sz="1050" dirty="0"/>
          </a:p>
        </p:txBody>
      </p:sp>
      <p:sp>
        <p:nvSpPr>
          <p:cNvPr id="19" name="ZoneTexte 18"/>
          <p:cNvSpPr txBox="1"/>
          <p:nvPr/>
        </p:nvSpPr>
        <p:spPr>
          <a:xfrm>
            <a:off x="5259590" y="4832111"/>
            <a:ext cx="25199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3</a:t>
            </a:r>
            <a:endParaRPr lang="fr-FR" sz="1050" dirty="0"/>
          </a:p>
        </p:txBody>
      </p:sp>
      <p:sp>
        <p:nvSpPr>
          <p:cNvPr id="20" name="ZoneTexte 19"/>
          <p:cNvSpPr txBox="1"/>
          <p:nvPr/>
        </p:nvSpPr>
        <p:spPr>
          <a:xfrm>
            <a:off x="5176064" y="3327196"/>
            <a:ext cx="25199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1</a:t>
            </a:r>
            <a:endParaRPr lang="fr-FR" sz="1050" dirty="0"/>
          </a:p>
        </p:txBody>
      </p:sp>
      <p:sp>
        <p:nvSpPr>
          <p:cNvPr id="21" name="ZoneTexte 20"/>
          <p:cNvSpPr txBox="1"/>
          <p:nvPr/>
        </p:nvSpPr>
        <p:spPr>
          <a:xfrm>
            <a:off x="3966112" y="3031414"/>
            <a:ext cx="2535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/>
              <a:t>2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2839296" y="4300372"/>
            <a:ext cx="25199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1</a:t>
            </a:r>
            <a:endParaRPr lang="fr-FR" sz="1050" dirty="0"/>
          </a:p>
        </p:txBody>
      </p:sp>
      <p:sp>
        <p:nvSpPr>
          <p:cNvPr id="23" name="ZoneTexte 22"/>
          <p:cNvSpPr txBox="1"/>
          <p:nvPr/>
        </p:nvSpPr>
        <p:spPr>
          <a:xfrm>
            <a:off x="3558571" y="4510015"/>
            <a:ext cx="2535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/>
              <a:t>4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4508104" y="2489481"/>
            <a:ext cx="2535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/>
              <a:t>5</a:t>
            </a:r>
          </a:p>
        </p:txBody>
      </p:sp>
      <p:sp>
        <p:nvSpPr>
          <p:cNvPr id="25" name="ZoneTexte 24"/>
          <p:cNvSpPr txBox="1"/>
          <p:nvPr/>
        </p:nvSpPr>
        <p:spPr>
          <a:xfrm>
            <a:off x="4342508" y="4357513"/>
            <a:ext cx="2535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/>
              <a:t>5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4163059" y="4989388"/>
            <a:ext cx="2535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/>
              <a:t>5</a:t>
            </a:r>
          </a:p>
        </p:txBody>
      </p:sp>
      <p:sp>
        <p:nvSpPr>
          <p:cNvPr id="27" name="ZoneTexte 26"/>
          <p:cNvSpPr txBox="1"/>
          <p:nvPr/>
        </p:nvSpPr>
        <p:spPr>
          <a:xfrm>
            <a:off x="3848018" y="3853349"/>
            <a:ext cx="44595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-1</a:t>
            </a:r>
            <a:r>
              <a:rPr lang="fr-FR" sz="1050" dirty="0"/>
              <a:t>/2</a:t>
            </a:r>
          </a:p>
        </p:txBody>
      </p:sp>
      <p:sp>
        <p:nvSpPr>
          <p:cNvPr id="28" name="ZoneTexte 27"/>
          <p:cNvSpPr txBox="1"/>
          <p:nvPr/>
        </p:nvSpPr>
        <p:spPr>
          <a:xfrm>
            <a:off x="5064318" y="4103597"/>
            <a:ext cx="25199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0</a:t>
            </a:r>
            <a:endParaRPr lang="fr-FR" sz="1050" dirty="0"/>
          </a:p>
        </p:txBody>
      </p:sp>
      <p:sp>
        <p:nvSpPr>
          <p:cNvPr id="29" name="ZoneTexte 28"/>
          <p:cNvSpPr txBox="1"/>
          <p:nvPr/>
        </p:nvSpPr>
        <p:spPr>
          <a:xfrm>
            <a:off x="1600503" y="3661240"/>
            <a:ext cx="87395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>
                <a:latin typeface="Symbol" panose="05050102010706020507" pitchFamily="18" charset="2"/>
              </a:rPr>
              <a:t>p</a:t>
            </a:r>
            <a:r>
              <a:rPr lang="fr-FR" sz="1050" dirty="0"/>
              <a:t>/3=2</a:t>
            </a:r>
            <a:r>
              <a:rPr lang="fr-FR" sz="1050" dirty="0">
                <a:latin typeface="Symbol" panose="05050102010706020507" pitchFamily="18" charset="2"/>
              </a:rPr>
              <a:t>p</a:t>
            </a:r>
            <a:r>
              <a:rPr lang="fr-FR" sz="1050" dirty="0"/>
              <a:t>/6</a:t>
            </a:r>
          </a:p>
          <a:p>
            <a:r>
              <a:rPr lang="fr-FR" sz="1050" dirty="0" err="1"/>
              <a:t>factorization</a:t>
            </a:r>
            <a:endParaRPr lang="fr-FR" sz="1050" dirty="0"/>
          </a:p>
        </p:txBody>
      </p:sp>
    </p:spTree>
    <p:extLst>
      <p:ext uri="{BB962C8B-B14F-4D97-AF65-F5344CB8AC3E}">
        <p14:creationId xmlns:p14="http://schemas.microsoft.com/office/powerpoint/2010/main" val="21857458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34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E5F376C-44C8-4A13-AC06-CC126AD3C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1765" y="2255243"/>
            <a:ext cx="1224483" cy="122448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FCB60AF-C942-4DE8-AB44-675766A72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372" y="1945404"/>
            <a:ext cx="1131011" cy="101884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1370DAA8-EB58-42B9-A0FC-344F048FC3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118" y="3646745"/>
            <a:ext cx="3400900" cy="2524477"/>
          </a:xfrm>
          <a:prstGeom prst="rect">
            <a:avLst/>
          </a:prstGeom>
        </p:spPr>
      </p:pic>
      <p:sp>
        <p:nvSpPr>
          <p:cNvPr id="10" name="Titre 1">
            <a:extLst>
              <a:ext uri="{FF2B5EF4-FFF2-40B4-BE49-F238E27FC236}">
                <a16:creationId xmlns:a16="http://schemas.microsoft.com/office/drawing/2014/main" id="{CE56B3E6-8805-4DED-84BF-0C1678778A05}"/>
              </a:ext>
            </a:extLst>
          </p:cNvPr>
          <p:cNvSpPr txBox="1">
            <a:spLocks/>
          </p:cNvSpPr>
          <p:nvPr/>
        </p:nvSpPr>
        <p:spPr>
          <a:xfrm>
            <a:off x="4961696" y="3840164"/>
            <a:ext cx="6913444" cy="65919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b="1" dirty="0" err="1">
                <a:solidFill>
                  <a:srgbClr val="FF0000"/>
                </a:solidFill>
              </a:rPr>
              <a:t>Three</a:t>
            </a:r>
            <a:r>
              <a:rPr lang="fr-FR" sz="2800" b="1" dirty="0">
                <a:solidFill>
                  <a:srgbClr val="FF0000"/>
                </a:solidFill>
              </a:rPr>
              <a:t> black points and </a:t>
            </a:r>
            <a:r>
              <a:rPr lang="fr-FR" sz="2800" b="1" dirty="0" err="1">
                <a:solidFill>
                  <a:srgbClr val="FF0000"/>
                </a:solidFill>
              </a:rPr>
              <a:t>three</a:t>
            </a:r>
            <a:r>
              <a:rPr lang="fr-FR" sz="2800" b="1" dirty="0">
                <a:solidFill>
                  <a:srgbClr val="FF0000"/>
                </a:solidFill>
              </a:rPr>
              <a:t> green points on the </a:t>
            </a:r>
            <a:r>
              <a:rPr lang="fr-FR" sz="2800" b="1" dirty="0" err="1">
                <a:solidFill>
                  <a:srgbClr val="FF0000"/>
                </a:solidFill>
              </a:rPr>
              <a:t>odd</a:t>
            </a:r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dirty="0" err="1">
                <a:solidFill>
                  <a:srgbClr val="FF0000"/>
                </a:solidFill>
              </a:rPr>
              <a:t>monotile</a:t>
            </a:r>
            <a:r>
              <a:rPr lang="fr-FR" sz="2800" b="1" dirty="0">
                <a:solidFill>
                  <a:srgbClr val="FF0000"/>
                </a:solidFill>
              </a:rPr>
              <a:t> in the middle. </a:t>
            </a:r>
          </a:p>
          <a:p>
            <a:r>
              <a:rPr lang="fr-FR" sz="2800" b="1" dirty="0" err="1">
                <a:solidFill>
                  <a:srgbClr val="FF0000"/>
                </a:solidFill>
              </a:rPr>
              <a:t>They</a:t>
            </a:r>
            <a:r>
              <a:rPr lang="fr-FR" sz="2800" b="1" dirty="0">
                <a:solidFill>
                  <a:srgbClr val="FF0000"/>
                </a:solidFill>
              </a:rPr>
              <a:t> are </a:t>
            </a:r>
            <a:r>
              <a:rPr lang="fr-FR" sz="2800" b="1" dirty="0" err="1">
                <a:solidFill>
                  <a:srgbClr val="FF0000"/>
                </a:solidFill>
              </a:rPr>
              <a:t>located</a:t>
            </a:r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dirty="0" err="1">
                <a:solidFill>
                  <a:srgbClr val="FF0000"/>
                </a:solidFill>
              </a:rPr>
              <a:t>always</a:t>
            </a:r>
            <a:r>
              <a:rPr lang="fr-FR" sz="2800" b="1" dirty="0">
                <a:solidFill>
                  <a:srgbClr val="FF0000"/>
                </a:solidFill>
              </a:rPr>
              <a:t> at the </a:t>
            </a:r>
            <a:r>
              <a:rPr lang="fr-FR" sz="2800" b="1" dirty="0" err="1">
                <a:solidFill>
                  <a:srgbClr val="FF0000"/>
                </a:solidFill>
              </a:rPr>
              <a:t>same</a:t>
            </a:r>
            <a:r>
              <a:rPr lang="fr-FR" sz="2800" b="1" dirty="0">
                <a:solidFill>
                  <a:srgbClr val="FF0000"/>
                </a:solidFill>
              </a:rPr>
              <a:t> positions.</a:t>
            </a:r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681F85A9-5699-4FAF-96AD-34A8DBB1E17A}"/>
              </a:ext>
            </a:extLst>
          </p:cNvPr>
          <p:cNvSpPr txBox="1">
            <a:spLocks/>
          </p:cNvSpPr>
          <p:nvPr/>
        </p:nvSpPr>
        <p:spPr>
          <a:xfrm>
            <a:off x="973261" y="1402607"/>
            <a:ext cx="1884922" cy="46458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dirty="0"/>
              <a:t>translation</a:t>
            </a:r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9B8FCFE6-0721-449C-AAA4-9348580DBD8E}"/>
              </a:ext>
            </a:extLst>
          </p:cNvPr>
          <p:cNvSpPr txBox="1">
            <a:spLocks/>
          </p:cNvSpPr>
          <p:nvPr/>
        </p:nvSpPr>
        <p:spPr>
          <a:xfrm>
            <a:off x="3073567" y="1757953"/>
            <a:ext cx="1884922" cy="46458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dirty="0"/>
              <a:t>inversion</a:t>
            </a:r>
          </a:p>
        </p:txBody>
      </p:sp>
      <p:sp>
        <p:nvSpPr>
          <p:cNvPr id="15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Junction lines between full clusters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CE56B3E6-8805-4DED-84BF-0C1678778A05}"/>
              </a:ext>
            </a:extLst>
          </p:cNvPr>
          <p:cNvSpPr txBox="1">
            <a:spLocks/>
          </p:cNvSpPr>
          <p:nvPr/>
        </p:nvSpPr>
        <p:spPr>
          <a:xfrm>
            <a:off x="4884243" y="5408191"/>
            <a:ext cx="6706881" cy="138097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b="1" dirty="0" err="1">
                <a:solidFill>
                  <a:srgbClr val="FF0000"/>
                </a:solidFill>
              </a:rPr>
              <a:t>Three</a:t>
            </a:r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dirty="0" err="1">
                <a:solidFill>
                  <a:srgbClr val="FF0000"/>
                </a:solidFill>
              </a:rPr>
              <a:t>even</a:t>
            </a:r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dirty="0" err="1">
                <a:solidFill>
                  <a:srgbClr val="FF0000"/>
                </a:solidFill>
              </a:rPr>
              <a:t>monotiles</a:t>
            </a:r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dirty="0" err="1">
                <a:solidFill>
                  <a:srgbClr val="FF0000"/>
                </a:solidFill>
              </a:rPr>
              <a:t>outside</a:t>
            </a:r>
            <a:r>
              <a:rPr lang="fr-FR" sz="2800" b="1" dirty="0">
                <a:solidFill>
                  <a:srgbClr val="FF0000"/>
                </a:solidFill>
              </a:rPr>
              <a:t> the C cluster in </a:t>
            </a:r>
            <a:r>
              <a:rPr lang="fr-FR" sz="2800" b="1" dirty="0" err="1">
                <a:solidFill>
                  <a:srgbClr val="FF0000"/>
                </a:solidFill>
              </a:rPr>
              <a:t>dashed</a:t>
            </a:r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dirty="0" err="1">
                <a:solidFill>
                  <a:srgbClr val="FF0000"/>
                </a:solidFill>
              </a:rPr>
              <a:t>lines</a:t>
            </a:r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dirty="0" err="1">
                <a:solidFill>
                  <a:srgbClr val="FF0000"/>
                </a:solidFill>
              </a:rPr>
              <a:t>obtained</a:t>
            </a:r>
            <a:r>
              <a:rPr lang="fr-FR" sz="2800" b="1" dirty="0">
                <a:solidFill>
                  <a:srgbClr val="FF0000"/>
                </a:solidFill>
              </a:rPr>
              <a:t> by inversion. 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6728" y="1197350"/>
            <a:ext cx="2505425" cy="251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4629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35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E5F376C-44C8-4A13-AC06-CC126AD3C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1765" y="2255243"/>
            <a:ext cx="1224483" cy="122448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FCB60AF-C942-4DE8-AB44-675766A72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372" y="1945404"/>
            <a:ext cx="1131011" cy="101884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1370DAA8-EB58-42B9-A0FC-344F048FC3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128" y="3712301"/>
            <a:ext cx="3400900" cy="2524477"/>
          </a:xfrm>
          <a:prstGeom prst="rect">
            <a:avLst/>
          </a:prstGeom>
        </p:spPr>
      </p:pic>
      <p:sp>
        <p:nvSpPr>
          <p:cNvPr id="10" name="Titre 1">
            <a:extLst>
              <a:ext uri="{FF2B5EF4-FFF2-40B4-BE49-F238E27FC236}">
                <a16:creationId xmlns:a16="http://schemas.microsoft.com/office/drawing/2014/main" id="{CE56B3E6-8805-4DED-84BF-0C1678778A05}"/>
              </a:ext>
            </a:extLst>
          </p:cNvPr>
          <p:cNvSpPr txBox="1">
            <a:spLocks/>
          </p:cNvSpPr>
          <p:nvPr/>
        </p:nvSpPr>
        <p:spPr>
          <a:xfrm>
            <a:off x="4346248" y="3959052"/>
            <a:ext cx="7604013" cy="65919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b="1" dirty="0">
                <a:solidFill>
                  <a:srgbClr val="FF0000"/>
                </a:solidFill>
              </a:rPr>
              <a:t>Black </a:t>
            </a:r>
            <a:r>
              <a:rPr lang="fr-FR" sz="2800" b="1" dirty="0" err="1">
                <a:solidFill>
                  <a:srgbClr val="FF0000"/>
                </a:solidFill>
              </a:rPr>
              <a:t>junction</a:t>
            </a:r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dirty="0" err="1">
                <a:solidFill>
                  <a:srgbClr val="FF0000"/>
                </a:solidFill>
              </a:rPr>
              <a:t>lines</a:t>
            </a:r>
            <a:r>
              <a:rPr lang="fr-FR" sz="2800" b="1" dirty="0">
                <a:solidFill>
                  <a:srgbClr val="FF0000"/>
                </a:solidFill>
              </a:rPr>
              <a:t> == translation == </a:t>
            </a:r>
            <a:r>
              <a:rPr lang="fr-FR" sz="2800" b="1" dirty="0" err="1">
                <a:solidFill>
                  <a:srgbClr val="FF0000"/>
                </a:solidFill>
              </a:rPr>
              <a:t>always</a:t>
            </a:r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dirty="0" err="1">
                <a:solidFill>
                  <a:srgbClr val="FF0000"/>
                </a:solidFill>
              </a:rPr>
              <a:t>present</a:t>
            </a:r>
            <a:endParaRPr lang="fr-FR" sz="2800" b="1" dirty="0">
              <a:solidFill>
                <a:srgbClr val="FF0000"/>
              </a:solidFill>
            </a:endParaRPr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681F85A9-5699-4FAF-96AD-34A8DBB1E17A}"/>
              </a:ext>
            </a:extLst>
          </p:cNvPr>
          <p:cNvSpPr txBox="1">
            <a:spLocks/>
          </p:cNvSpPr>
          <p:nvPr/>
        </p:nvSpPr>
        <p:spPr>
          <a:xfrm>
            <a:off x="973261" y="1402607"/>
            <a:ext cx="1884922" cy="46458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dirty="0"/>
              <a:t>translation</a:t>
            </a:r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9B8FCFE6-0721-449C-AAA4-9348580DBD8E}"/>
              </a:ext>
            </a:extLst>
          </p:cNvPr>
          <p:cNvSpPr txBox="1">
            <a:spLocks/>
          </p:cNvSpPr>
          <p:nvPr/>
        </p:nvSpPr>
        <p:spPr>
          <a:xfrm>
            <a:off x="3073567" y="1757953"/>
            <a:ext cx="1884922" cy="46458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dirty="0"/>
              <a:t>inversion</a:t>
            </a:r>
          </a:p>
        </p:txBody>
      </p:sp>
      <p:sp>
        <p:nvSpPr>
          <p:cNvPr id="15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Junction lines</a:t>
            </a:r>
            <a:endParaRPr lang="fr-FR" b="1" dirty="0">
              <a:solidFill>
                <a:srgbClr val="C85350"/>
              </a:solidFill>
            </a:endParaRPr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CE56B3E6-8805-4DED-84BF-0C1678778A05}"/>
              </a:ext>
            </a:extLst>
          </p:cNvPr>
          <p:cNvSpPr txBox="1">
            <a:spLocks/>
          </p:cNvSpPr>
          <p:nvPr/>
        </p:nvSpPr>
        <p:spPr>
          <a:xfrm>
            <a:off x="4958489" y="4758328"/>
            <a:ext cx="6706881" cy="170553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b="1" dirty="0" err="1">
                <a:solidFill>
                  <a:srgbClr val="FF0000"/>
                </a:solidFill>
              </a:rPr>
              <a:t>when</a:t>
            </a:r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dirty="0" err="1">
                <a:solidFill>
                  <a:srgbClr val="FF0000"/>
                </a:solidFill>
              </a:rPr>
              <a:t>two</a:t>
            </a:r>
            <a:r>
              <a:rPr lang="fr-FR" sz="2800" b="1" dirty="0">
                <a:solidFill>
                  <a:srgbClr val="FF0000"/>
                </a:solidFill>
              </a:rPr>
              <a:t> clusters are </a:t>
            </a:r>
            <a:r>
              <a:rPr lang="fr-FR" sz="2800" b="1" dirty="0" err="1">
                <a:solidFill>
                  <a:srgbClr val="FF0000"/>
                </a:solidFill>
              </a:rPr>
              <a:t>assembled</a:t>
            </a:r>
            <a:r>
              <a:rPr lang="fr-FR" sz="2800" b="1" dirty="0">
                <a:solidFill>
                  <a:srgbClr val="FF0000"/>
                </a:solidFill>
              </a:rPr>
              <a:t>, </a:t>
            </a:r>
            <a:r>
              <a:rPr lang="fr-FR" sz="2800" b="1" dirty="0" err="1">
                <a:solidFill>
                  <a:srgbClr val="FF0000"/>
                </a:solidFill>
              </a:rPr>
              <a:t>some</a:t>
            </a:r>
            <a:r>
              <a:rPr lang="fr-FR" sz="2800" b="1" dirty="0">
                <a:solidFill>
                  <a:srgbClr val="FF0000"/>
                </a:solidFill>
              </a:rPr>
              <a:t> green </a:t>
            </a:r>
            <a:r>
              <a:rPr lang="fr-FR" sz="2800" b="1" dirty="0" err="1">
                <a:solidFill>
                  <a:srgbClr val="FF0000"/>
                </a:solidFill>
              </a:rPr>
              <a:t>lines</a:t>
            </a:r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dirty="0" err="1">
                <a:solidFill>
                  <a:srgbClr val="FF0000"/>
                </a:solidFill>
              </a:rPr>
              <a:t>may</a:t>
            </a:r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dirty="0" err="1">
                <a:solidFill>
                  <a:srgbClr val="FF0000"/>
                </a:solidFill>
              </a:rPr>
              <a:t>be</a:t>
            </a:r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dirty="0" err="1">
                <a:solidFill>
                  <a:srgbClr val="FF0000"/>
                </a:solidFill>
              </a:rPr>
              <a:t>superimposed</a:t>
            </a:r>
            <a:r>
              <a:rPr lang="fr-FR" sz="2800" b="1" dirty="0">
                <a:solidFill>
                  <a:srgbClr val="FF0000"/>
                </a:solidFill>
              </a:rPr>
              <a:t> on black </a:t>
            </a:r>
            <a:r>
              <a:rPr lang="fr-FR" sz="2800" b="1" dirty="0" err="1">
                <a:solidFill>
                  <a:srgbClr val="FF0000"/>
                </a:solidFill>
              </a:rPr>
              <a:t>ones</a:t>
            </a:r>
            <a:r>
              <a:rPr lang="fr-FR" sz="2800" b="1" dirty="0">
                <a:solidFill>
                  <a:srgbClr val="FF0000"/>
                </a:solidFill>
              </a:rPr>
              <a:t> !!!</a:t>
            </a:r>
          </a:p>
          <a:p>
            <a:r>
              <a:rPr lang="fr-FR" sz="2800" b="1" dirty="0">
                <a:solidFill>
                  <a:srgbClr val="FF0000"/>
                </a:solidFill>
              </a:rPr>
              <a:t>-&gt; black one </a:t>
            </a:r>
            <a:r>
              <a:rPr lang="fr-FR" sz="2800" b="1" dirty="0" err="1">
                <a:solidFill>
                  <a:srgbClr val="FF0000"/>
                </a:solidFill>
              </a:rPr>
              <a:t>is</a:t>
            </a:r>
            <a:r>
              <a:rPr lang="fr-FR" sz="2800" b="1" dirty="0">
                <a:solidFill>
                  <a:srgbClr val="FF0000"/>
                </a:solidFill>
              </a:rPr>
              <a:t> the good one</a:t>
            </a:r>
          </a:p>
          <a:p>
            <a:r>
              <a:rPr lang="fr-FR" sz="2800" b="1" dirty="0">
                <a:solidFill>
                  <a:srgbClr val="FF0000"/>
                </a:solidFill>
              </a:rPr>
              <a:t>-&gt; translation and not inversion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6728" y="1197350"/>
            <a:ext cx="2505425" cy="251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3684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03BECDDB-F30B-417B-B076-E70A4C43E61C}"/>
              </a:ext>
            </a:extLst>
          </p:cNvPr>
          <p:cNvSpPr txBox="1"/>
          <p:nvPr/>
        </p:nvSpPr>
        <p:spPr>
          <a:xfrm>
            <a:off x="2888657" y="1421301"/>
            <a:ext cx="6187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i="1" dirty="0">
                <a:solidFill>
                  <a:schemeClr val="tx1">
                    <a:lumMod val="65000"/>
                    <a:lumOff val="35000"/>
                  </a:schemeClr>
                </a:solidFill>
                <a:hlinkClick r:id="rId2"/>
              </a:rPr>
              <a:t>https://cs.uwaterloo.ca/~csk/spectre/app.html</a:t>
            </a:r>
            <a:endParaRPr lang="fr-FR" sz="2400" b="1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EAF34E1E-66FA-4056-AF7A-5DC965B41E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318685" y="2133574"/>
            <a:ext cx="5777315" cy="2893690"/>
          </a:xfrm>
          <a:prstGeom prst="rect">
            <a:avLst/>
          </a:prstGeom>
        </p:spPr>
      </p:pic>
      <p:pic>
        <p:nvPicPr>
          <p:cNvPr id="11" name="Graphique 10">
            <a:extLst>
              <a:ext uri="{FF2B5EF4-FFF2-40B4-BE49-F238E27FC236}">
                <a16:creationId xmlns:a16="http://schemas.microsoft.com/office/drawing/2014/main" id="{7D994CDB-E90D-4C62-A3DA-4D74079311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503360" y="3215563"/>
            <a:ext cx="5511103" cy="3623403"/>
          </a:xfrm>
          <a:prstGeom prst="rect">
            <a:avLst/>
          </a:prstGeom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ECDC2DA1-E608-41BE-9035-924D7C847247}"/>
              </a:ext>
            </a:extLst>
          </p:cNvPr>
          <p:cNvSpPr txBox="1">
            <a:spLocks/>
          </p:cNvSpPr>
          <p:nvPr/>
        </p:nvSpPr>
        <p:spPr>
          <a:xfrm>
            <a:off x="80682" y="0"/>
            <a:ext cx="12111318" cy="16521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C85350"/>
                </a:solidFill>
              </a:rPr>
              <a:t>Inflation with alternate chirality of Tile(1,1) at each step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5C564F2-9E9E-4DD4-9C3C-E0772E3A740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61122"/>
          <a:stretch/>
        </p:blipFill>
        <p:spPr>
          <a:xfrm>
            <a:off x="1821430" y="4287326"/>
            <a:ext cx="497708" cy="570478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71D94A90-D4E2-4172-BCD0-801281B4BC0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61122"/>
          <a:stretch/>
        </p:blipFill>
        <p:spPr>
          <a:xfrm>
            <a:off x="394885" y="4287326"/>
            <a:ext cx="497708" cy="570478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9DB79E65-28A7-438D-ACD0-B048FD5718D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61122"/>
          <a:stretch/>
        </p:blipFill>
        <p:spPr>
          <a:xfrm>
            <a:off x="3318788" y="4287326"/>
            <a:ext cx="497708" cy="570478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5DE46768-16CC-4C3B-8D32-64C073ACAA9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61122"/>
          <a:stretch/>
        </p:blipFill>
        <p:spPr>
          <a:xfrm>
            <a:off x="7917590" y="6011351"/>
            <a:ext cx="497708" cy="570478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5703FB16-4033-4FE7-B80F-ADB18A320EF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61122"/>
          <a:stretch/>
        </p:blipFill>
        <p:spPr>
          <a:xfrm>
            <a:off x="6470824" y="6011351"/>
            <a:ext cx="497708" cy="570478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DE5B1BC6-E1CC-4BA5-A1F5-FA087775AA5C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61122"/>
          <a:stretch/>
        </p:blipFill>
        <p:spPr>
          <a:xfrm>
            <a:off x="9364356" y="6011351"/>
            <a:ext cx="497708" cy="570478"/>
          </a:xfrm>
          <a:prstGeom prst="rect">
            <a:avLst/>
          </a:prstGeom>
        </p:spPr>
      </p:pic>
      <p:sp>
        <p:nvSpPr>
          <p:cNvPr id="19" name="Titre 1">
            <a:extLst>
              <a:ext uri="{FF2B5EF4-FFF2-40B4-BE49-F238E27FC236}">
                <a16:creationId xmlns:a16="http://schemas.microsoft.com/office/drawing/2014/main" id="{D617D0EB-C149-44F8-A289-C4DA7457D0B6}"/>
              </a:ext>
            </a:extLst>
          </p:cNvPr>
          <p:cNvSpPr txBox="1">
            <a:spLocks/>
          </p:cNvSpPr>
          <p:nvPr/>
        </p:nvSpPr>
        <p:spPr>
          <a:xfrm>
            <a:off x="461288" y="5343320"/>
            <a:ext cx="5715000" cy="140990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b="1" dirty="0">
                <a:solidFill>
                  <a:srgbClr val="FF0000"/>
                </a:solidFill>
              </a:rPr>
              <a:t>-&gt; Need for </a:t>
            </a:r>
            <a:r>
              <a:rPr lang="fr-FR" sz="3200" b="1" dirty="0" err="1">
                <a:solidFill>
                  <a:srgbClr val="FF0000"/>
                </a:solidFill>
              </a:rPr>
              <a:t>homochiral</a:t>
            </a:r>
            <a:r>
              <a:rPr lang="fr-FR" sz="3200" b="1" dirty="0">
                <a:solidFill>
                  <a:srgbClr val="FF0000"/>
                </a:solidFill>
              </a:rPr>
              <a:t> inflation to </a:t>
            </a:r>
            <a:r>
              <a:rPr lang="fr-FR" sz="3200" b="1" dirty="0" err="1">
                <a:solidFill>
                  <a:srgbClr val="FF0000"/>
                </a:solidFill>
              </a:rPr>
              <a:t>get</a:t>
            </a:r>
            <a:r>
              <a:rPr lang="fr-FR" sz="3200" b="1" dirty="0">
                <a:solidFill>
                  <a:srgbClr val="FF0000"/>
                </a:solidFill>
              </a:rPr>
              <a:t> the orientation distribution at </a:t>
            </a:r>
            <a:r>
              <a:rPr lang="fr-FR" sz="3200" b="1" dirty="0" err="1">
                <a:solidFill>
                  <a:srgbClr val="FF0000"/>
                </a:solidFill>
              </a:rPr>
              <a:t>each</a:t>
            </a:r>
            <a:r>
              <a:rPr lang="fr-FR" sz="3200" b="1" dirty="0">
                <a:solidFill>
                  <a:srgbClr val="FF0000"/>
                </a:solidFill>
              </a:rPr>
              <a:t> inflation </a:t>
            </a:r>
            <a:r>
              <a:rPr lang="fr-FR" sz="3200" b="1" dirty="0" err="1">
                <a:solidFill>
                  <a:srgbClr val="FF0000"/>
                </a:solidFill>
              </a:rPr>
              <a:t>step</a:t>
            </a:r>
            <a:endParaRPr lang="fr-FR" sz="3200" b="1" dirty="0">
              <a:solidFill>
                <a:srgbClr val="FF0000"/>
              </a:solidFill>
            </a:endParaRPr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BE2087A9-1917-44F7-B1B9-8129F0EB7F71}"/>
              </a:ext>
            </a:extLst>
          </p:cNvPr>
          <p:cNvSpPr txBox="1">
            <a:spLocks/>
          </p:cNvSpPr>
          <p:nvPr/>
        </p:nvSpPr>
        <p:spPr>
          <a:xfrm>
            <a:off x="576223" y="1435289"/>
            <a:ext cx="1123950" cy="118344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7200" b="1" dirty="0">
                <a:solidFill>
                  <a:srgbClr val="FF0000"/>
                </a:solidFill>
                <a:sym typeface="Wingdings" panose="05000000000000000000" pitchFamily="2" charset="2"/>
              </a:rPr>
              <a:t></a:t>
            </a:r>
            <a:endParaRPr lang="fr-FR" sz="7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0336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37</a:t>
            </a:fld>
            <a:endParaRPr lang="fr-FR"/>
          </a:p>
        </p:txBody>
      </p:sp>
      <p:sp>
        <p:nvSpPr>
          <p:cNvPr id="3" name="Rectangle 2"/>
          <p:cNvSpPr/>
          <p:nvPr/>
        </p:nvSpPr>
        <p:spPr>
          <a:xfrm>
            <a:off x="1070135" y="4695944"/>
            <a:ext cx="55360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https://github.com/shrx/spectre/blob/master/spectre.py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Python script to generate the tiling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732" y="1424940"/>
            <a:ext cx="4262933" cy="51139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14000" y="1893389"/>
            <a:ext cx="23445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err="1"/>
              <a:t>Drawsvg</a:t>
            </a:r>
            <a:r>
              <a:rPr lang="fr-FR" dirty="0"/>
              <a:t> python </a:t>
            </a:r>
            <a:r>
              <a:rPr lang="fr-FR" dirty="0" err="1"/>
              <a:t>library</a:t>
            </a:r>
            <a:endParaRPr lang="fr-FR" dirty="0"/>
          </a:p>
        </p:txBody>
      </p:sp>
      <p:sp>
        <p:nvSpPr>
          <p:cNvPr id="10" name="Rectangle 9"/>
          <p:cNvSpPr/>
          <p:nvPr/>
        </p:nvSpPr>
        <p:spPr>
          <a:xfrm>
            <a:off x="1070135" y="2473071"/>
            <a:ext cx="33887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https://pypi.org/project/drawsvg/</a:t>
            </a:r>
          </a:p>
        </p:txBody>
      </p:sp>
    </p:spTree>
    <p:extLst>
      <p:ext uri="{BB962C8B-B14F-4D97-AF65-F5344CB8AC3E}">
        <p14:creationId xmlns:p14="http://schemas.microsoft.com/office/powerpoint/2010/main" val="38604366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38</a:t>
            </a:fld>
            <a:endParaRPr lang="fr-FR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7112" y="972766"/>
            <a:ext cx="5514975" cy="5724525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Python script: step 1</a:t>
            </a:r>
            <a:endParaRPr lang="fr-FR" b="1" dirty="0">
              <a:solidFill>
                <a:srgbClr val="C853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90455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39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Fig A.1 (</a:t>
            </a:r>
            <a:r>
              <a:rPr lang="en-US" b="1" dirty="0" err="1">
                <a:solidFill>
                  <a:srgbClr val="C85350"/>
                </a:solidFill>
              </a:rPr>
              <a:t>annexe</a:t>
            </a:r>
            <a:r>
              <a:rPr lang="en-US" b="1" dirty="0">
                <a:solidFill>
                  <a:srgbClr val="C85350"/>
                </a:solidFill>
              </a:rPr>
              <a:t>)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3400" y="1488884"/>
            <a:ext cx="6506738" cy="46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8324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40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err="1">
                <a:solidFill>
                  <a:srgbClr val="C85350"/>
                </a:solidFill>
              </a:rPr>
              <a:t>Comparision</a:t>
            </a:r>
            <a:r>
              <a:rPr lang="en-US" b="1" dirty="0">
                <a:solidFill>
                  <a:srgbClr val="C85350"/>
                </a:solidFill>
              </a:rPr>
              <a:t> with Fig A.1 (</a:t>
            </a:r>
            <a:r>
              <a:rPr lang="en-US" b="1" dirty="0" err="1">
                <a:solidFill>
                  <a:srgbClr val="C85350"/>
                </a:solidFill>
              </a:rPr>
              <a:t>annexe</a:t>
            </a:r>
            <a:r>
              <a:rPr lang="en-US" b="1" dirty="0">
                <a:solidFill>
                  <a:srgbClr val="C85350"/>
                </a:solidFill>
              </a:rPr>
              <a:t>)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613" y="1605266"/>
            <a:ext cx="5410987" cy="445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3629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41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err="1">
                <a:solidFill>
                  <a:srgbClr val="C85350"/>
                </a:solidFill>
              </a:rPr>
              <a:t>Comparision</a:t>
            </a:r>
            <a:r>
              <a:rPr lang="en-US" b="1" dirty="0">
                <a:solidFill>
                  <a:srgbClr val="C85350"/>
                </a:solidFill>
              </a:rPr>
              <a:t> with Fig A.1 (</a:t>
            </a:r>
            <a:r>
              <a:rPr lang="en-US" b="1" dirty="0" err="1">
                <a:solidFill>
                  <a:srgbClr val="C85350"/>
                </a:solidFill>
              </a:rPr>
              <a:t>annexe</a:t>
            </a:r>
            <a:r>
              <a:rPr lang="en-US" b="1" dirty="0">
                <a:solidFill>
                  <a:srgbClr val="C85350"/>
                </a:solidFill>
              </a:rPr>
              <a:t>)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717" y="1690005"/>
            <a:ext cx="1831278" cy="4562272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1534" y="1403370"/>
            <a:ext cx="2635449" cy="5135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2997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42</a:t>
            </a:fld>
            <a:endParaRPr lang="fr-FR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59" y="1414462"/>
            <a:ext cx="9334500" cy="4029075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Sequence of eight clusters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7940" y="2387066"/>
            <a:ext cx="1977200" cy="263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7984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43</a:t>
            </a:fld>
            <a:endParaRPr lang="fr-FR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977" y="2439699"/>
            <a:ext cx="9451723" cy="2543968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Substitution rule</a:t>
            </a:r>
            <a:endParaRPr lang="fr-FR" b="1" dirty="0">
              <a:solidFill>
                <a:srgbClr val="C853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05772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BC808-1C2F-4D0A-88AD-4B1C02A49358}" type="slidenum">
              <a:rPr lang="fr-FR" smtClean="0"/>
              <a:t>44</a:t>
            </a:fld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81000"/>
            <a:ext cx="10344150" cy="6096000"/>
          </a:xfrm>
          <a:prstGeom prst="rect">
            <a:avLst/>
          </a:prstGeom>
        </p:spPr>
      </p:pic>
      <p:sp>
        <p:nvSpPr>
          <p:cNvPr id="3" name="Titre 1">
            <a:extLst>
              <a:ext uri="{FF2B5EF4-FFF2-40B4-BE49-F238E27FC236}">
                <a16:creationId xmlns:a16="http://schemas.microsoft.com/office/drawing/2014/main" id="{B3907A0E-9D07-4747-8DBA-D983A43A3D95}"/>
              </a:ext>
            </a:extLst>
          </p:cNvPr>
          <p:cNvSpPr txBox="1">
            <a:spLocks/>
          </p:cNvSpPr>
          <p:nvPr/>
        </p:nvSpPr>
        <p:spPr>
          <a:xfrm>
            <a:off x="316859" y="136525"/>
            <a:ext cx="11558281" cy="1177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85350"/>
                </a:solidFill>
              </a:rPr>
              <a:t>Key points</a:t>
            </a:r>
            <a:endParaRPr lang="fr-FR" b="1" dirty="0">
              <a:solidFill>
                <a:srgbClr val="C85350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15" y="303640"/>
            <a:ext cx="3752747" cy="1010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417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79869</TotalTime>
  <Words>987</Words>
  <Application>Microsoft Office PowerPoint</Application>
  <PresentationFormat>Grand écran</PresentationFormat>
  <Paragraphs>266</Paragraphs>
  <Slides>44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44</vt:i4>
      </vt:variant>
    </vt:vector>
  </HeadingPairs>
  <TitlesOfParts>
    <vt:vector size="52" baseType="lpstr">
      <vt:lpstr>Arial</vt:lpstr>
      <vt:lpstr>Calibri</vt:lpstr>
      <vt:lpstr>Calibri Light</vt:lpstr>
      <vt:lpstr>CMR10</vt:lpstr>
      <vt:lpstr>Consolas</vt:lpstr>
      <vt:lpstr>Symbol</vt:lpstr>
      <vt:lpstr>Wingdings</vt:lpstr>
      <vt:lpstr>Thème Office</vt:lpstr>
      <vt:lpstr>Homochiral ideas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LPS-CNRS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SoftQC – Auto-assemblage de nanoparticules: des super-réseaux périodiques aux phases quasicristallines</dc:title>
  <dc:creator>Administrateur</dc:creator>
  <cp:lastModifiedBy>Administrateur</cp:lastModifiedBy>
  <cp:revision>944</cp:revision>
  <dcterms:created xsi:type="dcterms:W3CDTF">2024-05-03T12:49:25Z</dcterms:created>
  <dcterms:modified xsi:type="dcterms:W3CDTF">2025-10-13T15:49:49Z</dcterms:modified>
</cp:coreProperties>
</file>
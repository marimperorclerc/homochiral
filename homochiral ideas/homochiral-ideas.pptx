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797" r:id="rId2"/>
    <p:sldId id="769" r:id="rId3"/>
    <p:sldId id="795" r:id="rId4"/>
    <p:sldId id="771" r:id="rId5"/>
    <p:sldId id="775" r:id="rId6"/>
    <p:sldId id="776" r:id="rId7"/>
    <p:sldId id="778" r:id="rId8"/>
    <p:sldId id="777" r:id="rId9"/>
    <p:sldId id="799" r:id="rId10"/>
    <p:sldId id="783" r:id="rId11"/>
    <p:sldId id="785" r:id="rId12"/>
    <p:sldId id="743" r:id="rId13"/>
    <p:sldId id="794" r:id="rId14"/>
    <p:sldId id="772" r:id="rId15"/>
    <p:sldId id="786" r:id="rId16"/>
    <p:sldId id="774" r:id="rId17"/>
    <p:sldId id="788" r:id="rId18"/>
    <p:sldId id="789" r:id="rId19"/>
    <p:sldId id="781" r:id="rId20"/>
    <p:sldId id="714" r:id="rId21"/>
    <p:sldId id="791" r:id="rId22"/>
    <p:sldId id="790" r:id="rId23"/>
    <p:sldId id="754" r:id="rId24"/>
    <p:sldId id="793" r:id="rId25"/>
    <p:sldId id="792" r:id="rId26"/>
    <p:sldId id="779" r:id="rId27"/>
    <p:sldId id="744" r:id="rId28"/>
    <p:sldId id="745" r:id="rId29"/>
    <p:sldId id="746" r:id="rId30"/>
    <p:sldId id="747" r:id="rId31"/>
    <p:sldId id="748" r:id="rId32"/>
    <p:sldId id="711" r:id="rId33"/>
    <p:sldId id="715" r:id="rId34"/>
    <p:sldId id="770" r:id="rId35"/>
    <p:sldId id="729" r:id="rId36"/>
    <p:sldId id="736" r:id="rId37"/>
    <p:sldId id="737" r:id="rId38"/>
    <p:sldId id="738" r:id="rId39"/>
    <p:sldId id="739" r:id="rId40"/>
    <p:sldId id="740" r:id="rId41"/>
    <p:sldId id="742" r:id="rId42"/>
    <p:sldId id="741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ctives" id="{55E4413A-BE1F-4C01-BEB6-917B60851A1C}">
          <p14:sldIdLst>
            <p14:sldId id="797"/>
            <p14:sldId id="769"/>
            <p14:sldId id="795"/>
          </p14:sldIdLst>
        </p14:section>
        <p14:section name="Recent work" id="{FD8C0108-40DF-44EA-9165-79503E2CDD2A}">
          <p14:sldIdLst>
            <p14:sldId id="771"/>
            <p14:sldId id="775"/>
            <p14:sldId id="776"/>
            <p14:sldId id="778"/>
            <p14:sldId id="777"/>
            <p14:sldId id="799"/>
            <p14:sldId id="783"/>
            <p14:sldId id="785"/>
            <p14:sldId id="743"/>
            <p14:sldId id="794"/>
            <p14:sldId id="772"/>
            <p14:sldId id="786"/>
            <p14:sldId id="774"/>
            <p14:sldId id="788"/>
            <p14:sldId id="789"/>
            <p14:sldId id="781"/>
            <p14:sldId id="714"/>
            <p14:sldId id="791"/>
            <p14:sldId id="790"/>
          </p14:sldIdLst>
        </p14:section>
        <p14:section name="Link with Arnaud clusters" id="{77E64944-D2CD-4573-AFDB-C8BAD51DF0A9}">
          <p14:sldIdLst>
            <p14:sldId id="754"/>
            <p14:sldId id="793"/>
          </p14:sldIdLst>
        </p14:section>
        <p14:section name="To continue" id="{774D787A-0282-45A3-96CF-31BF8F746A98}">
          <p14:sldIdLst>
            <p14:sldId id="792"/>
            <p14:sldId id="779"/>
            <p14:sldId id="744"/>
            <p14:sldId id="745"/>
            <p14:sldId id="746"/>
            <p14:sldId id="747"/>
            <p14:sldId id="748"/>
            <p14:sldId id="711"/>
            <p14:sldId id="715"/>
          </p14:sldIdLst>
        </p14:section>
        <p14:section name="inflation construction with alternate chiralities" id="{C6D84095-218F-473E-889A-87A2937BC8EB}">
          <p14:sldIdLst>
            <p14:sldId id="770"/>
            <p14:sldId id="729"/>
            <p14:sldId id="736"/>
            <p14:sldId id="737"/>
            <p14:sldId id="738"/>
            <p14:sldId id="739"/>
            <p14:sldId id="740"/>
            <p14:sldId id="742"/>
            <p14:sldId id="7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FFCF"/>
    <a:srgbClr val="FF1616"/>
    <a:srgbClr val="1F4E79"/>
    <a:srgbClr val="AA10FF"/>
    <a:srgbClr val="05FF76"/>
    <a:srgbClr val="EDF8E9"/>
    <a:srgbClr val="C7E9C0"/>
    <a:srgbClr val="A1D99B"/>
    <a:srgbClr val="74C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552" autoAdjust="0"/>
    <p:restoredTop sz="93898" autoAdjust="0"/>
  </p:normalViewPr>
  <p:slideViewPr>
    <p:cSldViewPr snapToGrid="0">
      <p:cViewPr varScale="1">
        <p:scale>
          <a:sx n="63" d="100"/>
          <a:sy n="63" d="100"/>
        </p:scale>
        <p:origin x="7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279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1508-1146-4A69-8F99-8C5D9876FDBE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A558A-D0F6-4A23-840A-1A4E79F93C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55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D988-1420-4BDD-9CBC-4258686EC6AC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5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9031-BF04-471D-AD33-CD26C4CC2113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5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87DCB-0ED8-472B-BBCD-AAF1AA70433B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3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442D-88C1-46C3-B249-34BE66B5D513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1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3EF1F-00A4-46A5-AAC4-DB4177211361}" type="datetime1">
              <a:rPr lang="fr-FR" smtClean="0"/>
              <a:t>11/10/2025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C57D-F713-4353-8E97-B278908A2A56}" type="datetime1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06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040A-FB87-4644-AB04-C81EC379E170}" type="datetime1">
              <a:rPr lang="fr-FR" smtClean="0"/>
              <a:t>11/10/2025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9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2D1B-2239-4F9B-8FD3-0E31B8FA7FA2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42F1-F846-4CC5-948A-0D5DCFBD9C37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1584-49D1-4CE9-8058-FF5ACE68A6CF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0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9BB4-5566-4AB3-A06E-FF9EB735E0B4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7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A6CD-8586-41A8-8804-244B34B7E6DA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4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rawsvg/" TargetMode="External"/><Relationship Id="rId2" Type="http://schemas.openxmlformats.org/officeDocument/2006/relationships/hyperlink" Target="https://github.com/marimperorclerc/homochir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rx/spectre/blob/master/spectre.py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hyperlink" Target="https://cs.uwaterloo.ca/~csk/spectre/app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35.png"/><Relationship Id="rId4" Type="http://schemas.openxmlformats.org/officeDocument/2006/relationships/image" Target="../media/image22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 smtClean="0"/>
              <a:t>Homochiral</a:t>
            </a:r>
            <a:r>
              <a:rPr lang="fr-FR" dirty="0" smtClean="0"/>
              <a:t> </a:t>
            </a:r>
            <a:r>
              <a:rPr lang="fr-FR" dirty="0" err="1" smtClean="0"/>
              <a:t>ideas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Marianne </a:t>
            </a:r>
            <a:r>
              <a:rPr lang="fr-FR" sz="2800" dirty="0" err="1" smtClean="0"/>
              <a:t>Imperor</a:t>
            </a:r>
            <a:r>
              <a:rPr lang="fr-FR" sz="2800" dirty="0" smtClean="0"/>
              <a:t>-Clerc</a:t>
            </a:r>
          </a:p>
          <a:p>
            <a:r>
              <a:rPr lang="fr-FR" sz="2800" dirty="0" err="1" smtClean="0"/>
              <a:t>October</a:t>
            </a:r>
            <a:r>
              <a:rPr lang="fr-FR" sz="2800" dirty="0" smtClean="0"/>
              <a:t> 2025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4820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Objectives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12847" y="1634426"/>
            <a:ext cx="1040624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Keep</a:t>
            </a:r>
            <a:r>
              <a:rPr lang="fr-FR" sz="2800" dirty="0" smtClean="0"/>
              <a:t> the </a:t>
            </a:r>
            <a:r>
              <a:rPr lang="fr-FR" sz="2800" dirty="0" err="1" smtClean="0"/>
              <a:t>same</a:t>
            </a:r>
            <a:r>
              <a:rPr lang="fr-FR" sz="2800" dirty="0" smtClean="0"/>
              <a:t> </a:t>
            </a:r>
            <a:r>
              <a:rPr lang="fr-FR" sz="2800" dirty="0" err="1" smtClean="0"/>
              <a:t>chirality</a:t>
            </a:r>
            <a:r>
              <a:rPr lang="fr-FR" sz="2800" dirty="0" smtClean="0"/>
              <a:t> </a:t>
            </a:r>
            <a:r>
              <a:rPr lang="fr-FR" sz="2800" dirty="0" err="1" smtClean="0"/>
              <a:t>when</a:t>
            </a:r>
            <a:r>
              <a:rPr lang="fr-FR" sz="2800" dirty="0" smtClean="0"/>
              <a:t> building the </a:t>
            </a:r>
            <a:r>
              <a:rPr lang="fr-FR" sz="2800" dirty="0" err="1" smtClean="0"/>
              <a:t>whole</a:t>
            </a:r>
            <a:r>
              <a:rPr lang="fr-FR" sz="2800" dirty="0" smtClean="0"/>
              <a:t> </a:t>
            </a:r>
            <a:r>
              <a:rPr lang="fr-FR" sz="2800" dirty="0" err="1" smtClean="0"/>
              <a:t>tiling</a:t>
            </a:r>
            <a:r>
              <a:rPr lang="fr-FR" sz="2800" dirty="0" smtClean="0"/>
              <a:t> by inflation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</a:t>
            </a:r>
            <a:r>
              <a:rPr lang="fr-FR" sz="2800" dirty="0" err="1" smtClean="0"/>
              <a:t>only</a:t>
            </a:r>
            <a:r>
              <a:rPr lang="fr-FR" sz="2800" dirty="0" smtClean="0"/>
              <a:t> rotations and translations </a:t>
            </a:r>
            <a:r>
              <a:rPr lang="fr-FR" sz="2800" dirty="0" err="1" smtClean="0"/>
              <a:t>operations</a:t>
            </a:r>
            <a:r>
              <a:rPr lang="fr-FR" sz="2800" dirty="0" smtClean="0"/>
              <a:t>: no </a:t>
            </a:r>
            <a:r>
              <a:rPr lang="fr-FR" sz="2800" dirty="0" err="1" smtClean="0"/>
              <a:t>mirrors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(</a:t>
            </a:r>
            <a:r>
              <a:rPr lang="fr-FR" sz="2800" dirty="0" err="1" smtClean="0"/>
              <a:t>avoid</a:t>
            </a:r>
            <a:r>
              <a:rPr lang="fr-FR" sz="2800" dirty="0" smtClean="0"/>
              <a:t> usage of the four key-points in the original inflation </a:t>
            </a:r>
            <a:r>
              <a:rPr lang="fr-FR" sz="2800" dirty="0" err="1" smtClean="0"/>
              <a:t>rule</a:t>
            </a:r>
            <a:r>
              <a:rPr lang="fr-FR" sz="2800" dirty="0" smtClean="0"/>
              <a:t>)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Keep</a:t>
            </a:r>
            <a:r>
              <a:rPr lang="fr-FR" sz="2800" dirty="0" smtClean="0"/>
              <a:t> the </a:t>
            </a:r>
            <a:r>
              <a:rPr lang="fr-FR" sz="2800" dirty="0" err="1" smtClean="0"/>
              <a:t>monotile</a:t>
            </a:r>
            <a:r>
              <a:rPr lang="fr-FR" sz="2800" dirty="0" smtClean="0"/>
              <a:t> </a:t>
            </a:r>
            <a:r>
              <a:rPr lang="fr-FR" sz="2800" dirty="0" err="1" smtClean="0"/>
              <a:t>shape</a:t>
            </a:r>
            <a:r>
              <a:rPr lang="fr-FR" sz="2800" dirty="0" smtClean="0"/>
              <a:t>: 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a,b</a:t>
            </a:r>
            <a:r>
              <a:rPr lang="fr-FR" sz="2800" dirty="0" smtClean="0"/>
              <a:t>)+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b,a</a:t>
            </a:r>
            <a:r>
              <a:rPr lang="fr-FR" sz="28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cluster </a:t>
            </a:r>
            <a:r>
              <a:rPr lang="fr-FR" sz="2800" dirty="0" err="1" smtClean="0"/>
              <a:t>level</a:t>
            </a:r>
            <a:r>
              <a:rPr lang="fr-FR" sz="2800" dirty="0" smtClean="0"/>
              <a:t> (full cluster </a:t>
            </a:r>
            <a:r>
              <a:rPr lang="fr-FR" sz="2800" dirty="0" err="1" smtClean="0"/>
              <a:t>instead</a:t>
            </a:r>
            <a:r>
              <a:rPr lang="fr-FR" sz="2800" dirty="0" smtClean="0"/>
              <a:t> of gamma and </a:t>
            </a:r>
            <a:r>
              <a:rPr lang="fr-FR" sz="2800" dirty="0" err="1" smtClean="0"/>
              <a:t>omega</a:t>
            </a:r>
            <a:r>
              <a:rPr lang="fr-FR" sz="2800" dirty="0" smtClean="0"/>
              <a:t> </a:t>
            </a:r>
            <a:r>
              <a:rPr lang="fr-FR" sz="2800" dirty="0" err="1" smtClean="0"/>
              <a:t>ones</a:t>
            </a:r>
            <a:r>
              <a:rPr lang="fr-FR" sz="2800" dirty="0" smtClean="0"/>
              <a:t> ?)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Make</a:t>
            </a:r>
            <a:r>
              <a:rPr lang="fr-FR" sz="2800" dirty="0" smtClean="0"/>
              <a:t> full use of the </a:t>
            </a:r>
            <a:r>
              <a:rPr lang="fr-FR" sz="2800" dirty="0" err="1" smtClean="0"/>
              <a:t>mapping</a:t>
            </a:r>
            <a:r>
              <a:rPr lang="fr-FR" sz="2800" dirty="0" smtClean="0"/>
              <a:t> on a </a:t>
            </a:r>
            <a:r>
              <a:rPr lang="fr-FR" sz="2800" dirty="0" err="1" smtClean="0"/>
              <a:t>triangular</a:t>
            </a:r>
            <a:r>
              <a:rPr lang="fr-FR" sz="2800" dirty="0" smtClean="0"/>
              <a:t> </a:t>
            </a:r>
            <a:r>
              <a:rPr lang="fr-FR" sz="2800" dirty="0" err="1" smtClean="0"/>
              <a:t>lattice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Make</a:t>
            </a:r>
            <a:r>
              <a:rPr lang="fr-FR" sz="2800" dirty="0" smtClean="0"/>
              <a:t> full use of the ODD and EVEN orientations</a:t>
            </a:r>
          </a:p>
        </p:txBody>
      </p:sp>
    </p:spTree>
    <p:extLst>
      <p:ext uri="{BB962C8B-B14F-4D97-AF65-F5344CB8AC3E}">
        <p14:creationId xmlns:p14="http://schemas.microsoft.com/office/powerpoint/2010/main" val="244613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rgbClr val="C85350"/>
                </a:solidFill>
              </a:rPr>
              <a:t>Homochiral</a:t>
            </a:r>
            <a:r>
              <a:rPr lang="en-US" b="1" dirty="0" smtClean="0">
                <a:solidFill>
                  <a:srgbClr val="C85350"/>
                </a:solidFill>
              </a:rPr>
              <a:t> python code on </a:t>
            </a:r>
            <a:r>
              <a:rPr lang="en-US" b="1" dirty="0" err="1" smtClean="0">
                <a:solidFill>
                  <a:srgbClr val="C85350"/>
                </a:solidFill>
              </a:rPr>
              <a:t>github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41434" y="1447271"/>
            <a:ext cx="112171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Under construction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hlinkClick r:id="rId2"/>
              </a:rPr>
              <a:t>https://</a:t>
            </a:r>
            <a:r>
              <a:rPr lang="fr-FR" sz="2800" dirty="0" smtClean="0">
                <a:hlinkClick r:id="rId2"/>
              </a:rPr>
              <a:t>github.com/marimperorclerc/homochiral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r>
              <a:rPr lang="en-US" sz="2800" dirty="0"/>
              <a:t>python code for drawing clusters with Tile(</a:t>
            </a:r>
            <a:r>
              <a:rPr lang="en-US" sz="2800" dirty="0" err="1"/>
              <a:t>a,b</a:t>
            </a:r>
            <a:r>
              <a:rPr lang="en-US" sz="2800" dirty="0"/>
              <a:t>) in </a:t>
            </a:r>
            <a:r>
              <a:rPr lang="en-US" sz="2800" dirty="0" err="1"/>
              <a:t>svg</a:t>
            </a:r>
            <a:r>
              <a:rPr lang="en-US" sz="2800" dirty="0"/>
              <a:t> </a:t>
            </a:r>
            <a:r>
              <a:rPr lang="en-US" sz="2800" dirty="0" smtClean="0"/>
              <a:t>graphics.</a:t>
            </a:r>
          </a:p>
          <a:p>
            <a:endParaRPr lang="en-US" sz="2800" dirty="0"/>
          </a:p>
          <a:p>
            <a:r>
              <a:rPr lang="en-US" sz="2800" b="1" dirty="0"/>
              <a:t>References</a:t>
            </a:r>
          </a:p>
          <a:p>
            <a:r>
              <a:rPr lang="en-US" sz="2800" dirty="0"/>
              <a:t>Code is based on the </a:t>
            </a:r>
            <a:r>
              <a:rPr lang="en-US" sz="2800" dirty="0" err="1"/>
              <a:t>drawsvg</a:t>
            </a:r>
            <a:r>
              <a:rPr lang="en-US" sz="2800" dirty="0"/>
              <a:t> package: </a:t>
            </a:r>
            <a:endParaRPr lang="en-US" sz="2800" dirty="0" smtClean="0"/>
          </a:p>
          <a:p>
            <a:r>
              <a:rPr lang="en-US" sz="2800" dirty="0" smtClean="0">
                <a:hlinkClick r:id="rId3"/>
              </a:rPr>
              <a:t>https</a:t>
            </a:r>
            <a:r>
              <a:rPr lang="en-US" sz="2800" dirty="0">
                <a:hlinkClick r:id="rId3"/>
              </a:rPr>
              <a:t>://pypi.org/project/drawsvg/</a:t>
            </a:r>
            <a:endParaRPr lang="en-US" sz="2800" dirty="0"/>
          </a:p>
          <a:p>
            <a:r>
              <a:rPr lang="en-US" sz="2800" dirty="0"/>
              <a:t>And the python code with alternate chirality for inflation for </a:t>
            </a:r>
            <a:r>
              <a:rPr lang="en-US" sz="2800" dirty="0" err="1"/>
              <a:t>spectre</a:t>
            </a:r>
            <a:r>
              <a:rPr lang="en-US" sz="2800" dirty="0"/>
              <a:t> tiling: </a:t>
            </a:r>
            <a:endParaRPr lang="en-US" sz="2800" dirty="0" smtClean="0"/>
          </a:p>
          <a:p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://github.com/shrx/spectre/blob/master/spectre.py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87037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Recent work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13417" y="1738158"/>
            <a:ext cx="1081174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Decomposition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one full cluster </a:t>
            </a:r>
            <a:r>
              <a:rPr lang="fr-FR" sz="2800" dirty="0" err="1" smtClean="0"/>
              <a:t>with</a:t>
            </a:r>
            <a:r>
              <a:rPr lang="fr-FR" sz="2800" dirty="0" smtClean="0"/>
              <a:t> six ODD orientations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-&gt; </a:t>
            </a:r>
            <a:r>
              <a:rPr lang="fr-FR" sz="2800" dirty="0" err="1"/>
              <a:t>find</a:t>
            </a:r>
            <a:r>
              <a:rPr lang="fr-FR" sz="2800" dirty="0"/>
              <a:t> </a:t>
            </a:r>
            <a:r>
              <a:rPr lang="fr-FR" sz="2800" dirty="0" err="1"/>
              <a:t>some</a:t>
            </a:r>
            <a:r>
              <a:rPr lang="fr-FR" sz="2800" dirty="0"/>
              <a:t> ‘simple’ </a:t>
            </a:r>
            <a:r>
              <a:rPr lang="fr-FR" sz="2800" dirty="0" err="1"/>
              <a:t>relationships</a:t>
            </a:r>
            <a:r>
              <a:rPr lang="fr-FR" sz="2800" dirty="0"/>
              <a:t> </a:t>
            </a:r>
            <a:r>
              <a:rPr lang="fr-FR" sz="2800" dirty="0" err="1"/>
              <a:t>between</a:t>
            </a:r>
            <a:r>
              <a:rPr lang="fr-FR" sz="2800" dirty="0"/>
              <a:t> rotations and </a:t>
            </a:r>
            <a:r>
              <a:rPr lang="fr-FR" sz="2800" dirty="0" smtClean="0"/>
              <a:t>translations 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Identify</a:t>
            </a:r>
            <a:r>
              <a:rPr lang="fr-FR" sz="2800" dirty="0" smtClean="0"/>
              <a:t> </a:t>
            </a:r>
            <a:r>
              <a:rPr lang="fr-FR" sz="2800" dirty="0" err="1" smtClean="0"/>
              <a:t>regular</a:t>
            </a:r>
            <a:r>
              <a:rPr lang="fr-FR" sz="2800" dirty="0" smtClean="0"/>
              <a:t> triangles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with</a:t>
            </a:r>
            <a:r>
              <a:rPr lang="fr-FR" sz="2800" dirty="0" smtClean="0"/>
              <a:t> the </a:t>
            </a:r>
            <a:r>
              <a:rPr lang="fr-FR" sz="2800" dirty="0" err="1" smtClean="0"/>
              <a:t>trifle+bow-tie</a:t>
            </a:r>
            <a:r>
              <a:rPr lang="fr-FR" sz="2800" dirty="0" smtClean="0"/>
              <a:t> </a:t>
            </a:r>
            <a:r>
              <a:rPr lang="fr-FR" sz="2800" dirty="0" err="1" smtClean="0"/>
              <a:t>decomposition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a,b</a:t>
            </a:r>
            <a:r>
              <a:rPr lang="fr-FR" sz="2800" dirty="0" smtClean="0"/>
              <a:t>) + 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b,a</a:t>
            </a:r>
            <a:r>
              <a:rPr lang="fr-FR" sz="2800" dirty="0" smtClean="0"/>
              <a:t>) for ODD and EVEN </a:t>
            </a:r>
            <a:r>
              <a:rPr lang="fr-FR" sz="2800" dirty="0" err="1" smtClean="0"/>
              <a:t>orienations</a:t>
            </a: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20721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9670" y="5039163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4187851"/>
            <a:ext cx="5051460" cy="25336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24" y="1422041"/>
            <a:ext cx="9229725" cy="265747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901425" y="4187850"/>
            <a:ext cx="4145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Robust</a:t>
            </a:r>
            <a:r>
              <a:rPr lang="fr-FR" sz="2800" dirty="0" smtClean="0"/>
              <a:t> for </a:t>
            </a:r>
            <a:r>
              <a:rPr lang="fr-FR" sz="2800" dirty="0" err="1" smtClean="0"/>
              <a:t>any</a:t>
            </a:r>
            <a:r>
              <a:rPr lang="fr-FR" sz="2800" dirty="0" smtClean="0"/>
              <a:t> T(</a:t>
            </a:r>
            <a:r>
              <a:rPr lang="fr-FR" sz="2800" dirty="0" err="1" smtClean="0"/>
              <a:t>a,b</a:t>
            </a:r>
            <a:r>
              <a:rPr lang="fr-FR" sz="2800" dirty="0" smtClean="0"/>
              <a:t>) </a:t>
            </a:r>
            <a:r>
              <a:rPr lang="fr-FR" sz="2800" dirty="0" err="1" smtClean="0"/>
              <a:t>tile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118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6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Espace réservé du numéro de diapositive 1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BBC808-1C2F-4D0A-88AD-4B1C02A49358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1729198" y="6062297"/>
            <a:ext cx="8708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Edge</a:t>
            </a:r>
            <a:r>
              <a:rPr lang="fr-FR" sz="2800" dirty="0"/>
              <a:t> </a:t>
            </a:r>
            <a:r>
              <a:rPr lang="fr-FR" sz="2800" dirty="0" err="1"/>
              <a:t>length</a:t>
            </a:r>
            <a:r>
              <a:rPr lang="fr-FR" sz="2800" dirty="0"/>
              <a:t> of the </a:t>
            </a:r>
            <a:r>
              <a:rPr lang="fr-FR" sz="2800" dirty="0" err="1"/>
              <a:t>regular</a:t>
            </a:r>
            <a:r>
              <a:rPr lang="fr-FR" sz="2800" dirty="0"/>
              <a:t> triangle = </a:t>
            </a:r>
            <a:r>
              <a:rPr lang="fr-FR" sz="2800" dirty="0" err="1"/>
              <a:t>sqrt</a:t>
            </a:r>
            <a:r>
              <a:rPr lang="fr-FR" sz="2800" dirty="0"/>
              <a:t>(3)*</a:t>
            </a:r>
            <a:r>
              <a:rPr lang="fr-FR" sz="2800" dirty="0" err="1"/>
              <a:t>sqrt</a:t>
            </a:r>
            <a:r>
              <a:rPr lang="fr-FR" sz="2800" dirty="0"/>
              <a:t>(a^2+b^2)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496300" y="5368404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(6)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906281" y="5384198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735080" y="5403119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2*</a:t>
            </a:r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7687378" y="5403119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2*</a:t>
            </a:r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086319" y="5376107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755005" y="1190106"/>
            <a:ext cx="5807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Angle </a:t>
            </a:r>
            <a:r>
              <a:rPr lang="fr-FR" sz="2800" dirty="0" err="1"/>
              <a:t>between</a:t>
            </a:r>
            <a:r>
              <a:rPr lang="fr-FR" sz="2800" dirty="0"/>
              <a:t> </a:t>
            </a:r>
            <a:r>
              <a:rPr lang="fr-FR" sz="2800" dirty="0" err="1"/>
              <a:t>arrow</a:t>
            </a:r>
            <a:r>
              <a:rPr lang="fr-FR" sz="2800" dirty="0"/>
              <a:t> and x directions: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532568" y="1729316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Pi/4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186070" y="17460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47391" y="17311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8130056" y="17460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Pi/6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0447825" y="172931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0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29" y="2367287"/>
            <a:ext cx="10407775" cy="28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7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0" y="1762565"/>
            <a:ext cx="10036960" cy="459378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ODD and EVEN orientations for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19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8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4" y="2228738"/>
            <a:ext cx="10681376" cy="315724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Link with trifle and bow-tie in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82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06" y="619760"/>
            <a:ext cx="10483934" cy="5293359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Tile(1,1) : </a:t>
            </a:r>
            <a:r>
              <a:rPr lang="en-US" b="1" dirty="0" err="1" smtClean="0">
                <a:solidFill>
                  <a:srgbClr val="C85350"/>
                </a:solidFill>
              </a:rPr>
              <a:t>spectre</a:t>
            </a:r>
            <a:r>
              <a:rPr lang="en-US" b="1" dirty="0" smtClean="0">
                <a:solidFill>
                  <a:srgbClr val="C85350"/>
                </a:solidFill>
              </a:rPr>
              <a:t> tile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9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213485"/>
            <a:ext cx="8497887" cy="4337259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 and Tile(</a:t>
            </a:r>
            <a:r>
              <a:rPr lang="en-US" b="1" dirty="0" err="1" smtClean="0">
                <a:solidFill>
                  <a:srgbClr val="C85350"/>
                </a:solidFill>
              </a:rPr>
              <a:t>b,a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752600" y="5260137"/>
            <a:ext cx="9364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Thin</a:t>
            </a:r>
            <a:r>
              <a:rPr lang="fr-FR" sz="2800" dirty="0" smtClean="0"/>
              <a:t> </a:t>
            </a:r>
            <a:r>
              <a:rPr lang="fr-FR" sz="2800" dirty="0" smtClean="0"/>
              <a:t>and fat </a:t>
            </a:r>
            <a:r>
              <a:rPr lang="fr-FR" sz="2800" dirty="0" err="1" smtClean="0"/>
              <a:t>bow-ties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Trifle</a:t>
            </a:r>
            <a:r>
              <a:rPr lang="fr-FR" sz="2800" dirty="0" smtClean="0"/>
              <a:t> </a:t>
            </a:r>
            <a:r>
              <a:rPr lang="fr-FR" sz="2800" dirty="0" err="1" smtClean="0"/>
              <a:t>gives</a:t>
            </a:r>
            <a:r>
              <a:rPr lang="fr-FR" sz="2800" dirty="0" smtClean="0"/>
              <a:t> </a:t>
            </a:r>
            <a:r>
              <a:rPr lang="fr-FR" sz="2800" dirty="0" err="1" smtClean="0"/>
              <a:t>left</a:t>
            </a:r>
            <a:r>
              <a:rPr lang="fr-FR" sz="2800" dirty="0" smtClean="0"/>
              <a:t> and right chiral </a:t>
            </a:r>
            <a:r>
              <a:rPr lang="fr-FR" sz="2800" dirty="0" err="1" smtClean="0"/>
              <a:t>shapes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The 12 base </a:t>
            </a:r>
            <a:r>
              <a:rPr lang="fr-FR" sz="2800" dirty="0" err="1" smtClean="0"/>
              <a:t>vectors</a:t>
            </a:r>
            <a:r>
              <a:rPr lang="fr-FR" sz="2800" dirty="0" smtClean="0"/>
              <a:t> </a:t>
            </a:r>
            <a:r>
              <a:rPr lang="fr-FR" sz="2800" dirty="0" err="1" smtClean="0"/>
              <a:t>deduce</a:t>
            </a:r>
            <a:r>
              <a:rPr lang="fr-FR" sz="2800" dirty="0" smtClean="0"/>
              <a:t> </a:t>
            </a:r>
            <a:r>
              <a:rPr lang="fr-FR" sz="2800" dirty="0" err="1" smtClean="0"/>
              <a:t>from</a:t>
            </a:r>
            <a:r>
              <a:rPr lang="fr-FR" sz="2800" dirty="0" smtClean="0"/>
              <a:t> a vertical </a:t>
            </a:r>
            <a:r>
              <a:rPr lang="fr-FR" sz="2800" dirty="0" err="1" smtClean="0"/>
              <a:t>mirror</a:t>
            </a:r>
            <a:r>
              <a:rPr lang="fr-FR" sz="2800" dirty="0" smtClean="0"/>
              <a:t> </a:t>
            </a:r>
            <a:r>
              <a:rPr lang="fr-FR" sz="2800" dirty="0" err="1" smtClean="0"/>
              <a:t>reflection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969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 and Tile(</a:t>
            </a:r>
            <a:r>
              <a:rPr lang="en-US" b="1" dirty="0" err="1" smtClean="0">
                <a:solidFill>
                  <a:srgbClr val="C85350"/>
                </a:solidFill>
              </a:rPr>
              <a:t>b,a</a:t>
            </a:r>
            <a:r>
              <a:rPr lang="en-US" b="1" dirty="0" smtClean="0">
                <a:solidFill>
                  <a:srgbClr val="C85350"/>
                </a:solidFill>
              </a:rPr>
              <a:t>) for turtle and hat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752600" y="5260137"/>
            <a:ext cx="9364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Thick</a:t>
            </a:r>
            <a:r>
              <a:rPr lang="fr-FR" sz="2800" dirty="0" smtClean="0"/>
              <a:t> and fat </a:t>
            </a:r>
            <a:r>
              <a:rPr lang="fr-FR" sz="2800" dirty="0" err="1" smtClean="0"/>
              <a:t>bow-ties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Trifle</a:t>
            </a:r>
            <a:r>
              <a:rPr lang="fr-FR" sz="2800" dirty="0" smtClean="0"/>
              <a:t> </a:t>
            </a:r>
            <a:r>
              <a:rPr lang="fr-FR" sz="2800" dirty="0" err="1" smtClean="0"/>
              <a:t>gives</a:t>
            </a:r>
            <a:r>
              <a:rPr lang="fr-FR" sz="2800" dirty="0" smtClean="0"/>
              <a:t> </a:t>
            </a:r>
            <a:r>
              <a:rPr lang="fr-FR" sz="2800" dirty="0" err="1" smtClean="0"/>
              <a:t>left</a:t>
            </a:r>
            <a:r>
              <a:rPr lang="fr-FR" sz="2800" dirty="0" smtClean="0"/>
              <a:t> and right chiral </a:t>
            </a:r>
            <a:r>
              <a:rPr lang="fr-FR" sz="2800" dirty="0" err="1" smtClean="0"/>
              <a:t>shapes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The 12 base </a:t>
            </a:r>
            <a:r>
              <a:rPr lang="fr-FR" sz="2800" dirty="0" err="1" smtClean="0"/>
              <a:t>vectors</a:t>
            </a:r>
            <a:r>
              <a:rPr lang="fr-FR" sz="2800" dirty="0" smtClean="0"/>
              <a:t> </a:t>
            </a:r>
            <a:r>
              <a:rPr lang="fr-FR" sz="2800" dirty="0" err="1" smtClean="0"/>
              <a:t>deduce</a:t>
            </a:r>
            <a:r>
              <a:rPr lang="fr-FR" sz="2800" dirty="0" smtClean="0"/>
              <a:t> </a:t>
            </a:r>
            <a:r>
              <a:rPr lang="fr-FR" sz="2800" dirty="0" err="1" smtClean="0"/>
              <a:t>from</a:t>
            </a:r>
            <a:r>
              <a:rPr lang="fr-FR" sz="2800" dirty="0" smtClean="0"/>
              <a:t> a vertical </a:t>
            </a:r>
            <a:r>
              <a:rPr lang="fr-FR" sz="2800" dirty="0" err="1" smtClean="0"/>
              <a:t>mirror</a:t>
            </a:r>
            <a:r>
              <a:rPr lang="fr-FR" sz="2800" dirty="0" smtClean="0"/>
              <a:t> </a:t>
            </a:r>
            <a:r>
              <a:rPr lang="fr-FR" sz="2800" dirty="0" err="1" smtClean="0"/>
              <a:t>reflection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100137"/>
            <a:ext cx="93821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9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12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Duplicated versus inverted for any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339112" y="5649045"/>
            <a:ext cx="722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versus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endParaRPr lang="fr-FR" sz="28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3" y="1289289"/>
            <a:ext cx="9698037" cy="42677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7097" y="1506656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0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561" y="1134520"/>
            <a:ext cx="8220075" cy="446722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999571" y="5091084"/>
            <a:ext cx="3586480" cy="13809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2 </a:t>
            </a:r>
            <a:r>
              <a:rPr lang="fr-FR" sz="2800" b="1" dirty="0" err="1"/>
              <a:t>other</a:t>
            </a:r>
            <a:r>
              <a:rPr lang="fr-FR" sz="2800" b="1" dirty="0"/>
              <a:t> </a:t>
            </a:r>
            <a:r>
              <a:rPr lang="fr-FR" sz="2800" b="1" dirty="0" err="1"/>
              <a:t>shapes</a:t>
            </a:r>
            <a:r>
              <a:rPr lang="fr-FR" sz="2800" b="1" dirty="0"/>
              <a:t> are </a:t>
            </a:r>
            <a:r>
              <a:rPr lang="fr-FR" sz="2800" b="1" dirty="0" err="1"/>
              <a:t>left</a:t>
            </a:r>
            <a:r>
              <a:rPr lang="fr-FR" sz="2800" b="1" dirty="0"/>
              <a:t>:</a:t>
            </a:r>
          </a:p>
          <a:p>
            <a:r>
              <a:rPr lang="fr-FR" sz="2800" b="1" dirty="0"/>
              <a:t>-&gt; 2 </a:t>
            </a:r>
            <a:r>
              <a:rPr lang="fr-FR" sz="2800" b="1" dirty="0" err="1"/>
              <a:t>half-bows</a:t>
            </a:r>
            <a:endParaRPr lang="fr-FR" sz="2800" b="1" dirty="0"/>
          </a:p>
          <a:p>
            <a:r>
              <a:rPr lang="fr-FR" sz="2800" b="1" dirty="0"/>
              <a:t>-&gt; 1 </a:t>
            </a:r>
            <a:r>
              <a:rPr lang="fr-FR" sz="2800" b="1" dirty="0" err="1"/>
              <a:t>half-trifle</a:t>
            </a:r>
            <a:endParaRPr lang="fr-FR" sz="2800" b="1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223406" y="4093089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trifle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991337" y="3220324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bow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3322669" y="1745854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bow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593426" y="5402243"/>
            <a:ext cx="4034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versus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endParaRPr lang="fr-FR" sz="28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Duplicated versus inverted for right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14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331" y="2133600"/>
            <a:ext cx="3170730" cy="29746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068" y="1469262"/>
            <a:ext cx="4333470" cy="42052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3468" y="154515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669804" y="5790070"/>
            <a:ext cx="6852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</a:rPr>
              <a:t>Green points </a:t>
            </a:r>
            <a:r>
              <a:rPr lang="fr-FR" sz="2800" dirty="0" err="1" smtClean="0">
                <a:solidFill>
                  <a:srgbClr val="FF0000"/>
                </a:solidFill>
              </a:rPr>
              <a:t>always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err="1" smtClean="0">
                <a:solidFill>
                  <a:srgbClr val="FF0000"/>
                </a:solidFill>
              </a:rPr>
              <a:t>form</a:t>
            </a:r>
            <a:r>
              <a:rPr lang="fr-FR" sz="2800" dirty="0" smtClean="0">
                <a:solidFill>
                  <a:srgbClr val="FF0000"/>
                </a:solidFill>
              </a:rPr>
              <a:t> a </a:t>
            </a:r>
            <a:r>
              <a:rPr lang="fr-FR" sz="2800" dirty="0" err="1" smtClean="0">
                <a:solidFill>
                  <a:srgbClr val="FF0000"/>
                </a:solidFill>
              </a:rPr>
              <a:t>regular</a:t>
            </a:r>
            <a:r>
              <a:rPr lang="fr-FR" sz="2800" dirty="0" smtClean="0">
                <a:solidFill>
                  <a:srgbClr val="FF0000"/>
                </a:solidFill>
              </a:rPr>
              <a:t> triangle </a:t>
            </a:r>
            <a:r>
              <a:rPr lang="fr-FR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76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1" y="1856395"/>
            <a:ext cx="12220575" cy="3409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6859" y="1367541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7128584" y="5153917"/>
            <a:ext cx="4506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Three</a:t>
            </a:r>
            <a:r>
              <a:rPr lang="fr-FR" sz="2800" dirty="0" smtClean="0"/>
              <a:t> more possible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inversion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the green points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232718" y="4971355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 cluster</a:t>
            </a:r>
          </a:p>
          <a:p>
            <a:r>
              <a:rPr lang="fr-FR" sz="2800" dirty="0" smtClean="0"/>
              <a:t>(corona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a ODD </a:t>
            </a:r>
            <a:r>
              <a:rPr lang="fr-FR" sz="2800" dirty="0" err="1" smtClean="0"/>
              <a:t>tile</a:t>
            </a:r>
            <a:r>
              <a:rPr lang="fr-FR" sz="2800" dirty="0" smtClean="0"/>
              <a:t>)</a:t>
            </a:r>
            <a:endParaRPr lang="fr-FR" sz="2800" dirty="0"/>
          </a:p>
        </p:txBody>
      </p:sp>
      <p:sp>
        <p:nvSpPr>
          <p:cNvPr id="13" name="ZoneTexte 12"/>
          <p:cNvSpPr txBox="1"/>
          <p:nvPr/>
        </p:nvSpPr>
        <p:spPr>
          <a:xfrm>
            <a:off x="3371135" y="5123754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The </a:t>
            </a:r>
            <a:r>
              <a:rPr lang="fr-FR" sz="2800" dirty="0" err="1" smtClean="0"/>
              <a:t>three</a:t>
            </a:r>
            <a:r>
              <a:rPr lang="fr-FR" sz="2800" dirty="0" smtClean="0"/>
              <a:t>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are all in the </a:t>
            </a:r>
            <a:r>
              <a:rPr lang="fr-FR" sz="2800" dirty="0" err="1" smtClean="0"/>
              <a:t>tiling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6247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137823" y="5042118"/>
            <a:ext cx="111684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TO DO: code </a:t>
            </a:r>
            <a:r>
              <a:rPr lang="fr-FR" sz="2800" dirty="0" err="1" smtClean="0"/>
              <a:t>assembly</a:t>
            </a:r>
            <a:r>
              <a:rPr lang="fr-FR" sz="2800" dirty="0" smtClean="0"/>
              <a:t> </a:t>
            </a:r>
            <a:r>
              <a:rPr lang="fr-FR" sz="2800" dirty="0" err="1" smtClean="0"/>
              <a:t>rules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translations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triangle </a:t>
            </a:r>
            <a:r>
              <a:rPr lang="fr-FR" sz="2800" dirty="0" err="1" smtClean="0"/>
              <a:t>edges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translations and relative ODD orientations ???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-&gt; </a:t>
            </a:r>
            <a:r>
              <a:rPr lang="fr-FR" sz="2800" dirty="0" err="1" smtClean="0"/>
              <a:t>combinatory</a:t>
            </a:r>
            <a:r>
              <a:rPr lang="fr-FR" sz="2800" dirty="0" smtClean="0"/>
              <a:t> </a:t>
            </a:r>
            <a:r>
              <a:rPr lang="fr-FR" sz="2800" dirty="0" err="1" smtClean="0"/>
              <a:t>properties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17951" y="120663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8" y="2366929"/>
            <a:ext cx="11543591" cy="25678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4831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C1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2766898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C2</a:t>
            </a: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4547572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C3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6405248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C4</a:t>
            </a:r>
            <a:endParaRPr lang="fr-FR" sz="2400" dirty="0"/>
          </a:p>
        </p:txBody>
      </p:sp>
      <p:sp>
        <p:nvSpPr>
          <p:cNvPr id="12" name="Rectangle 11"/>
          <p:cNvSpPr/>
          <p:nvPr/>
        </p:nvSpPr>
        <p:spPr>
          <a:xfrm>
            <a:off x="8610600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C5</a:t>
            </a:r>
            <a:endParaRPr lang="fr-FR" sz="2400" dirty="0"/>
          </a:p>
        </p:txBody>
      </p:sp>
      <p:sp>
        <p:nvSpPr>
          <p:cNvPr id="13" name="Rectangle 12"/>
          <p:cNvSpPr/>
          <p:nvPr/>
        </p:nvSpPr>
        <p:spPr>
          <a:xfrm>
            <a:off x="10777144" y="2114357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C6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1166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9" y="2270415"/>
            <a:ext cx="11752036" cy="2515974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951" y="120663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4831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C1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2766898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C2</a:t>
            </a: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4547572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C3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6405248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C4</a:t>
            </a:r>
            <a:endParaRPr lang="fr-FR" sz="2400" dirty="0"/>
          </a:p>
        </p:txBody>
      </p:sp>
      <p:sp>
        <p:nvSpPr>
          <p:cNvPr id="12" name="Rectangle 11"/>
          <p:cNvSpPr/>
          <p:nvPr/>
        </p:nvSpPr>
        <p:spPr>
          <a:xfrm>
            <a:off x="8610600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C5</a:t>
            </a:r>
            <a:endParaRPr lang="fr-FR" sz="2400" dirty="0"/>
          </a:p>
        </p:txBody>
      </p:sp>
      <p:sp>
        <p:nvSpPr>
          <p:cNvPr id="13" name="Rectangle 12"/>
          <p:cNvSpPr/>
          <p:nvPr/>
        </p:nvSpPr>
        <p:spPr>
          <a:xfrm>
            <a:off x="10777144" y="2114357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C6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137823" y="5042118"/>
            <a:ext cx="111684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TO DO: code </a:t>
            </a:r>
            <a:r>
              <a:rPr lang="fr-FR" sz="2800" dirty="0" err="1" smtClean="0"/>
              <a:t>assembly</a:t>
            </a:r>
            <a:r>
              <a:rPr lang="fr-FR" sz="2800" dirty="0" smtClean="0"/>
              <a:t> </a:t>
            </a:r>
            <a:r>
              <a:rPr lang="fr-FR" sz="2800" dirty="0" err="1" smtClean="0"/>
              <a:t>rules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translations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triangle </a:t>
            </a:r>
            <a:r>
              <a:rPr lang="fr-FR" sz="2800" dirty="0" err="1" smtClean="0"/>
              <a:t>edges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translations and relative ODD orientations ???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-&gt; </a:t>
            </a:r>
            <a:r>
              <a:rPr lang="fr-FR" sz="2800" dirty="0" err="1" smtClean="0"/>
              <a:t>combinatory</a:t>
            </a:r>
            <a:r>
              <a:rPr lang="fr-FR" sz="2800" dirty="0" smtClean="0"/>
              <a:t> </a:t>
            </a:r>
            <a:r>
              <a:rPr lang="fr-FR" sz="2800" dirty="0" err="1" smtClean="0"/>
              <a:t>properties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653006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18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1399178"/>
            <a:ext cx="4529772" cy="474222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5" y="1955800"/>
            <a:ext cx="4619789" cy="381158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Some combination of three clusters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764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19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C1, C3 ,C5 triangle : 5 possible combinations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15" y="1437378"/>
            <a:ext cx="6273244" cy="488094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531127" y="2863691"/>
            <a:ext cx="4246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Possible </a:t>
            </a:r>
            <a:r>
              <a:rPr lang="fr-FR" sz="2800" dirty="0" err="1" smtClean="0"/>
              <a:t>seed</a:t>
            </a:r>
            <a:r>
              <a:rPr lang="fr-FR" sz="2800" dirty="0" smtClean="0"/>
              <a:t> for </a:t>
            </a:r>
            <a:r>
              <a:rPr lang="fr-FR" sz="2800" dirty="0" err="1" smtClean="0"/>
              <a:t>homochiral</a:t>
            </a:r>
            <a:r>
              <a:rPr lang="fr-FR" sz="2800" dirty="0" smtClean="0"/>
              <a:t> inflation ???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971788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 by keeping the black </a:t>
            </a:r>
            <a:r>
              <a:rPr lang="en-US" b="1" dirty="0" smtClean="0">
                <a:solidFill>
                  <a:srgbClr val="C85350"/>
                </a:solidFill>
              </a:rPr>
              <a:t>line when superposition with a green one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25" y="1655802"/>
            <a:ext cx="9535856" cy="422016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080782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</a:t>
            </a:r>
            <a:r>
              <a:rPr lang="en-US" b="1" dirty="0" smtClean="0">
                <a:solidFill>
                  <a:srgbClr val="C85350"/>
                </a:solidFill>
              </a:rPr>
              <a:t>healing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1" y="1570221"/>
            <a:ext cx="5630509" cy="42351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680" y="1460010"/>
            <a:ext cx="5779293" cy="434533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608589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22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</a:t>
            </a:r>
            <a:r>
              <a:rPr lang="en-US" b="1" dirty="0" smtClean="0">
                <a:solidFill>
                  <a:srgbClr val="C85350"/>
                </a:solidFill>
              </a:rPr>
              <a:t>healing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93" y="1313707"/>
            <a:ext cx="4675770" cy="451052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97" y="1361301"/>
            <a:ext cx="4901886" cy="46529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34798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23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037419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051A3091-2EA5-465A-A4C4-48DDA269330D}"/>
              </a:ext>
            </a:extLst>
          </p:cNvPr>
          <p:cNvSpPr txBox="1">
            <a:spLocks/>
          </p:cNvSpPr>
          <p:nvPr/>
        </p:nvSpPr>
        <p:spPr>
          <a:xfrm>
            <a:off x="7770824" y="3059698"/>
            <a:ext cx="4676752" cy="6067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err="1">
                <a:solidFill>
                  <a:srgbClr val="FF0000"/>
                </a:solidFill>
              </a:rPr>
              <a:t>Combinatorial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err="1">
                <a:solidFill>
                  <a:srgbClr val="FF0000"/>
                </a:solidFill>
              </a:rPr>
              <a:t>properties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Types of hexagonal clusters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139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24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644" y="890812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Find equivalence with the hexagonal clusters 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81605" flipH="1">
            <a:off x="776961" y="3023274"/>
            <a:ext cx="2168926" cy="22706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9462" flipV="1">
            <a:off x="3346257" y="3074649"/>
            <a:ext cx="2627578" cy="21679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6247644" y="2406316"/>
            <a:ext cx="1962705" cy="368647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608686" y="2539517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?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594164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25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Further ideas …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50948" y="1574056"/>
            <a:ext cx="103358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cluster </a:t>
            </a:r>
            <a:r>
              <a:rPr lang="fr-FR" sz="2800" dirty="0" err="1" smtClean="0"/>
              <a:t>level</a:t>
            </a:r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For rotation part: CODE the </a:t>
            </a:r>
            <a:r>
              <a:rPr lang="fr-FR" sz="2800" dirty="0" err="1" smtClean="0"/>
              <a:t>sequence</a:t>
            </a:r>
            <a:r>
              <a:rPr lang="fr-FR" sz="2800" dirty="0" smtClean="0"/>
              <a:t> of the six rotations in the C cluster to </a:t>
            </a:r>
            <a:r>
              <a:rPr lang="fr-FR" sz="2800" dirty="0" err="1" smtClean="0"/>
              <a:t>be</a:t>
            </a:r>
            <a:r>
              <a:rPr lang="fr-FR" sz="2800" dirty="0" smtClean="0"/>
              <a:t> </a:t>
            </a:r>
            <a:r>
              <a:rPr lang="fr-FR" sz="2800" dirty="0" err="1" smtClean="0"/>
              <a:t>repeated</a:t>
            </a:r>
            <a:r>
              <a:rPr lang="fr-FR" sz="2800" dirty="0" smtClean="0"/>
              <a:t> at </a:t>
            </a:r>
            <a:r>
              <a:rPr lang="fr-FR" sz="2800" dirty="0" err="1" smtClean="0"/>
              <a:t>larger</a:t>
            </a:r>
            <a:r>
              <a:rPr lang="fr-FR" sz="2800" dirty="0" smtClean="0"/>
              <a:t> </a:t>
            </a:r>
            <a:r>
              <a:rPr lang="fr-FR" sz="2800" dirty="0" err="1" smtClean="0"/>
              <a:t>length</a:t>
            </a:r>
            <a:r>
              <a:rPr lang="fr-FR" sz="2800" dirty="0" smtClean="0"/>
              <a:t> </a:t>
            </a:r>
            <a:r>
              <a:rPr lang="fr-FR" sz="2800" dirty="0" err="1" smtClean="0"/>
              <a:t>scales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For translation part: use the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the </a:t>
            </a:r>
            <a:r>
              <a:rPr lang="fr-FR" sz="2800" dirty="0" err="1" smtClean="0"/>
              <a:t>reference</a:t>
            </a:r>
            <a:r>
              <a:rPr lang="fr-FR" sz="2800" dirty="0" smtClean="0"/>
              <a:t> triangles and the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the </a:t>
            </a:r>
            <a:r>
              <a:rPr lang="fr-FR" sz="2800" dirty="0" err="1" smtClean="0"/>
              <a:t>three</a:t>
            </a:r>
            <a:r>
              <a:rPr lang="fr-FR" sz="2800" dirty="0" smtClean="0"/>
              <a:t> green points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Hypothesis</a:t>
            </a:r>
            <a:r>
              <a:rPr lang="fr-FR" sz="2800" dirty="0" smtClean="0"/>
              <a:t>: </a:t>
            </a:r>
            <a:r>
              <a:rPr lang="fr-FR" sz="2800" dirty="0" err="1" smtClean="0"/>
              <a:t>rule</a:t>
            </a:r>
            <a:r>
              <a:rPr lang="fr-FR" sz="2800" dirty="0" smtClean="0"/>
              <a:t> </a:t>
            </a:r>
            <a:r>
              <a:rPr lang="fr-FR" sz="2800" dirty="0" err="1" smtClean="0"/>
              <a:t>is</a:t>
            </a:r>
            <a:r>
              <a:rPr lang="fr-FR" sz="2800" dirty="0" smtClean="0"/>
              <a:t> </a:t>
            </a:r>
            <a:r>
              <a:rPr lang="fr-FR" sz="2800" dirty="0" err="1" smtClean="0"/>
              <a:t>that</a:t>
            </a:r>
            <a:r>
              <a:rPr lang="fr-FR" sz="2800" dirty="0" smtClean="0"/>
              <a:t> </a:t>
            </a:r>
            <a:r>
              <a:rPr lang="fr-FR" sz="2800" dirty="0" err="1" smtClean="0"/>
              <a:t>when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superimposed</a:t>
            </a:r>
            <a:r>
              <a:rPr lang="fr-FR" sz="2800" dirty="0" smtClean="0"/>
              <a:t> </a:t>
            </a:r>
            <a:r>
              <a:rPr lang="fr-FR" sz="2800" dirty="0" err="1" smtClean="0"/>
              <a:t>with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at a green point, one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</a:t>
            </a:r>
            <a:r>
              <a:rPr lang="fr-FR" sz="2800" dirty="0" err="1" smtClean="0"/>
              <a:t>is</a:t>
            </a:r>
            <a:r>
              <a:rPr lang="fr-FR" sz="2800" dirty="0" smtClean="0"/>
              <a:t> </a:t>
            </a:r>
            <a:r>
              <a:rPr lang="fr-FR" sz="2800" dirty="0" err="1" smtClean="0"/>
              <a:t>omitted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Use the green points to assemble the clusters ???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3586404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26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966" y="2411499"/>
            <a:ext cx="2237845" cy="2983793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Add the full cluster at this level </a:t>
            </a:r>
            <a:r>
              <a:rPr lang="en-US" b="1" dirty="0" smtClean="0">
                <a:solidFill>
                  <a:srgbClr val="C85350"/>
                </a:solidFill>
                <a:sym typeface="Wingdings" panose="05000000000000000000" pitchFamily="2" charset="2"/>
              </a:rPr>
              <a:t>???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Triangle isocèle 4"/>
          <p:cNvSpPr/>
          <p:nvPr/>
        </p:nvSpPr>
        <p:spPr>
          <a:xfrm rot="16200000" flipH="1">
            <a:off x="7192463" y="3761259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riangle isocèle 5"/>
          <p:cNvSpPr/>
          <p:nvPr/>
        </p:nvSpPr>
        <p:spPr>
          <a:xfrm rot="16200000" flipH="1">
            <a:off x="8973136" y="3761259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riangle isocèle 6"/>
          <p:cNvSpPr/>
          <p:nvPr/>
        </p:nvSpPr>
        <p:spPr>
          <a:xfrm rot="16200000" flipH="1">
            <a:off x="8116488" y="2211590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167" y="2153838"/>
            <a:ext cx="2237845" cy="298379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8804693" y="1939861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9697423" y="4461683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7037248" y="3953764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riangle isocèle 11"/>
          <p:cNvSpPr/>
          <p:nvPr/>
        </p:nvSpPr>
        <p:spPr>
          <a:xfrm rot="16200000" flipH="1">
            <a:off x="7205691" y="2731334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7024020" y="2916829"/>
            <a:ext cx="452388" cy="4716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7050884" y="297721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C1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7037656" y="399653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C4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9711059" y="451283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C3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8831965" y="196917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545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27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952996"/>
            <a:ext cx="4049395" cy="39807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658" y="2165326"/>
            <a:ext cx="4056258" cy="387781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516" y="2062809"/>
            <a:ext cx="3864084" cy="3761133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Triangles inside a full cluster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77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28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40547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Identification of junction lines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254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29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37446" y="3885758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0" name="ZoneTexte 9"/>
          <p:cNvSpPr txBox="1"/>
          <p:nvPr/>
        </p:nvSpPr>
        <p:spPr>
          <a:xfrm>
            <a:off x="4425422" y="3555248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248248" y="4348468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454374" y="4475426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/2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65059" y="3615890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4082064" y="4969328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813124" y="3193037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404010" y="2469941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980077" y="4092835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169392" y="4864845"/>
            <a:ext cx="5196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040460" y="3387374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710621" y="2933123"/>
            <a:ext cx="708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730310" y="4346751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314137" y="4706498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/6+4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465084" y="2740335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309947" y="4531940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073790" y="5223244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</p:spTree>
    <p:extLst>
      <p:ext uri="{BB962C8B-B14F-4D97-AF65-F5344CB8AC3E}">
        <p14:creationId xmlns:p14="http://schemas.microsoft.com/office/powerpoint/2010/main" val="4222872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30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08104" y="3471722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65059" y="3615890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813124" y="319303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9" name="ZoneTexte 18"/>
          <p:cNvSpPr txBox="1"/>
          <p:nvPr/>
        </p:nvSpPr>
        <p:spPr>
          <a:xfrm>
            <a:off x="5183823" y="4809652"/>
            <a:ext cx="429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3p/3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133594" y="3344764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48018" y="3016890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12502" y="4302101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476460" y="4509477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4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425422" y="2464081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279450" y="4390784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101488" y="5013819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829556" y="3849681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5064318" y="410359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151154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31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79183" y="3454154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13" name="ZoneTexte 12"/>
          <p:cNvSpPr txBox="1"/>
          <p:nvPr/>
        </p:nvSpPr>
        <p:spPr>
          <a:xfrm>
            <a:off x="3332906" y="3637091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871185" y="3217806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9" name="ZoneTexte 18"/>
          <p:cNvSpPr txBox="1"/>
          <p:nvPr/>
        </p:nvSpPr>
        <p:spPr>
          <a:xfrm>
            <a:off x="5259590" y="4832111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3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176064" y="3327196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21" name="ZoneTexte 20"/>
          <p:cNvSpPr txBox="1"/>
          <p:nvPr/>
        </p:nvSpPr>
        <p:spPr>
          <a:xfrm>
            <a:off x="3966112" y="3031414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39296" y="4300372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23" name="ZoneTexte 22"/>
          <p:cNvSpPr txBox="1"/>
          <p:nvPr/>
        </p:nvSpPr>
        <p:spPr>
          <a:xfrm>
            <a:off x="3558571" y="451001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4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508104" y="2489481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342508" y="4357513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163059" y="4989388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848018" y="3853349"/>
            <a:ext cx="4459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-1</a:t>
            </a:r>
            <a:r>
              <a:rPr lang="fr-FR" sz="1050" dirty="0"/>
              <a:t>/2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5064318" y="410359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29" name="ZoneTexte 28"/>
          <p:cNvSpPr txBox="1"/>
          <p:nvPr/>
        </p:nvSpPr>
        <p:spPr>
          <a:xfrm>
            <a:off x="1600503" y="3661240"/>
            <a:ext cx="8739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/3=2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  <a:p>
            <a:r>
              <a:rPr lang="fr-FR" sz="1050" dirty="0" err="1"/>
              <a:t>factorization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2185745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5F376C-44C8-4A13-AC06-CC126AD3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5" y="2255243"/>
            <a:ext cx="1224483" cy="12244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CB60AF-C942-4DE8-AB44-675766A7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72" y="1945404"/>
            <a:ext cx="1131011" cy="101884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70DAA8-EB58-42B9-A0FC-344F048FC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8" y="3646745"/>
            <a:ext cx="3400900" cy="2524477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961696" y="3840164"/>
            <a:ext cx="6913444" cy="6591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black points and </a:t>
            </a:r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green points on the </a:t>
            </a:r>
            <a:r>
              <a:rPr lang="fr-FR" sz="2800" b="1" dirty="0" err="1">
                <a:solidFill>
                  <a:srgbClr val="FF0000"/>
                </a:solidFill>
              </a:rPr>
              <a:t>odd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monotile</a:t>
            </a:r>
            <a:r>
              <a:rPr lang="fr-FR" sz="2800" b="1" dirty="0">
                <a:solidFill>
                  <a:srgbClr val="FF0000"/>
                </a:solidFill>
              </a:rPr>
              <a:t> in the middle. </a:t>
            </a:r>
          </a:p>
          <a:p>
            <a:r>
              <a:rPr lang="fr-FR" sz="2800" b="1" dirty="0" err="1">
                <a:solidFill>
                  <a:srgbClr val="FF0000"/>
                </a:solidFill>
              </a:rPr>
              <a:t>They</a:t>
            </a:r>
            <a:r>
              <a:rPr lang="fr-FR" sz="2800" b="1" dirty="0">
                <a:solidFill>
                  <a:srgbClr val="FF0000"/>
                </a:solidFill>
              </a:rPr>
              <a:t> are </a:t>
            </a:r>
            <a:r>
              <a:rPr lang="fr-FR" sz="2800" b="1" dirty="0" err="1">
                <a:solidFill>
                  <a:srgbClr val="FF0000"/>
                </a:solidFill>
              </a:rPr>
              <a:t>located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always</a:t>
            </a:r>
            <a:r>
              <a:rPr lang="fr-FR" sz="2800" b="1" dirty="0">
                <a:solidFill>
                  <a:srgbClr val="FF0000"/>
                </a:solidFill>
              </a:rPr>
              <a:t> at the </a:t>
            </a:r>
            <a:r>
              <a:rPr lang="fr-FR" sz="2800" b="1" dirty="0" err="1">
                <a:solidFill>
                  <a:srgbClr val="FF0000"/>
                </a:solidFill>
              </a:rPr>
              <a:t>same</a:t>
            </a:r>
            <a:r>
              <a:rPr lang="fr-FR" sz="2800" b="1" dirty="0">
                <a:solidFill>
                  <a:srgbClr val="FF0000"/>
                </a:solidFill>
              </a:rPr>
              <a:t> positions.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81F85A9-5699-4FAF-96AD-34A8DBB1E17A}"/>
              </a:ext>
            </a:extLst>
          </p:cNvPr>
          <p:cNvSpPr txBox="1">
            <a:spLocks/>
          </p:cNvSpPr>
          <p:nvPr/>
        </p:nvSpPr>
        <p:spPr>
          <a:xfrm>
            <a:off x="973261" y="1402607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translation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B8FCFE6-0721-449C-AAA4-9348580DBD8E}"/>
              </a:ext>
            </a:extLst>
          </p:cNvPr>
          <p:cNvSpPr txBox="1">
            <a:spLocks/>
          </p:cNvSpPr>
          <p:nvPr/>
        </p:nvSpPr>
        <p:spPr>
          <a:xfrm>
            <a:off x="3073567" y="1757953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inversion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Junction lines between full clusters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884243" y="5408191"/>
            <a:ext cx="6706881" cy="13809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even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monotiles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outside</a:t>
            </a:r>
            <a:r>
              <a:rPr lang="fr-FR" sz="2800" b="1" dirty="0">
                <a:solidFill>
                  <a:srgbClr val="FF0000"/>
                </a:solidFill>
              </a:rPr>
              <a:t> the C cluster in </a:t>
            </a:r>
            <a:r>
              <a:rPr lang="fr-FR" sz="2800" b="1" dirty="0" err="1">
                <a:solidFill>
                  <a:srgbClr val="FF0000"/>
                </a:solidFill>
              </a:rPr>
              <a:t>dashed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obtained</a:t>
            </a:r>
            <a:r>
              <a:rPr lang="fr-FR" sz="2800" b="1" dirty="0">
                <a:solidFill>
                  <a:srgbClr val="FF0000"/>
                </a:solidFill>
              </a:rPr>
              <a:t> by inversion.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28" y="1197350"/>
            <a:ext cx="250542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62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5F376C-44C8-4A13-AC06-CC126AD3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5" y="2255243"/>
            <a:ext cx="1224483" cy="12244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CB60AF-C942-4DE8-AB44-675766A7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72" y="1945404"/>
            <a:ext cx="1131011" cy="101884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70DAA8-EB58-42B9-A0FC-344F048FC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28" y="3712301"/>
            <a:ext cx="3400900" cy="2524477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346248" y="3959052"/>
            <a:ext cx="7604013" cy="6591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Black </a:t>
            </a:r>
            <a:r>
              <a:rPr lang="fr-FR" sz="2800" b="1" dirty="0" err="1">
                <a:solidFill>
                  <a:srgbClr val="FF0000"/>
                </a:solidFill>
              </a:rPr>
              <a:t>junction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== translation == </a:t>
            </a:r>
            <a:r>
              <a:rPr lang="fr-FR" sz="2800" b="1" dirty="0" err="1">
                <a:solidFill>
                  <a:srgbClr val="FF0000"/>
                </a:solidFill>
              </a:rPr>
              <a:t>always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present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81F85A9-5699-4FAF-96AD-34A8DBB1E17A}"/>
              </a:ext>
            </a:extLst>
          </p:cNvPr>
          <p:cNvSpPr txBox="1">
            <a:spLocks/>
          </p:cNvSpPr>
          <p:nvPr/>
        </p:nvSpPr>
        <p:spPr>
          <a:xfrm>
            <a:off x="973261" y="1402607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translation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B8FCFE6-0721-449C-AAA4-9348580DBD8E}"/>
              </a:ext>
            </a:extLst>
          </p:cNvPr>
          <p:cNvSpPr txBox="1">
            <a:spLocks/>
          </p:cNvSpPr>
          <p:nvPr/>
        </p:nvSpPr>
        <p:spPr>
          <a:xfrm>
            <a:off x="3073567" y="1757953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inversion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Junction lines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958489" y="4758328"/>
            <a:ext cx="6706881" cy="17055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when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two</a:t>
            </a:r>
            <a:r>
              <a:rPr lang="fr-FR" sz="2800" b="1" dirty="0">
                <a:solidFill>
                  <a:srgbClr val="FF0000"/>
                </a:solidFill>
              </a:rPr>
              <a:t> clusters are </a:t>
            </a:r>
            <a:r>
              <a:rPr lang="fr-FR" sz="2800" b="1" dirty="0" err="1">
                <a:solidFill>
                  <a:srgbClr val="FF0000"/>
                </a:solidFill>
              </a:rPr>
              <a:t>assembled</a:t>
            </a:r>
            <a:r>
              <a:rPr lang="fr-FR" sz="2800" b="1" dirty="0">
                <a:solidFill>
                  <a:srgbClr val="FF0000"/>
                </a:solidFill>
              </a:rPr>
              <a:t>, </a:t>
            </a:r>
            <a:r>
              <a:rPr lang="fr-FR" sz="2800" b="1" dirty="0" err="1">
                <a:solidFill>
                  <a:srgbClr val="FF0000"/>
                </a:solidFill>
              </a:rPr>
              <a:t>some</a:t>
            </a:r>
            <a:r>
              <a:rPr lang="fr-FR" sz="2800" b="1" dirty="0">
                <a:solidFill>
                  <a:srgbClr val="FF0000"/>
                </a:solidFill>
              </a:rPr>
              <a:t> green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may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be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superimposed</a:t>
            </a:r>
            <a:r>
              <a:rPr lang="fr-FR" sz="2800" b="1" dirty="0">
                <a:solidFill>
                  <a:srgbClr val="FF0000"/>
                </a:solidFill>
              </a:rPr>
              <a:t> on black </a:t>
            </a:r>
            <a:r>
              <a:rPr lang="fr-FR" sz="2800" b="1" dirty="0" err="1">
                <a:solidFill>
                  <a:srgbClr val="FF0000"/>
                </a:solidFill>
              </a:rPr>
              <a:t>ones</a:t>
            </a:r>
            <a:r>
              <a:rPr lang="fr-FR" sz="2800" b="1" dirty="0">
                <a:solidFill>
                  <a:srgbClr val="FF0000"/>
                </a:solidFill>
              </a:rPr>
              <a:t> !!!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-&gt; black one </a:t>
            </a:r>
            <a:r>
              <a:rPr lang="fr-FR" sz="2800" b="1" dirty="0" err="1">
                <a:solidFill>
                  <a:srgbClr val="FF0000"/>
                </a:solidFill>
              </a:rPr>
              <a:t>is</a:t>
            </a:r>
            <a:r>
              <a:rPr lang="fr-FR" sz="2800" b="1" dirty="0">
                <a:solidFill>
                  <a:srgbClr val="FF0000"/>
                </a:solidFill>
              </a:rPr>
              <a:t> the good one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-&gt; translation and not inversion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28" y="1197350"/>
            <a:ext cx="250542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8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03BECDDB-F30B-417B-B076-E70A4C43E61C}"/>
              </a:ext>
            </a:extLst>
          </p:cNvPr>
          <p:cNvSpPr txBox="1"/>
          <p:nvPr/>
        </p:nvSpPr>
        <p:spPr>
          <a:xfrm>
            <a:off x="2888657" y="1421301"/>
            <a:ext cx="6187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https://cs.uwaterloo.ca/~csk/spectre/app.html</a:t>
            </a:r>
            <a:endParaRPr lang="fr-FR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AF34E1E-66FA-4056-AF7A-5DC965B41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8685" y="2133574"/>
            <a:ext cx="5777315" cy="289369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7D994CDB-E90D-4C62-A3DA-4D7407931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503360" y="3215563"/>
            <a:ext cx="5511103" cy="3623403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CDC2DA1-E608-41BE-9035-924D7C847247}"/>
              </a:ext>
            </a:extLst>
          </p:cNvPr>
          <p:cNvSpPr txBox="1">
            <a:spLocks/>
          </p:cNvSpPr>
          <p:nvPr/>
        </p:nvSpPr>
        <p:spPr>
          <a:xfrm>
            <a:off x="80682" y="0"/>
            <a:ext cx="12111318" cy="1652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85350"/>
                </a:solidFill>
              </a:rPr>
              <a:t>Inflation with alternate chirality of Tile(1,1) at each step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5C564F2-9E9E-4DD4-9C3C-E0772E3A74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122"/>
          <a:stretch/>
        </p:blipFill>
        <p:spPr>
          <a:xfrm>
            <a:off x="1821430" y="4287326"/>
            <a:ext cx="497708" cy="57047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1D94A90-D4E2-4172-BCD0-801281B4BC0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394885" y="4287326"/>
            <a:ext cx="497708" cy="57047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DB79E65-28A7-438D-ACD0-B048FD5718D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3318788" y="4287326"/>
            <a:ext cx="497708" cy="5704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DE46768-16CC-4C3B-8D32-64C073ACAA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122"/>
          <a:stretch/>
        </p:blipFill>
        <p:spPr>
          <a:xfrm>
            <a:off x="7917590" y="6011351"/>
            <a:ext cx="497708" cy="57047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703FB16-4033-4FE7-B80F-ADB18A320EF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6470824" y="6011351"/>
            <a:ext cx="497708" cy="57047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E5B1BC6-E1CC-4BA5-A1F5-FA087775AA5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9364356" y="6011351"/>
            <a:ext cx="497708" cy="570478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D617D0EB-C149-44F8-A289-C4DA7457D0B6}"/>
              </a:ext>
            </a:extLst>
          </p:cNvPr>
          <p:cNvSpPr txBox="1">
            <a:spLocks/>
          </p:cNvSpPr>
          <p:nvPr/>
        </p:nvSpPr>
        <p:spPr>
          <a:xfrm>
            <a:off x="461288" y="5343320"/>
            <a:ext cx="5715000" cy="14099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>
                <a:solidFill>
                  <a:srgbClr val="FF0000"/>
                </a:solidFill>
              </a:rPr>
              <a:t>-&gt; Need for </a:t>
            </a:r>
            <a:r>
              <a:rPr lang="fr-FR" sz="3200" b="1" dirty="0" err="1">
                <a:solidFill>
                  <a:srgbClr val="FF0000"/>
                </a:solidFill>
              </a:rPr>
              <a:t>homochiral</a:t>
            </a:r>
            <a:r>
              <a:rPr lang="fr-FR" sz="3200" b="1" dirty="0">
                <a:solidFill>
                  <a:srgbClr val="FF0000"/>
                </a:solidFill>
              </a:rPr>
              <a:t> inflation to </a:t>
            </a:r>
            <a:r>
              <a:rPr lang="fr-FR" sz="3200" b="1" dirty="0" err="1">
                <a:solidFill>
                  <a:srgbClr val="FF0000"/>
                </a:solidFill>
              </a:rPr>
              <a:t>get</a:t>
            </a:r>
            <a:r>
              <a:rPr lang="fr-FR" sz="3200" b="1" dirty="0">
                <a:solidFill>
                  <a:srgbClr val="FF0000"/>
                </a:solidFill>
              </a:rPr>
              <a:t> the orientation distribution at </a:t>
            </a:r>
            <a:r>
              <a:rPr lang="fr-FR" sz="3200" b="1" dirty="0" err="1">
                <a:solidFill>
                  <a:srgbClr val="FF0000"/>
                </a:solidFill>
              </a:rPr>
              <a:t>each</a:t>
            </a:r>
            <a:r>
              <a:rPr lang="fr-FR" sz="3200" b="1" dirty="0">
                <a:solidFill>
                  <a:srgbClr val="FF0000"/>
                </a:solidFill>
              </a:rPr>
              <a:t> inflation </a:t>
            </a:r>
            <a:r>
              <a:rPr lang="fr-FR" sz="3200" b="1" dirty="0" err="1">
                <a:solidFill>
                  <a:srgbClr val="FF0000"/>
                </a:solidFill>
              </a:rPr>
              <a:t>step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BE2087A9-1917-44F7-B1B9-8129F0EB7F71}"/>
              </a:ext>
            </a:extLst>
          </p:cNvPr>
          <p:cNvSpPr txBox="1">
            <a:spLocks/>
          </p:cNvSpPr>
          <p:nvPr/>
        </p:nvSpPr>
        <p:spPr>
          <a:xfrm>
            <a:off x="576223" y="1435289"/>
            <a:ext cx="1123950" cy="11834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fr-FR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3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35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070135" y="4695944"/>
            <a:ext cx="5536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https://github.com/shrx/spectre/blob/master/spectre.py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Python script to generate the tiling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32" y="1424940"/>
            <a:ext cx="4262933" cy="51139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4000" y="1893389"/>
            <a:ext cx="2344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Drawsvg</a:t>
            </a:r>
            <a:r>
              <a:rPr lang="fr-FR" dirty="0"/>
              <a:t> python </a:t>
            </a:r>
            <a:r>
              <a:rPr lang="fr-FR" dirty="0" err="1"/>
              <a:t>library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070135" y="2473071"/>
            <a:ext cx="3388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https://pypi.org/project/drawsvg/</a:t>
            </a:r>
          </a:p>
        </p:txBody>
      </p:sp>
    </p:spTree>
    <p:extLst>
      <p:ext uri="{BB962C8B-B14F-4D97-AF65-F5344CB8AC3E}">
        <p14:creationId xmlns:p14="http://schemas.microsoft.com/office/powerpoint/2010/main" val="3860436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36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972766"/>
            <a:ext cx="5514975" cy="5724525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Python script: step 1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045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488884"/>
            <a:ext cx="6506738" cy="46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32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Comparision</a:t>
            </a:r>
            <a:r>
              <a:rPr lang="en-US" b="1" dirty="0">
                <a:solidFill>
                  <a:srgbClr val="C85350"/>
                </a:solidFill>
              </a:rPr>
              <a:t> with 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13" y="1605266"/>
            <a:ext cx="5410987" cy="445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6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Comparision</a:t>
            </a:r>
            <a:r>
              <a:rPr lang="en-US" b="1" dirty="0">
                <a:solidFill>
                  <a:srgbClr val="C85350"/>
                </a:solidFill>
              </a:rPr>
              <a:t> with 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17" y="1690005"/>
            <a:ext cx="1831278" cy="456227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34" y="1403370"/>
            <a:ext cx="2635449" cy="513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99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9" y="1414462"/>
            <a:ext cx="9334500" cy="402907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eight clusters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940" y="2387066"/>
            <a:ext cx="1977200" cy="26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98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41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77" y="2439699"/>
            <a:ext cx="9451723" cy="2543968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Substitution rule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77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42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1000"/>
            <a:ext cx="10344150" cy="6096000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Key points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15" y="303640"/>
            <a:ext cx="3752747" cy="101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1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79846</TotalTime>
  <Words>966</Words>
  <Application>Microsoft Office PowerPoint</Application>
  <PresentationFormat>Grand écran</PresentationFormat>
  <Paragraphs>259</Paragraphs>
  <Slides>42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CMR10</vt:lpstr>
      <vt:lpstr>Consolas</vt:lpstr>
      <vt:lpstr>Symbol</vt:lpstr>
      <vt:lpstr>Wingdings</vt:lpstr>
      <vt:lpstr>Thème Office</vt:lpstr>
      <vt:lpstr>Homochiral ideas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LPS-CNRS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SoftQC – Auto-assemblage de nanoparticules: des super-réseaux périodiques aux phases quasicristallines</dc:title>
  <dc:creator>Administrateur</dc:creator>
  <cp:lastModifiedBy>Administrateur</cp:lastModifiedBy>
  <cp:revision>942</cp:revision>
  <dcterms:created xsi:type="dcterms:W3CDTF">2024-05-03T12:49:25Z</dcterms:created>
  <dcterms:modified xsi:type="dcterms:W3CDTF">2025-10-11T10:47:15Z</dcterms:modified>
</cp:coreProperties>
</file>
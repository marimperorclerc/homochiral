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0"/>
  </p:notesMasterIdLst>
  <p:sldIdLst>
    <p:sldId id="797" r:id="rId2"/>
    <p:sldId id="840" r:id="rId3"/>
    <p:sldId id="778" r:id="rId4"/>
    <p:sldId id="841" r:id="rId5"/>
    <p:sldId id="846" r:id="rId6"/>
    <p:sldId id="854" r:id="rId7"/>
    <p:sldId id="843" r:id="rId8"/>
    <p:sldId id="847" r:id="rId9"/>
    <p:sldId id="845" r:id="rId10"/>
    <p:sldId id="850" r:id="rId11"/>
    <p:sldId id="844" r:id="rId12"/>
    <p:sldId id="848" r:id="rId13"/>
    <p:sldId id="849" r:id="rId14"/>
    <p:sldId id="853" r:id="rId15"/>
    <p:sldId id="851" r:id="rId16"/>
    <p:sldId id="852" r:id="rId17"/>
    <p:sldId id="839" r:id="rId18"/>
    <p:sldId id="816" r:id="rId19"/>
    <p:sldId id="774" r:id="rId20"/>
    <p:sldId id="817" r:id="rId21"/>
    <p:sldId id="818" r:id="rId22"/>
    <p:sldId id="802" r:id="rId23"/>
    <p:sldId id="821" r:id="rId24"/>
    <p:sldId id="827" r:id="rId25"/>
    <p:sldId id="819" r:id="rId26"/>
    <p:sldId id="832" r:id="rId27"/>
    <p:sldId id="831" r:id="rId28"/>
    <p:sldId id="828" r:id="rId29"/>
    <p:sldId id="820" r:id="rId30"/>
    <p:sldId id="829" r:id="rId31"/>
    <p:sldId id="822" r:id="rId32"/>
    <p:sldId id="835" r:id="rId33"/>
    <p:sldId id="836" r:id="rId34"/>
    <p:sldId id="837" r:id="rId35"/>
    <p:sldId id="838" r:id="rId36"/>
    <p:sldId id="833" r:id="rId37"/>
    <p:sldId id="834" r:id="rId38"/>
    <p:sldId id="823" r:id="rId39"/>
    <p:sldId id="824" r:id="rId40"/>
    <p:sldId id="826" r:id="rId41"/>
    <p:sldId id="807" r:id="rId42"/>
    <p:sldId id="825" r:id="rId43"/>
    <p:sldId id="754" r:id="rId44"/>
    <p:sldId id="795" r:id="rId45"/>
    <p:sldId id="803" r:id="rId46"/>
    <p:sldId id="804" r:id="rId47"/>
    <p:sldId id="805" r:id="rId48"/>
    <p:sldId id="806" r:id="rId49"/>
    <p:sldId id="809" r:id="rId50"/>
    <p:sldId id="790" r:id="rId51"/>
    <p:sldId id="791" r:id="rId52"/>
    <p:sldId id="808" r:id="rId53"/>
    <p:sldId id="775" r:id="rId54"/>
    <p:sldId id="777" r:id="rId55"/>
    <p:sldId id="801" r:id="rId56"/>
    <p:sldId id="799" r:id="rId57"/>
    <p:sldId id="743" r:id="rId58"/>
    <p:sldId id="786" r:id="rId5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bjectives" id="{55E4413A-BE1F-4C01-BEB6-917B60851A1C}">
          <p14:sldIdLst>
            <p14:sldId id="797"/>
            <p14:sldId id="840"/>
            <p14:sldId id="778"/>
            <p14:sldId id="841"/>
            <p14:sldId id="846"/>
            <p14:sldId id="854"/>
            <p14:sldId id="843"/>
            <p14:sldId id="847"/>
            <p14:sldId id="845"/>
            <p14:sldId id="850"/>
            <p14:sldId id="844"/>
            <p14:sldId id="848"/>
            <p14:sldId id="849"/>
            <p14:sldId id="853"/>
            <p14:sldId id="851"/>
            <p14:sldId id="852"/>
          </p14:sldIdLst>
        </p14:section>
        <p14:section name="step 1" id="{8572CD16-27D0-4F60-94D1-96F7FEDDD391}">
          <p14:sldIdLst>
            <p14:sldId id="839"/>
            <p14:sldId id="816"/>
            <p14:sldId id="774"/>
            <p14:sldId id="817"/>
            <p14:sldId id="818"/>
            <p14:sldId id="802"/>
            <p14:sldId id="821"/>
            <p14:sldId id="827"/>
            <p14:sldId id="819"/>
            <p14:sldId id="832"/>
            <p14:sldId id="831"/>
            <p14:sldId id="828"/>
            <p14:sldId id="820"/>
            <p14:sldId id="829"/>
            <p14:sldId id="822"/>
            <p14:sldId id="835"/>
            <p14:sldId id="836"/>
            <p14:sldId id="837"/>
            <p14:sldId id="838"/>
          </p14:sldIdLst>
        </p14:section>
        <p14:section name="stars" id="{E4283538-972A-4A55-B0B2-9E604D75AB19}">
          <p14:sldIdLst>
            <p14:sldId id="833"/>
            <p14:sldId id="834"/>
          </p14:sldIdLst>
        </p14:section>
        <p14:section name="Link with Arnaud clusters" id="{811911C5-785E-41D8-9A02-6873ED32F576}">
          <p14:sldIdLst>
            <p14:sldId id="823"/>
            <p14:sldId id="824"/>
            <p14:sldId id="826"/>
            <p14:sldId id="807"/>
            <p14:sldId id="825"/>
            <p14:sldId id="754"/>
            <p14:sldId id="795"/>
          </p14:sldIdLst>
        </p14:section>
        <p14:section name="Recent work" id="{FD8C0108-40DF-44EA-9165-79503E2CDD2A}">
          <p14:sldIdLst>
            <p14:sldId id="803"/>
            <p14:sldId id="804"/>
            <p14:sldId id="805"/>
            <p14:sldId id="806"/>
            <p14:sldId id="809"/>
            <p14:sldId id="790"/>
            <p14:sldId id="791"/>
            <p14:sldId id="808"/>
            <p14:sldId id="775"/>
            <p14:sldId id="777"/>
            <p14:sldId id="801"/>
            <p14:sldId id="799"/>
            <p14:sldId id="743"/>
            <p14:sldId id="7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A7FFCF"/>
    <a:srgbClr val="FF1616"/>
    <a:srgbClr val="1F4E79"/>
    <a:srgbClr val="AA10FF"/>
    <a:srgbClr val="05FF76"/>
    <a:srgbClr val="EDF8E9"/>
    <a:srgbClr val="C7E9C0"/>
    <a:srgbClr val="A1D99B"/>
    <a:srgbClr val="74C4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Style moyen 3 - Accentuation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29" autoAdjust="0"/>
    <p:restoredTop sz="93773" autoAdjust="0"/>
  </p:normalViewPr>
  <p:slideViewPr>
    <p:cSldViewPr snapToGrid="0">
      <p:cViewPr varScale="1">
        <p:scale>
          <a:sx n="63" d="100"/>
          <a:sy n="63" d="100"/>
        </p:scale>
        <p:origin x="204" y="52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-306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9C1508-1146-4A69-8F99-8C5D9876FDBE}" type="datetimeFigureOut">
              <a:rPr lang="fr-FR" smtClean="0"/>
              <a:t>03/03/2026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DA558A-D0F6-4A23-840A-1A4E79F93CE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0554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DA558A-D0F6-4A23-840A-1A4E79F93CE4}" type="slidenum">
              <a:rPr lang="fr-FR" smtClean="0"/>
              <a:t>46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2719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4D988-1420-4BDD-9CBC-4258686EC6AC}" type="datetime1">
              <a:rPr lang="fr-FR" smtClean="0"/>
              <a:t>03/03/2026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750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59031-BF04-471D-AD33-CD26C4CC2113}" type="datetime1">
              <a:rPr lang="fr-FR" smtClean="0"/>
              <a:t>03/03/2026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1052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87DCB-0ED8-472B-BBCD-AAF1AA70433B}" type="datetime1">
              <a:rPr lang="fr-FR" smtClean="0"/>
              <a:t>03/03/2026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8302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1442D-88C1-46C3-B249-34BE66B5D513}" type="datetime1">
              <a:rPr lang="fr-FR" smtClean="0"/>
              <a:t>03/03/2026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1617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3EF1F-00A4-46A5-AAC4-DB4177211361}" type="datetime1">
              <a:rPr lang="fr-FR" smtClean="0"/>
              <a:t>03/03/2026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64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CC57D-F713-4353-8E97-B278908A2A56}" type="datetime1">
              <a:rPr lang="fr-FR" smtClean="0"/>
              <a:t>03/03/2026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7066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B040A-FB87-4644-AB04-C81EC379E170}" type="datetime1">
              <a:rPr lang="fr-FR" smtClean="0"/>
              <a:t>03/03/2026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6795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62D1B-2239-4F9B-8FD3-0E31B8FA7FA2}" type="datetime1">
              <a:rPr lang="fr-FR" smtClean="0"/>
              <a:t>03/03/2026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5905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D42F1-F846-4CC5-948A-0D5DCFBD9C37}" type="datetime1">
              <a:rPr lang="fr-FR" smtClean="0"/>
              <a:t>03/03/2026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3865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81584-49D1-4CE9-8058-FF5ACE68A6CF}" type="datetime1">
              <a:rPr lang="fr-FR" smtClean="0"/>
              <a:t>03/03/2026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1073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59BB4-5566-4AB3-A06E-FF9EB735E0B4}" type="datetime1">
              <a:rPr lang="fr-FR" smtClean="0"/>
              <a:t>03/03/2026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0796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2FA6CD-8586-41A8-8804-244B34B7E6DA}" type="datetime1">
              <a:rPr lang="fr-FR" smtClean="0"/>
              <a:t>03/03/2026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BBC808-1C2F-4D0A-88AD-4B1C02A493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3542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ypi.org/project/drawsvg/" TargetMode="External"/><Relationship Id="rId2" Type="http://schemas.openxmlformats.org/officeDocument/2006/relationships/hyperlink" Target="https://github.com/marimperorclerc/homochiral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shrx/spectre/blob/master/spectre.py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407.05359" TargetMode="Externa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407.05359" TargetMode="External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pypi.org/project/drawsvg/" TargetMode="External"/><Relationship Id="rId2" Type="http://schemas.openxmlformats.org/officeDocument/2006/relationships/hyperlink" Target="https://github.com/marimperorclerc/homochiral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shrx/spectre/blob/master/spectre.py" TargetMode="Externa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err="1"/>
              <a:t>Homochiral</a:t>
            </a:r>
            <a:r>
              <a:rPr lang="fr-FR" dirty="0"/>
              <a:t> </a:t>
            </a:r>
            <a:r>
              <a:rPr lang="fr-FR" dirty="0" err="1"/>
              <a:t>ideas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r-FR" sz="2800" dirty="0"/>
              <a:t>Marianne </a:t>
            </a:r>
            <a:r>
              <a:rPr lang="fr-FR" sz="2800" dirty="0" err="1"/>
              <a:t>Imperor</a:t>
            </a:r>
            <a:r>
              <a:rPr lang="fr-FR" sz="2800" dirty="0"/>
              <a:t>-Clerc</a:t>
            </a:r>
          </a:p>
          <a:p>
            <a:r>
              <a:rPr lang="fr-FR" sz="2800" dirty="0" smtClean="0"/>
              <a:t>March </a:t>
            </a:r>
            <a:r>
              <a:rPr lang="fr-FR" sz="2800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248200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2</a:t>
            </a:fld>
            <a:endParaRPr lang="fr-FR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err="1">
                <a:solidFill>
                  <a:srgbClr val="C85350"/>
                </a:solidFill>
              </a:rPr>
              <a:t>Homochiral</a:t>
            </a:r>
            <a:r>
              <a:rPr lang="en-US" b="1" dirty="0">
                <a:solidFill>
                  <a:srgbClr val="C85350"/>
                </a:solidFill>
              </a:rPr>
              <a:t> python code on </a:t>
            </a:r>
            <a:r>
              <a:rPr lang="en-US" b="1" dirty="0" err="1">
                <a:solidFill>
                  <a:srgbClr val="C85350"/>
                </a:solidFill>
              </a:rPr>
              <a:t>github</a:t>
            </a:r>
            <a:endParaRPr lang="fr-FR" b="1" dirty="0">
              <a:solidFill>
                <a:srgbClr val="C85350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441434" y="1447271"/>
            <a:ext cx="11217166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hlinkClick r:id="rId2"/>
              </a:rPr>
              <a:t>https</a:t>
            </a:r>
            <a:r>
              <a:rPr lang="fr-FR" sz="2800" dirty="0">
                <a:hlinkClick r:id="rId2"/>
              </a:rPr>
              <a:t>://github.com/marimperorclerc/homochiral</a:t>
            </a:r>
            <a:endParaRPr lang="fr-FR" sz="2800" dirty="0"/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fr-FR" sz="2800" dirty="0"/>
          </a:p>
          <a:p>
            <a:r>
              <a:rPr lang="en-US" sz="2800" dirty="0"/>
              <a:t>python code for drawing clusters with Tile(</a:t>
            </a:r>
            <a:r>
              <a:rPr lang="en-US" sz="2800" dirty="0" err="1"/>
              <a:t>a,b</a:t>
            </a:r>
            <a:r>
              <a:rPr lang="en-US" sz="2800" dirty="0"/>
              <a:t>) in </a:t>
            </a:r>
            <a:r>
              <a:rPr lang="en-US" sz="2800" dirty="0" err="1"/>
              <a:t>svg</a:t>
            </a:r>
            <a:r>
              <a:rPr lang="en-US" sz="2800" dirty="0"/>
              <a:t> </a:t>
            </a:r>
            <a:r>
              <a:rPr lang="en-US" sz="2800" dirty="0" smtClean="0"/>
              <a:t>graphics</a:t>
            </a:r>
          </a:p>
          <a:p>
            <a:endParaRPr lang="en-US" sz="2800" dirty="0" smtClean="0"/>
          </a:p>
          <a:p>
            <a:r>
              <a:rPr lang="en-US" sz="2800" b="1" dirty="0" smtClean="0"/>
              <a:t>References</a:t>
            </a:r>
            <a:endParaRPr lang="en-US" sz="2800" b="1" dirty="0"/>
          </a:p>
          <a:p>
            <a:r>
              <a:rPr lang="en-US" sz="2800" dirty="0"/>
              <a:t>Code is based on the </a:t>
            </a:r>
            <a:r>
              <a:rPr lang="en-US" sz="2800" dirty="0" err="1"/>
              <a:t>drawsvg</a:t>
            </a:r>
            <a:r>
              <a:rPr lang="en-US" sz="2800" dirty="0"/>
              <a:t> package: </a:t>
            </a:r>
          </a:p>
          <a:p>
            <a:r>
              <a:rPr lang="en-US" sz="2800" dirty="0">
                <a:hlinkClick r:id="rId3"/>
              </a:rPr>
              <a:t>https://pypi.org/project/drawsvg/</a:t>
            </a:r>
            <a:endParaRPr lang="en-US" sz="2800" dirty="0"/>
          </a:p>
          <a:p>
            <a:r>
              <a:rPr lang="en-US" sz="2800" dirty="0"/>
              <a:t>And the python code with alternate chirality for inflation for </a:t>
            </a:r>
            <a:r>
              <a:rPr lang="en-US" sz="2800" dirty="0" err="1"/>
              <a:t>spectre</a:t>
            </a:r>
            <a:r>
              <a:rPr lang="en-US" sz="2800" dirty="0"/>
              <a:t> tiling: </a:t>
            </a:r>
          </a:p>
          <a:p>
            <a:r>
              <a:rPr lang="en-US" sz="2800" dirty="0">
                <a:hlinkClick r:id="rId4"/>
              </a:rPr>
              <a:t>https://github.com/shrx/spectre/blob/master/spectre.py</a:t>
            </a: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Adapted here </a:t>
            </a:r>
            <a:r>
              <a:rPr lang="en-US" sz="2800" dirty="0" smtClean="0"/>
              <a:t>(</a:t>
            </a:r>
            <a:r>
              <a:rPr lang="en-US" sz="2800" dirty="0" err="1" smtClean="0"/>
              <a:t>spectre</a:t>
            </a:r>
            <a:r>
              <a:rPr lang="en-US" sz="2800" dirty="0" smtClean="0"/>
              <a:t>-colored-</a:t>
            </a:r>
            <a:r>
              <a:rPr lang="en-US" sz="2800" dirty="0" err="1" smtClean="0"/>
              <a:t>tiles.ipynb</a:t>
            </a:r>
            <a:r>
              <a:rPr lang="en-US" sz="2800" dirty="0" smtClean="0"/>
              <a:t>) with different color choices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 smtClean="0"/>
              <a:t>See some .</a:t>
            </a:r>
            <a:r>
              <a:rPr lang="en-US" sz="2800" dirty="0" err="1" smtClean="0"/>
              <a:t>svg</a:t>
            </a:r>
            <a:r>
              <a:rPr lang="en-US" sz="2800" dirty="0" smtClean="0"/>
              <a:t> files in  \</a:t>
            </a:r>
            <a:r>
              <a:rPr lang="en-US" sz="2800" dirty="0" err="1" smtClean="0"/>
              <a:t>svg-spectre</a:t>
            </a:r>
            <a:r>
              <a:rPr lang="en-US" sz="2800" dirty="0" smtClean="0"/>
              <a:t> folder</a:t>
            </a: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fr-FR" sz="2800" dirty="0"/>
          </a:p>
          <a:p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455192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3</a:t>
            </a:fld>
            <a:endParaRPr lang="fr-FR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rgbClr val="C85350"/>
                </a:solidFill>
              </a:rPr>
              <a:t>Identification of the </a:t>
            </a:r>
            <a:r>
              <a:rPr lang="en-US" b="1" dirty="0" err="1" smtClean="0">
                <a:solidFill>
                  <a:srgbClr val="C85350"/>
                </a:solidFill>
              </a:rPr>
              <a:t>greek</a:t>
            </a:r>
            <a:r>
              <a:rPr lang="en-US" b="1" dirty="0" smtClean="0">
                <a:solidFill>
                  <a:srgbClr val="C85350"/>
                </a:solidFill>
              </a:rPr>
              <a:t> letters for tiles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391" y="999137"/>
            <a:ext cx="8651875" cy="539407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5963419" y="1361006"/>
            <a:ext cx="591172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400" dirty="0" err="1" smtClean="0">
                <a:solidFill>
                  <a:srgbClr val="FF0000"/>
                </a:solidFill>
              </a:rPr>
              <a:t>Consider</a:t>
            </a:r>
            <a:r>
              <a:rPr lang="fr-FR" sz="2400" dirty="0" smtClean="0">
                <a:solidFill>
                  <a:srgbClr val="FF0000"/>
                </a:solidFill>
              </a:rPr>
              <a:t> a cluster of four </a:t>
            </a:r>
            <a:r>
              <a:rPr lang="fr-FR" sz="2400" dirty="0" err="1" smtClean="0">
                <a:solidFill>
                  <a:srgbClr val="FF0000"/>
                </a:solidFill>
              </a:rPr>
              <a:t>tiles</a:t>
            </a:r>
            <a:r>
              <a:rPr lang="fr-FR" sz="2400" dirty="0" smtClean="0">
                <a:solidFill>
                  <a:srgbClr val="FF0000"/>
                </a:solidFill>
              </a:rPr>
              <a:t> </a:t>
            </a:r>
            <a:r>
              <a:rPr lang="fr-FR" sz="2400" dirty="0" err="1" smtClean="0">
                <a:solidFill>
                  <a:srgbClr val="FF0000"/>
                </a:solidFill>
              </a:rPr>
              <a:t>instead</a:t>
            </a:r>
            <a:r>
              <a:rPr lang="fr-FR" sz="2400" dirty="0" smtClean="0">
                <a:solidFill>
                  <a:srgbClr val="FF0000"/>
                </a:solidFill>
              </a:rPr>
              <a:t> of 3 for </a:t>
            </a:r>
            <a:r>
              <a:rPr lang="fr-FR" sz="2400" dirty="0" err="1" smtClean="0">
                <a:solidFill>
                  <a:srgbClr val="FF0000"/>
                </a:solidFill>
              </a:rPr>
              <a:t>horn</a:t>
            </a:r>
            <a:r>
              <a:rPr lang="fr-FR" sz="2400" dirty="0" smtClean="0">
                <a:solidFill>
                  <a:srgbClr val="FF0000"/>
                </a:solidFill>
              </a:rPr>
              <a:t> in the </a:t>
            </a:r>
            <a:r>
              <a:rPr lang="fr-FR" sz="2400" dirty="0" err="1" smtClean="0">
                <a:solidFill>
                  <a:srgbClr val="FF0000"/>
                </a:solidFill>
              </a:rPr>
              <a:t>anatomy</a:t>
            </a:r>
            <a:r>
              <a:rPr lang="fr-FR" sz="2400" dirty="0" smtClean="0">
                <a:solidFill>
                  <a:srgbClr val="FF0000"/>
                </a:solidFill>
              </a:rPr>
              <a:t> ? (by </a:t>
            </a:r>
            <a:r>
              <a:rPr lang="fr-FR" sz="2400" dirty="0" err="1" smtClean="0">
                <a:solidFill>
                  <a:srgbClr val="FF0000"/>
                </a:solidFill>
              </a:rPr>
              <a:t>adding</a:t>
            </a:r>
            <a:r>
              <a:rPr lang="fr-FR" sz="2400" dirty="0" smtClean="0">
                <a:solidFill>
                  <a:srgbClr val="FF0000"/>
                </a:solidFill>
              </a:rPr>
              <a:t> the \Delta </a:t>
            </a:r>
            <a:r>
              <a:rPr lang="fr-FR" sz="2400" dirty="0" err="1" smtClean="0">
                <a:solidFill>
                  <a:srgbClr val="FF0000"/>
                </a:solidFill>
              </a:rPr>
              <a:t>tile</a:t>
            </a:r>
            <a:r>
              <a:rPr lang="fr-FR" sz="2400" dirty="0" smtClean="0">
                <a:solidFill>
                  <a:srgbClr val="FF0000"/>
                </a:solidFill>
              </a:rPr>
              <a:t>)</a:t>
            </a:r>
            <a:endParaRPr lang="fr-FR" sz="2400" dirty="0">
              <a:solidFill>
                <a:srgbClr val="FF0000"/>
              </a:solidFill>
            </a:endParaRPr>
          </a:p>
          <a:p>
            <a:endParaRPr lang="fr-FR" sz="2400" dirty="0">
              <a:solidFill>
                <a:srgbClr val="FF0000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6095999" y="2697730"/>
            <a:ext cx="45826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400" dirty="0" smtClean="0">
                <a:solidFill>
                  <a:srgbClr val="FF0000"/>
                </a:solidFill>
              </a:rPr>
              <a:t>Large stars correspond to all \Pi and \Psi </a:t>
            </a:r>
            <a:r>
              <a:rPr lang="fr-FR" sz="2400" dirty="0" err="1" smtClean="0">
                <a:solidFill>
                  <a:srgbClr val="FF0000"/>
                </a:solidFill>
              </a:rPr>
              <a:t>tiles</a:t>
            </a:r>
            <a:endParaRPr lang="fr-FR" sz="2400" dirty="0">
              <a:solidFill>
                <a:srgbClr val="FF0000"/>
              </a:solidFill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8206729" y="4734817"/>
            <a:ext cx="398527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400" dirty="0" smtClean="0">
                <a:solidFill>
                  <a:srgbClr val="FF0000"/>
                </a:solidFill>
              </a:rPr>
              <a:t>\phi </a:t>
            </a:r>
            <a:r>
              <a:rPr lang="fr-FR" sz="2400" dirty="0" err="1" smtClean="0">
                <a:solidFill>
                  <a:srgbClr val="FF0000"/>
                </a:solidFill>
              </a:rPr>
              <a:t>tiles</a:t>
            </a:r>
            <a:r>
              <a:rPr lang="fr-FR" sz="2400" dirty="0" smtClean="0">
                <a:solidFill>
                  <a:srgbClr val="FF0000"/>
                </a:solidFill>
              </a:rPr>
              <a:t> </a:t>
            </a:r>
            <a:r>
              <a:rPr lang="fr-FR" sz="2400" dirty="0" err="1" smtClean="0">
                <a:solidFill>
                  <a:srgbClr val="FF0000"/>
                </a:solidFill>
              </a:rPr>
              <a:t>give</a:t>
            </a:r>
            <a:r>
              <a:rPr lang="fr-FR" sz="2400" dirty="0" smtClean="0">
                <a:solidFill>
                  <a:srgbClr val="FF0000"/>
                </a:solidFill>
              </a:rPr>
              <a:t> all </a:t>
            </a:r>
            <a:r>
              <a:rPr lang="fr-FR" sz="2400" dirty="0" err="1" smtClean="0">
                <a:solidFill>
                  <a:srgbClr val="FF0000"/>
                </a:solidFill>
              </a:rPr>
              <a:t>small</a:t>
            </a:r>
            <a:r>
              <a:rPr lang="fr-FR" sz="2400" dirty="0" smtClean="0">
                <a:solidFill>
                  <a:srgbClr val="FF0000"/>
                </a:solidFill>
              </a:rPr>
              <a:t> stars plus </a:t>
            </a:r>
            <a:r>
              <a:rPr lang="fr-FR" sz="2400" dirty="0" err="1" smtClean="0">
                <a:solidFill>
                  <a:srgbClr val="FF0000"/>
                </a:solidFill>
              </a:rPr>
              <a:t>isolated</a:t>
            </a:r>
            <a:r>
              <a:rPr lang="fr-FR" sz="2400" dirty="0" smtClean="0">
                <a:solidFill>
                  <a:srgbClr val="FF0000"/>
                </a:solidFill>
              </a:rPr>
              <a:t> </a:t>
            </a:r>
            <a:r>
              <a:rPr lang="fr-FR" sz="2400" dirty="0" err="1" smtClean="0">
                <a:solidFill>
                  <a:srgbClr val="FF0000"/>
                </a:solidFill>
              </a:rPr>
              <a:t>ones</a:t>
            </a:r>
            <a:r>
              <a:rPr lang="fr-FR" sz="2400" dirty="0" smtClean="0">
                <a:solidFill>
                  <a:srgbClr val="FF0000"/>
                </a:solidFill>
              </a:rPr>
              <a:t>. Look at the position of the </a:t>
            </a:r>
            <a:r>
              <a:rPr lang="fr-FR" sz="2400" dirty="0" err="1" smtClean="0">
                <a:solidFill>
                  <a:srgbClr val="FF0000"/>
                </a:solidFill>
              </a:rPr>
              <a:t>isolated</a:t>
            </a:r>
            <a:r>
              <a:rPr lang="fr-FR" sz="2400" dirty="0" smtClean="0">
                <a:solidFill>
                  <a:srgbClr val="FF0000"/>
                </a:solidFill>
              </a:rPr>
              <a:t> </a:t>
            </a:r>
            <a:r>
              <a:rPr lang="fr-FR" sz="2400" dirty="0" err="1" smtClean="0">
                <a:solidFill>
                  <a:srgbClr val="FF0000"/>
                </a:solidFill>
              </a:rPr>
              <a:t>ones</a:t>
            </a:r>
            <a:r>
              <a:rPr lang="fr-FR" sz="2400" dirty="0" smtClean="0">
                <a:solidFill>
                  <a:srgbClr val="FF0000"/>
                </a:solidFill>
              </a:rPr>
              <a:t> (</a:t>
            </a:r>
            <a:r>
              <a:rPr lang="fr-FR" sz="2400" dirty="0" err="1" smtClean="0">
                <a:solidFill>
                  <a:srgbClr val="FF0000"/>
                </a:solidFill>
              </a:rPr>
              <a:t>called</a:t>
            </a:r>
            <a:r>
              <a:rPr lang="fr-FR" sz="2400" dirty="0" smtClean="0">
                <a:solidFill>
                  <a:srgbClr val="FF0000"/>
                </a:solidFill>
              </a:rPr>
              <a:t> </a:t>
            </a:r>
            <a:r>
              <a:rPr lang="fr-FR" sz="2400" dirty="0" err="1" smtClean="0">
                <a:solidFill>
                  <a:srgbClr val="FF0000"/>
                </a:solidFill>
              </a:rPr>
              <a:t>here</a:t>
            </a:r>
            <a:r>
              <a:rPr lang="fr-FR" sz="2400" dirty="0" smtClean="0">
                <a:solidFill>
                  <a:srgbClr val="FF0000"/>
                </a:solidFill>
              </a:rPr>
              <a:t> \</a:t>
            </a:r>
            <a:r>
              <a:rPr lang="fr-FR" sz="2400" dirty="0" err="1" smtClean="0">
                <a:solidFill>
                  <a:srgbClr val="FF0000"/>
                </a:solidFill>
              </a:rPr>
              <a:t>phi_bis</a:t>
            </a:r>
            <a:r>
              <a:rPr lang="fr-FR" sz="2400" dirty="0" smtClean="0">
                <a:solidFill>
                  <a:srgbClr val="FF0000"/>
                </a:solidFill>
              </a:rPr>
              <a:t>) ?</a:t>
            </a:r>
            <a:endParaRPr lang="fr-FR" sz="2400" dirty="0">
              <a:solidFill>
                <a:srgbClr val="FF0000"/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71516" y="6123413"/>
            <a:ext cx="60244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400" dirty="0" smtClean="0">
                <a:solidFill>
                  <a:srgbClr val="FF0000"/>
                </a:solidFill>
              </a:rPr>
              <a:t>All \chi </a:t>
            </a:r>
            <a:r>
              <a:rPr lang="fr-FR" sz="2400" dirty="0" err="1" smtClean="0">
                <a:solidFill>
                  <a:srgbClr val="FF0000"/>
                </a:solidFill>
              </a:rPr>
              <a:t>tiles</a:t>
            </a:r>
            <a:r>
              <a:rPr lang="fr-FR" sz="2400" dirty="0" smtClean="0">
                <a:solidFill>
                  <a:srgbClr val="FF0000"/>
                </a:solidFill>
              </a:rPr>
              <a:t> </a:t>
            </a:r>
            <a:r>
              <a:rPr lang="fr-FR" sz="2400" dirty="0" smtClean="0">
                <a:solidFill>
                  <a:srgbClr val="FF0000"/>
                </a:solidFill>
              </a:rPr>
              <a:t>are </a:t>
            </a:r>
            <a:r>
              <a:rPr lang="fr-FR" sz="2400" dirty="0" err="1" smtClean="0">
                <a:solidFill>
                  <a:srgbClr val="FF0000"/>
                </a:solidFill>
              </a:rPr>
              <a:t>linked</a:t>
            </a:r>
            <a:r>
              <a:rPr lang="fr-FR" sz="2400" dirty="0" smtClean="0">
                <a:solidFill>
                  <a:srgbClr val="FF0000"/>
                </a:solidFill>
              </a:rPr>
              <a:t> to a \pi </a:t>
            </a:r>
            <a:r>
              <a:rPr lang="fr-FR" sz="2400" dirty="0" err="1" smtClean="0">
                <a:solidFill>
                  <a:srgbClr val="FF0000"/>
                </a:solidFill>
              </a:rPr>
              <a:t>tile</a:t>
            </a:r>
            <a:r>
              <a:rPr lang="fr-FR" sz="2400" dirty="0" smtClean="0">
                <a:solidFill>
                  <a:srgbClr val="FF0000"/>
                </a:solidFill>
              </a:rPr>
              <a:t> and </a:t>
            </a:r>
            <a:r>
              <a:rPr lang="fr-FR" sz="2400" dirty="0" err="1" smtClean="0">
                <a:solidFill>
                  <a:srgbClr val="FF0000"/>
                </a:solidFill>
              </a:rPr>
              <a:t>consequently</a:t>
            </a:r>
            <a:r>
              <a:rPr lang="fr-FR" sz="2400" dirty="0" smtClean="0">
                <a:solidFill>
                  <a:srgbClr val="FF0000"/>
                </a:solidFill>
              </a:rPr>
              <a:t> to a large star.</a:t>
            </a:r>
            <a:endParaRPr lang="fr-FR" sz="2400" dirty="0">
              <a:solidFill>
                <a:srgbClr val="FF0000"/>
              </a:solidFill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-61064" y="3026062"/>
            <a:ext cx="60244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400" dirty="0" smtClean="0">
                <a:solidFill>
                  <a:srgbClr val="FF0000"/>
                </a:solidFill>
              </a:rPr>
              <a:t>\</a:t>
            </a:r>
            <a:r>
              <a:rPr lang="fr-FR" sz="2400" dirty="0" err="1" smtClean="0">
                <a:solidFill>
                  <a:srgbClr val="FF0000"/>
                </a:solidFill>
              </a:rPr>
              <a:t>theta</a:t>
            </a:r>
            <a:r>
              <a:rPr lang="fr-FR" sz="2400" dirty="0" smtClean="0">
                <a:solidFill>
                  <a:srgbClr val="FF0000"/>
                </a:solidFill>
              </a:rPr>
              <a:t> and </a:t>
            </a:r>
            <a:r>
              <a:rPr lang="fr-FR" sz="2400" dirty="0" smtClean="0">
                <a:solidFill>
                  <a:srgbClr val="FF0000"/>
                </a:solidFill>
              </a:rPr>
              <a:t>\lambda </a:t>
            </a:r>
            <a:r>
              <a:rPr lang="fr-FR" sz="2400" dirty="0" err="1" smtClean="0">
                <a:solidFill>
                  <a:srgbClr val="FF0000"/>
                </a:solidFill>
              </a:rPr>
              <a:t>always</a:t>
            </a:r>
            <a:r>
              <a:rPr lang="fr-FR" sz="2400" dirty="0" smtClean="0">
                <a:solidFill>
                  <a:srgbClr val="FF0000"/>
                </a:solidFill>
              </a:rPr>
              <a:t> in couple</a:t>
            </a:r>
            <a:endParaRPr lang="fr-FR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7191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4</a:t>
            </a:fld>
            <a:endParaRPr lang="fr-FR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rgbClr val="C85350"/>
                </a:solidFill>
              </a:rPr>
              <a:t>Third inflation with color code from </a:t>
            </a:r>
            <a:r>
              <a:rPr lang="en-US" b="1" dirty="0" err="1" smtClean="0">
                <a:solidFill>
                  <a:srgbClr val="C85350"/>
                </a:solidFill>
              </a:rPr>
              <a:t>greek</a:t>
            </a:r>
            <a:r>
              <a:rPr lang="en-US" b="1" dirty="0" smtClean="0">
                <a:solidFill>
                  <a:srgbClr val="C85350"/>
                </a:solidFill>
              </a:rPr>
              <a:t> letters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421" y="1479550"/>
            <a:ext cx="4200525" cy="48768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6253109" y="1479550"/>
            <a:ext cx="60244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400" dirty="0" smtClean="0">
                <a:solidFill>
                  <a:srgbClr val="FF0000"/>
                </a:solidFill>
              </a:rPr>
              <a:t>\</a:t>
            </a:r>
            <a:r>
              <a:rPr lang="fr-FR" sz="2400" dirty="0" err="1" smtClean="0">
                <a:solidFill>
                  <a:srgbClr val="FF0000"/>
                </a:solidFill>
              </a:rPr>
              <a:t>theta</a:t>
            </a:r>
            <a:r>
              <a:rPr lang="fr-FR" sz="2400" dirty="0" smtClean="0">
                <a:solidFill>
                  <a:srgbClr val="FF0000"/>
                </a:solidFill>
              </a:rPr>
              <a:t> and </a:t>
            </a:r>
            <a:r>
              <a:rPr lang="fr-FR" sz="2400" dirty="0" smtClean="0">
                <a:solidFill>
                  <a:srgbClr val="FF0000"/>
                </a:solidFill>
              </a:rPr>
              <a:t>\lambda </a:t>
            </a:r>
            <a:r>
              <a:rPr lang="fr-FR" sz="2400" dirty="0" err="1" smtClean="0">
                <a:solidFill>
                  <a:srgbClr val="FF0000"/>
                </a:solidFill>
              </a:rPr>
              <a:t>always</a:t>
            </a:r>
            <a:r>
              <a:rPr lang="fr-FR" sz="2400" dirty="0" smtClean="0">
                <a:solidFill>
                  <a:srgbClr val="FF0000"/>
                </a:solidFill>
              </a:rPr>
              <a:t> in couple -&gt; part of a </a:t>
            </a:r>
            <a:r>
              <a:rPr lang="fr-FR" sz="2400" dirty="0" err="1" smtClean="0">
                <a:solidFill>
                  <a:srgbClr val="FF0000"/>
                </a:solidFill>
              </a:rPr>
              <a:t>propeller</a:t>
            </a:r>
            <a:endParaRPr lang="fr-FR" sz="2400" dirty="0">
              <a:solidFill>
                <a:srgbClr val="FF0000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6253109" y="2505611"/>
            <a:ext cx="45826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400" dirty="0" smtClean="0">
                <a:solidFill>
                  <a:srgbClr val="FF0000"/>
                </a:solidFill>
              </a:rPr>
              <a:t>Large stars correspond to all \Pi and \Psi </a:t>
            </a:r>
            <a:r>
              <a:rPr lang="fr-FR" sz="2400" dirty="0" err="1" smtClean="0">
                <a:solidFill>
                  <a:srgbClr val="FF0000"/>
                </a:solidFill>
              </a:rPr>
              <a:t>tiles</a:t>
            </a:r>
            <a:endParaRPr lang="fr-FR" sz="2400" dirty="0">
              <a:solidFill>
                <a:srgbClr val="FF0000"/>
              </a:solidFill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6253109" y="3695289"/>
            <a:ext cx="398527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400" dirty="0" smtClean="0">
                <a:solidFill>
                  <a:srgbClr val="FF0000"/>
                </a:solidFill>
              </a:rPr>
              <a:t>\phi </a:t>
            </a:r>
            <a:r>
              <a:rPr lang="fr-FR" sz="2400" dirty="0" err="1" smtClean="0">
                <a:solidFill>
                  <a:srgbClr val="FF0000"/>
                </a:solidFill>
              </a:rPr>
              <a:t>tiles</a:t>
            </a:r>
            <a:r>
              <a:rPr lang="fr-FR" sz="2400" dirty="0" smtClean="0">
                <a:solidFill>
                  <a:srgbClr val="FF0000"/>
                </a:solidFill>
              </a:rPr>
              <a:t> </a:t>
            </a:r>
            <a:r>
              <a:rPr lang="fr-FR" sz="2400" dirty="0" err="1" smtClean="0">
                <a:solidFill>
                  <a:srgbClr val="FF0000"/>
                </a:solidFill>
              </a:rPr>
              <a:t>give</a:t>
            </a:r>
            <a:r>
              <a:rPr lang="fr-FR" sz="2400" dirty="0" smtClean="0">
                <a:solidFill>
                  <a:srgbClr val="FF0000"/>
                </a:solidFill>
              </a:rPr>
              <a:t> all </a:t>
            </a:r>
            <a:r>
              <a:rPr lang="fr-FR" sz="2400" dirty="0" err="1" smtClean="0">
                <a:solidFill>
                  <a:srgbClr val="FF0000"/>
                </a:solidFill>
              </a:rPr>
              <a:t>small</a:t>
            </a:r>
            <a:r>
              <a:rPr lang="fr-FR" sz="2400" dirty="0" smtClean="0">
                <a:solidFill>
                  <a:srgbClr val="FF0000"/>
                </a:solidFill>
              </a:rPr>
              <a:t> stars plus </a:t>
            </a:r>
            <a:r>
              <a:rPr lang="fr-FR" sz="2400" dirty="0" err="1" smtClean="0">
                <a:solidFill>
                  <a:srgbClr val="FF0000"/>
                </a:solidFill>
              </a:rPr>
              <a:t>isolated</a:t>
            </a:r>
            <a:r>
              <a:rPr lang="fr-FR" sz="2400" dirty="0" smtClean="0">
                <a:solidFill>
                  <a:srgbClr val="FF0000"/>
                </a:solidFill>
              </a:rPr>
              <a:t> </a:t>
            </a:r>
            <a:r>
              <a:rPr lang="fr-FR" sz="2400" dirty="0" err="1" smtClean="0">
                <a:solidFill>
                  <a:srgbClr val="FF0000"/>
                </a:solidFill>
              </a:rPr>
              <a:t>ones</a:t>
            </a:r>
            <a:r>
              <a:rPr lang="fr-FR" sz="2400" dirty="0" smtClean="0">
                <a:solidFill>
                  <a:srgbClr val="FF0000"/>
                </a:solidFill>
              </a:rPr>
              <a:t>. Look at the position of the </a:t>
            </a:r>
            <a:r>
              <a:rPr lang="fr-FR" sz="2400" dirty="0" err="1" smtClean="0">
                <a:solidFill>
                  <a:srgbClr val="FF0000"/>
                </a:solidFill>
              </a:rPr>
              <a:t>isolated</a:t>
            </a:r>
            <a:r>
              <a:rPr lang="fr-FR" sz="2400" dirty="0" smtClean="0">
                <a:solidFill>
                  <a:srgbClr val="FF0000"/>
                </a:solidFill>
              </a:rPr>
              <a:t> </a:t>
            </a:r>
            <a:r>
              <a:rPr lang="fr-FR" sz="2400" dirty="0" err="1" smtClean="0">
                <a:solidFill>
                  <a:srgbClr val="FF0000"/>
                </a:solidFill>
              </a:rPr>
              <a:t>ones</a:t>
            </a:r>
            <a:r>
              <a:rPr lang="fr-FR" sz="2400" dirty="0" smtClean="0">
                <a:solidFill>
                  <a:srgbClr val="FF0000"/>
                </a:solidFill>
              </a:rPr>
              <a:t> (</a:t>
            </a:r>
            <a:r>
              <a:rPr lang="fr-FR" sz="2400" dirty="0" err="1" smtClean="0">
                <a:solidFill>
                  <a:srgbClr val="FF0000"/>
                </a:solidFill>
              </a:rPr>
              <a:t>called</a:t>
            </a:r>
            <a:r>
              <a:rPr lang="fr-FR" sz="2400" dirty="0" smtClean="0">
                <a:solidFill>
                  <a:srgbClr val="FF0000"/>
                </a:solidFill>
              </a:rPr>
              <a:t> </a:t>
            </a:r>
            <a:r>
              <a:rPr lang="fr-FR" sz="2400" dirty="0" err="1" smtClean="0">
                <a:solidFill>
                  <a:srgbClr val="FF0000"/>
                </a:solidFill>
              </a:rPr>
              <a:t>here</a:t>
            </a:r>
            <a:r>
              <a:rPr lang="fr-FR" sz="2400" dirty="0" smtClean="0">
                <a:solidFill>
                  <a:srgbClr val="FF0000"/>
                </a:solidFill>
              </a:rPr>
              <a:t> \</a:t>
            </a:r>
            <a:r>
              <a:rPr lang="fr-FR" sz="2400" dirty="0" err="1" smtClean="0">
                <a:solidFill>
                  <a:srgbClr val="FF0000"/>
                </a:solidFill>
              </a:rPr>
              <a:t>phi_bis</a:t>
            </a:r>
            <a:r>
              <a:rPr lang="fr-FR" sz="2400" dirty="0" smtClean="0">
                <a:solidFill>
                  <a:srgbClr val="FF0000"/>
                </a:solidFill>
              </a:rPr>
              <a:t>) ?</a:t>
            </a:r>
            <a:endParaRPr lang="fr-FR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1415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5</a:t>
            </a:fld>
            <a:endParaRPr lang="fr-FR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rgbClr val="C85350"/>
                </a:solidFill>
              </a:rPr>
              <a:t>Another version with less colors …</a:t>
            </a:r>
            <a:endParaRPr lang="fr-FR" b="1" dirty="0">
              <a:solidFill>
                <a:srgbClr val="C85350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6253109" y="1256889"/>
            <a:ext cx="60244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400" dirty="0" smtClean="0">
                <a:solidFill>
                  <a:srgbClr val="FF0000"/>
                </a:solidFill>
              </a:rPr>
              <a:t>\</a:t>
            </a:r>
            <a:r>
              <a:rPr lang="fr-FR" sz="2400" dirty="0" err="1" smtClean="0">
                <a:solidFill>
                  <a:srgbClr val="FF0000"/>
                </a:solidFill>
              </a:rPr>
              <a:t>theta</a:t>
            </a:r>
            <a:r>
              <a:rPr lang="fr-FR" sz="2400" dirty="0" smtClean="0">
                <a:solidFill>
                  <a:srgbClr val="FF0000"/>
                </a:solidFill>
              </a:rPr>
              <a:t> and </a:t>
            </a:r>
            <a:r>
              <a:rPr lang="fr-FR" sz="2400" dirty="0" smtClean="0">
                <a:solidFill>
                  <a:srgbClr val="FF0000"/>
                </a:solidFill>
              </a:rPr>
              <a:t>\lambda </a:t>
            </a:r>
            <a:r>
              <a:rPr lang="fr-FR" sz="2400" dirty="0" err="1" smtClean="0">
                <a:solidFill>
                  <a:srgbClr val="FF0000"/>
                </a:solidFill>
              </a:rPr>
              <a:t>always</a:t>
            </a:r>
            <a:r>
              <a:rPr lang="fr-FR" sz="2400" dirty="0" smtClean="0">
                <a:solidFill>
                  <a:srgbClr val="FF0000"/>
                </a:solidFill>
              </a:rPr>
              <a:t> in couple -&gt; part of a </a:t>
            </a:r>
            <a:r>
              <a:rPr lang="fr-FR" sz="2400" dirty="0" err="1" smtClean="0">
                <a:solidFill>
                  <a:srgbClr val="FF0000"/>
                </a:solidFill>
              </a:rPr>
              <a:t>propeller</a:t>
            </a:r>
            <a:endParaRPr lang="fr-FR" sz="2400" dirty="0">
              <a:solidFill>
                <a:srgbClr val="FF0000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6253109" y="2505611"/>
            <a:ext cx="45826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400" dirty="0" smtClean="0">
                <a:solidFill>
                  <a:srgbClr val="FF0000"/>
                </a:solidFill>
              </a:rPr>
              <a:t>Large stars correspond to all \Pi and \Psi </a:t>
            </a:r>
            <a:r>
              <a:rPr lang="fr-FR" sz="2400" dirty="0" err="1" smtClean="0">
                <a:solidFill>
                  <a:srgbClr val="FF0000"/>
                </a:solidFill>
              </a:rPr>
              <a:t>tiles</a:t>
            </a:r>
            <a:endParaRPr lang="fr-FR" sz="2400" dirty="0">
              <a:solidFill>
                <a:srgbClr val="FF0000"/>
              </a:solidFill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6253109" y="3695289"/>
            <a:ext cx="398527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400" dirty="0" smtClean="0">
                <a:solidFill>
                  <a:srgbClr val="FF0000"/>
                </a:solidFill>
              </a:rPr>
              <a:t>\phi </a:t>
            </a:r>
            <a:r>
              <a:rPr lang="fr-FR" sz="2400" dirty="0" err="1" smtClean="0">
                <a:solidFill>
                  <a:srgbClr val="FF0000"/>
                </a:solidFill>
              </a:rPr>
              <a:t>tiles</a:t>
            </a:r>
            <a:r>
              <a:rPr lang="fr-FR" sz="2400" dirty="0" smtClean="0">
                <a:solidFill>
                  <a:srgbClr val="FF0000"/>
                </a:solidFill>
              </a:rPr>
              <a:t> </a:t>
            </a:r>
            <a:r>
              <a:rPr lang="fr-FR" sz="2400" dirty="0" err="1" smtClean="0">
                <a:solidFill>
                  <a:srgbClr val="FF0000"/>
                </a:solidFill>
              </a:rPr>
              <a:t>give</a:t>
            </a:r>
            <a:r>
              <a:rPr lang="fr-FR" sz="2400" dirty="0" smtClean="0">
                <a:solidFill>
                  <a:srgbClr val="FF0000"/>
                </a:solidFill>
              </a:rPr>
              <a:t> all </a:t>
            </a:r>
            <a:r>
              <a:rPr lang="fr-FR" sz="2400" dirty="0" err="1" smtClean="0">
                <a:solidFill>
                  <a:srgbClr val="FF0000"/>
                </a:solidFill>
              </a:rPr>
              <a:t>small</a:t>
            </a:r>
            <a:r>
              <a:rPr lang="fr-FR" sz="2400" dirty="0" smtClean="0">
                <a:solidFill>
                  <a:srgbClr val="FF0000"/>
                </a:solidFill>
              </a:rPr>
              <a:t> stars plus </a:t>
            </a:r>
            <a:r>
              <a:rPr lang="fr-FR" sz="2400" dirty="0" err="1" smtClean="0">
                <a:solidFill>
                  <a:srgbClr val="FF0000"/>
                </a:solidFill>
              </a:rPr>
              <a:t>isolated</a:t>
            </a:r>
            <a:r>
              <a:rPr lang="fr-FR" sz="2400" dirty="0" smtClean="0">
                <a:solidFill>
                  <a:srgbClr val="FF0000"/>
                </a:solidFill>
              </a:rPr>
              <a:t> </a:t>
            </a:r>
            <a:r>
              <a:rPr lang="fr-FR" sz="2400" dirty="0" err="1" smtClean="0">
                <a:solidFill>
                  <a:srgbClr val="FF0000"/>
                </a:solidFill>
              </a:rPr>
              <a:t>ones</a:t>
            </a:r>
            <a:r>
              <a:rPr lang="fr-FR" sz="2400" dirty="0" smtClean="0">
                <a:solidFill>
                  <a:srgbClr val="FF0000"/>
                </a:solidFill>
              </a:rPr>
              <a:t>. Look at the position of the </a:t>
            </a:r>
            <a:r>
              <a:rPr lang="fr-FR" sz="2400" dirty="0" err="1" smtClean="0">
                <a:solidFill>
                  <a:srgbClr val="FF0000"/>
                </a:solidFill>
              </a:rPr>
              <a:t>isolated</a:t>
            </a:r>
            <a:r>
              <a:rPr lang="fr-FR" sz="2400" dirty="0" smtClean="0">
                <a:solidFill>
                  <a:srgbClr val="FF0000"/>
                </a:solidFill>
              </a:rPr>
              <a:t> </a:t>
            </a:r>
            <a:r>
              <a:rPr lang="fr-FR" sz="2400" dirty="0" err="1" smtClean="0">
                <a:solidFill>
                  <a:srgbClr val="FF0000"/>
                </a:solidFill>
              </a:rPr>
              <a:t>ones</a:t>
            </a:r>
            <a:r>
              <a:rPr lang="fr-FR" sz="2400" dirty="0" smtClean="0">
                <a:solidFill>
                  <a:srgbClr val="FF0000"/>
                </a:solidFill>
              </a:rPr>
              <a:t> (</a:t>
            </a:r>
            <a:r>
              <a:rPr lang="fr-FR" sz="2400" dirty="0" err="1" smtClean="0">
                <a:solidFill>
                  <a:srgbClr val="FF0000"/>
                </a:solidFill>
              </a:rPr>
              <a:t>called</a:t>
            </a:r>
            <a:r>
              <a:rPr lang="fr-FR" sz="2400" dirty="0" smtClean="0">
                <a:solidFill>
                  <a:srgbClr val="FF0000"/>
                </a:solidFill>
              </a:rPr>
              <a:t> </a:t>
            </a:r>
            <a:r>
              <a:rPr lang="fr-FR" sz="2400" dirty="0" err="1" smtClean="0">
                <a:solidFill>
                  <a:srgbClr val="FF0000"/>
                </a:solidFill>
              </a:rPr>
              <a:t>here</a:t>
            </a:r>
            <a:r>
              <a:rPr lang="fr-FR" sz="2400" dirty="0" smtClean="0">
                <a:solidFill>
                  <a:srgbClr val="FF0000"/>
                </a:solidFill>
              </a:rPr>
              <a:t> \</a:t>
            </a:r>
            <a:r>
              <a:rPr lang="fr-FR" sz="2400" dirty="0" err="1" smtClean="0">
                <a:solidFill>
                  <a:srgbClr val="FF0000"/>
                </a:solidFill>
              </a:rPr>
              <a:t>phi_bis</a:t>
            </a:r>
            <a:r>
              <a:rPr lang="fr-FR" sz="2400" dirty="0" smtClean="0">
                <a:solidFill>
                  <a:srgbClr val="FF0000"/>
                </a:solidFill>
              </a:rPr>
              <a:t>) ?</a:t>
            </a:r>
            <a:endParaRPr lang="fr-FR" sz="2400" dirty="0">
              <a:solidFill>
                <a:srgbClr val="FF0000"/>
              </a:solidFill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514" y="918751"/>
            <a:ext cx="4410075" cy="555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044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6</a:t>
            </a:fld>
            <a:endParaRPr lang="fr-FR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rgbClr val="C85350"/>
                </a:solidFill>
              </a:rPr>
              <a:t>Link with anatomy by Boris </a:t>
            </a:r>
            <a:r>
              <a:rPr lang="en-US" b="1" dirty="0" err="1" smtClean="0">
                <a:solidFill>
                  <a:srgbClr val="C85350"/>
                </a:solidFill>
              </a:rPr>
              <a:t>Horvat</a:t>
            </a:r>
            <a:r>
              <a:rPr lang="en-US" b="1" dirty="0" smtClean="0">
                <a:solidFill>
                  <a:srgbClr val="C85350"/>
                </a:solidFill>
              </a:rPr>
              <a:t> ?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36" y="1313707"/>
            <a:ext cx="9763125" cy="511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652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7</a:t>
            </a:fld>
            <a:endParaRPr lang="fr-FR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rgbClr val="C85350"/>
                </a:solidFill>
              </a:rPr>
              <a:t>Third inflation: identification of the 2-arms, 3-arms and </a:t>
            </a:r>
            <a:r>
              <a:rPr lang="en-US" b="1" dirty="0" err="1" smtClean="0">
                <a:solidFill>
                  <a:srgbClr val="C85350"/>
                </a:solidFill>
              </a:rPr>
              <a:t>diabolos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289" y="1313707"/>
            <a:ext cx="8958313" cy="5325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256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8</a:t>
            </a:fld>
            <a:endParaRPr lang="fr-FR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rgbClr val="C85350"/>
                </a:solidFill>
              </a:rPr>
              <a:t>Another version with less colors …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08" y="977529"/>
            <a:ext cx="9458325" cy="5715000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9481587" y="2126868"/>
            <a:ext cx="25908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400" dirty="0" smtClean="0">
                <a:solidFill>
                  <a:srgbClr val="FF0000"/>
                </a:solidFill>
              </a:rPr>
              <a:t>\</a:t>
            </a:r>
            <a:r>
              <a:rPr lang="fr-FR" sz="2400" dirty="0" err="1" smtClean="0">
                <a:solidFill>
                  <a:srgbClr val="FF0000"/>
                </a:solidFill>
              </a:rPr>
              <a:t>theta</a:t>
            </a:r>
            <a:r>
              <a:rPr lang="fr-FR" sz="2400" dirty="0" smtClean="0">
                <a:solidFill>
                  <a:srgbClr val="FF0000"/>
                </a:solidFill>
              </a:rPr>
              <a:t> and </a:t>
            </a:r>
            <a:r>
              <a:rPr lang="fr-FR" sz="2400" dirty="0" smtClean="0">
                <a:solidFill>
                  <a:srgbClr val="FF0000"/>
                </a:solidFill>
              </a:rPr>
              <a:t>\lambda couple -&gt; part of a </a:t>
            </a:r>
            <a:r>
              <a:rPr lang="fr-FR" sz="2400" dirty="0" err="1" smtClean="0">
                <a:solidFill>
                  <a:srgbClr val="FF0000"/>
                </a:solidFill>
              </a:rPr>
              <a:t>propeller</a:t>
            </a:r>
            <a:r>
              <a:rPr lang="fr-FR" sz="2400" dirty="0" smtClean="0">
                <a:solidFill>
                  <a:srgbClr val="FF0000"/>
                </a:solidFill>
              </a:rPr>
              <a:t> -&gt; </a:t>
            </a:r>
            <a:r>
              <a:rPr lang="fr-FR" sz="2400" dirty="0" err="1" smtClean="0">
                <a:solidFill>
                  <a:srgbClr val="FF0000"/>
                </a:solidFill>
              </a:rPr>
              <a:t>highlight</a:t>
            </a:r>
            <a:r>
              <a:rPr lang="fr-FR" sz="2400" dirty="0" smtClean="0">
                <a:solidFill>
                  <a:srgbClr val="FF0000"/>
                </a:solidFill>
              </a:rPr>
              <a:t> a </a:t>
            </a:r>
            <a:r>
              <a:rPr lang="fr-FR" sz="2400" dirty="0" err="1" smtClean="0">
                <a:solidFill>
                  <a:srgbClr val="FF0000"/>
                </a:solidFill>
              </a:rPr>
              <a:t>specific</a:t>
            </a:r>
            <a:r>
              <a:rPr lang="fr-FR" sz="2400" dirty="0" smtClean="0">
                <a:solidFill>
                  <a:srgbClr val="FF0000"/>
                </a:solidFill>
              </a:rPr>
              <a:t> configuration of </a:t>
            </a:r>
            <a:r>
              <a:rPr lang="fr-FR" sz="2400" dirty="0" err="1" smtClean="0">
                <a:solidFill>
                  <a:srgbClr val="FF0000"/>
                </a:solidFill>
              </a:rPr>
              <a:t>two</a:t>
            </a:r>
            <a:r>
              <a:rPr lang="fr-FR" sz="2400" dirty="0" smtClean="0">
                <a:solidFill>
                  <a:srgbClr val="FF0000"/>
                </a:solidFill>
              </a:rPr>
              <a:t> full clusters !</a:t>
            </a:r>
            <a:endParaRPr lang="fr-FR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429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9</a:t>
            </a:fld>
            <a:endParaRPr lang="fr-FR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rgbClr val="C85350"/>
                </a:solidFill>
              </a:rPr>
              <a:t>Third to fifth inflation: identification of the 2-arms, 3-arms and </a:t>
            </a:r>
            <a:r>
              <a:rPr lang="en-US" b="1" dirty="0" err="1" smtClean="0">
                <a:solidFill>
                  <a:srgbClr val="C85350"/>
                </a:solidFill>
              </a:rPr>
              <a:t>diabolos</a:t>
            </a:r>
            <a:r>
              <a:rPr lang="en-US" b="1" dirty="0" smtClean="0">
                <a:solidFill>
                  <a:srgbClr val="C85350"/>
                </a:solidFill>
              </a:rPr>
              <a:t> … 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2"/>
          <a:srcRect b="1770"/>
          <a:stretch/>
        </p:blipFill>
        <p:spPr>
          <a:xfrm>
            <a:off x="566386" y="1210565"/>
            <a:ext cx="4591050" cy="5248927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499" y="1659446"/>
            <a:ext cx="4353577" cy="4070627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6339499" y="5812379"/>
            <a:ext cx="60244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400" dirty="0" err="1" smtClean="0">
                <a:solidFill>
                  <a:srgbClr val="FF0000"/>
                </a:solidFill>
              </a:rPr>
              <a:t>Very</a:t>
            </a:r>
            <a:r>
              <a:rPr lang="fr-FR" sz="2400" dirty="0" smtClean="0">
                <a:solidFill>
                  <a:srgbClr val="FF0000"/>
                </a:solidFill>
              </a:rPr>
              <a:t> long to do by hand !!!</a:t>
            </a:r>
            <a:endParaRPr lang="fr-FR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7683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10</a:t>
            </a:fld>
            <a:endParaRPr lang="fr-FR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418459" y="19748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b="1" dirty="0" smtClean="0">
                <a:solidFill>
                  <a:srgbClr val="C85350"/>
                </a:solidFill>
              </a:rPr>
              <a:t>New puzzle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761" y="1187450"/>
            <a:ext cx="7362825" cy="553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175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11</a:t>
            </a:fld>
            <a:endParaRPr lang="fr-FR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418459" y="19748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b="1" dirty="0" smtClean="0">
                <a:solidFill>
                  <a:srgbClr val="C85350"/>
                </a:solidFill>
              </a:rPr>
              <a:t>New puzzle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2211" y="1050827"/>
            <a:ext cx="7456489" cy="5807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8878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12</a:t>
            </a:fld>
            <a:endParaRPr lang="fr-FR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418459" y="19748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b="1" dirty="0" err="1" smtClean="0">
                <a:solidFill>
                  <a:srgbClr val="C85350"/>
                </a:solidFill>
              </a:rPr>
              <a:t>Homochiral</a:t>
            </a:r>
            <a:r>
              <a:rPr lang="fr-FR" b="1" dirty="0" smtClean="0">
                <a:solidFill>
                  <a:srgbClr val="C85350"/>
                </a:solidFill>
              </a:rPr>
              <a:t> </a:t>
            </a:r>
            <a:r>
              <a:rPr lang="fr-FR" b="1" dirty="0" err="1" smtClean="0">
                <a:solidFill>
                  <a:srgbClr val="C85350"/>
                </a:solidFill>
              </a:rPr>
              <a:t>assembly</a:t>
            </a:r>
            <a:r>
              <a:rPr lang="fr-FR" b="1" dirty="0" smtClean="0">
                <a:solidFill>
                  <a:srgbClr val="C85350"/>
                </a:solidFill>
              </a:rPr>
              <a:t> </a:t>
            </a:r>
            <a:r>
              <a:rPr lang="fr-FR" b="1" dirty="0" err="1" smtClean="0">
                <a:solidFill>
                  <a:srgbClr val="C85350"/>
                </a:solidFill>
              </a:rPr>
              <a:t>rule</a:t>
            </a:r>
            <a:r>
              <a:rPr lang="fr-FR" b="1" dirty="0" smtClean="0">
                <a:solidFill>
                  <a:srgbClr val="C85350"/>
                </a:solidFill>
              </a:rPr>
              <a:t> </a:t>
            </a:r>
            <a:r>
              <a:rPr lang="fr-FR" b="1" dirty="0" err="1" smtClean="0">
                <a:solidFill>
                  <a:srgbClr val="C85350"/>
                </a:solidFill>
              </a:rPr>
              <a:t>from</a:t>
            </a:r>
            <a:r>
              <a:rPr lang="fr-FR" b="1" dirty="0" smtClean="0">
                <a:solidFill>
                  <a:srgbClr val="C85350"/>
                </a:solidFill>
              </a:rPr>
              <a:t> </a:t>
            </a:r>
            <a:r>
              <a:rPr lang="fr-FR" b="1" dirty="0" err="1" smtClean="0">
                <a:solidFill>
                  <a:srgbClr val="C85350"/>
                </a:solidFill>
              </a:rPr>
              <a:t>these</a:t>
            </a:r>
            <a:r>
              <a:rPr lang="fr-FR" b="1" dirty="0" smtClean="0">
                <a:solidFill>
                  <a:srgbClr val="C85350"/>
                </a:solidFill>
              </a:rPr>
              <a:t> </a:t>
            </a:r>
            <a:r>
              <a:rPr lang="fr-FR" b="1" dirty="0" err="1" smtClean="0">
                <a:solidFill>
                  <a:srgbClr val="C85350"/>
                </a:solidFill>
              </a:rPr>
              <a:t>pieces</a:t>
            </a:r>
            <a:r>
              <a:rPr lang="fr-FR" b="1" dirty="0" smtClean="0">
                <a:solidFill>
                  <a:srgbClr val="C85350"/>
                </a:solidFill>
              </a:rPr>
              <a:t> ???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2211" y="1050827"/>
            <a:ext cx="7456489" cy="5807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3580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13</a:t>
            </a:fld>
            <a:endParaRPr lang="fr-FR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418459" y="19748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b="1" dirty="0" smtClean="0">
                <a:solidFill>
                  <a:srgbClr val="C85350"/>
                </a:solidFill>
              </a:rPr>
              <a:t>Possible candidate for a </a:t>
            </a:r>
            <a:r>
              <a:rPr lang="fr-FR" b="1" dirty="0" err="1" smtClean="0">
                <a:solidFill>
                  <a:srgbClr val="C85350"/>
                </a:solidFill>
              </a:rPr>
              <a:t>seed</a:t>
            </a:r>
            <a:r>
              <a:rPr lang="fr-FR" b="1" dirty="0" smtClean="0">
                <a:solidFill>
                  <a:srgbClr val="C85350"/>
                </a:solidFill>
              </a:rPr>
              <a:t> ?</a:t>
            </a:r>
            <a:endParaRPr lang="fr-FR" b="1" dirty="0">
              <a:solidFill>
                <a:srgbClr val="C85350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3636939" y="1296234"/>
            <a:ext cx="60244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400" dirty="0" err="1" smtClean="0">
                <a:solidFill>
                  <a:srgbClr val="FF0000"/>
                </a:solidFill>
              </a:rPr>
              <a:t>Three</a:t>
            </a:r>
            <a:r>
              <a:rPr lang="fr-FR" sz="2400" dirty="0" smtClean="0">
                <a:solidFill>
                  <a:srgbClr val="FF0000"/>
                </a:solidFill>
              </a:rPr>
              <a:t> 2-arms </a:t>
            </a:r>
            <a:r>
              <a:rPr lang="fr-FR" sz="2400" dirty="0" err="1" smtClean="0">
                <a:solidFill>
                  <a:srgbClr val="FF0000"/>
                </a:solidFill>
              </a:rPr>
              <a:t>combined</a:t>
            </a:r>
            <a:r>
              <a:rPr lang="fr-FR" sz="2400" dirty="0" smtClean="0">
                <a:solidFill>
                  <a:srgbClr val="FF0000"/>
                </a:solidFill>
              </a:rPr>
              <a:t> in </a:t>
            </a:r>
            <a:r>
              <a:rPr lang="fr-FR" sz="2400" dirty="0" err="1" smtClean="0">
                <a:solidFill>
                  <a:srgbClr val="FF0000"/>
                </a:solidFill>
              </a:rPr>
              <a:t>this</a:t>
            </a:r>
            <a:r>
              <a:rPr lang="fr-FR" sz="2400" dirty="0" smtClean="0">
                <a:solidFill>
                  <a:srgbClr val="FF0000"/>
                </a:solidFill>
              </a:rPr>
              <a:t> </a:t>
            </a:r>
            <a:r>
              <a:rPr lang="fr-FR" sz="2400" dirty="0" err="1" smtClean="0">
                <a:solidFill>
                  <a:srgbClr val="FF0000"/>
                </a:solidFill>
              </a:rPr>
              <a:t>way</a:t>
            </a:r>
            <a:r>
              <a:rPr lang="fr-FR" sz="2400" dirty="0">
                <a:solidFill>
                  <a:srgbClr val="FF0000"/>
                </a:solidFill>
              </a:rPr>
              <a:t>:</a:t>
            </a:r>
            <a:endParaRPr lang="fr-FR" sz="2400" dirty="0" smtClean="0">
              <a:solidFill>
                <a:srgbClr val="FF0000"/>
              </a:solidFill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960" y="1846730"/>
            <a:ext cx="9094152" cy="4390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8514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14</a:t>
            </a:fld>
            <a:endParaRPr lang="fr-FR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418459" y="19748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b="1" dirty="0" smtClean="0">
                <a:solidFill>
                  <a:srgbClr val="C85350"/>
                </a:solidFill>
              </a:rPr>
              <a:t>Possible candidate for 3-fold </a:t>
            </a:r>
            <a:r>
              <a:rPr lang="fr-FR" b="1" dirty="0" err="1" smtClean="0">
                <a:solidFill>
                  <a:srgbClr val="C85350"/>
                </a:solidFill>
              </a:rPr>
              <a:t>symmetry</a:t>
            </a:r>
            <a:r>
              <a:rPr lang="fr-FR" b="1" dirty="0" smtClean="0">
                <a:solidFill>
                  <a:srgbClr val="C85350"/>
                </a:solidFill>
              </a:rPr>
              <a:t> center</a:t>
            </a:r>
            <a:endParaRPr lang="fr-FR" b="1" dirty="0">
              <a:solidFill>
                <a:srgbClr val="C85350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2214880" y="1256276"/>
            <a:ext cx="86867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400" dirty="0" smtClean="0">
                <a:solidFill>
                  <a:srgbClr val="FF0000"/>
                </a:solidFill>
              </a:rPr>
              <a:t>Compare </a:t>
            </a:r>
            <a:r>
              <a:rPr lang="fr-FR" sz="2400" dirty="0" err="1" smtClean="0">
                <a:solidFill>
                  <a:srgbClr val="FF0000"/>
                </a:solidFill>
              </a:rPr>
              <a:t>with</a:t>
            </a:r>
            <a:r>
              <a:rPr lang="fr-FR" sz="2400" dirty="0" smtClean="0">
                <a:solidFill>
                  <a:srgbClr val="FF0000"/>
                </a:solidFill>
              </a:rPr>
              <a:t> center of </a:t>
            </a:r>
            <a:r>
              <a:rPr lang="fr-FR" sz="2400" dirty="0" err="1" smtClean="0">
                <a:solidFill>
                  <a:srgbClr val="FF0000"/>
                </a:solidFill>
              </a:rPr>
              <a:t>giant</a:t>
            </a:r>
            <a:r>
              <a:rPr lang="fr-FR" sz="2400" dirty="0" smtClean="0">
                <a:solidFill>
                  <a:srgbClr val="FF0000"/>
                </a:solidFill>
              </a:rPr>
              <a:t> star cluster by Boris </a:t>
            </a:r>
            <a:r>
              <a:rPr lang="fr-FR" sz="2400" dirty="0" err="1" smtClean="0">
                <a:solidFill>
                  <a:srgbClr val="FF0000"/>
                </a:solidFill>
              </a:rPr>
              <a:t>Horvat</a:t>
            </a:r>
            <a:r>
              <a:rPr lang="fr-FR" sz="2400" dirty="0" smtClean="0">
                <a:solidFill>
                  <a:srgbClr val="FF0000"/>
                </a:solidFill>
              </a:rPr>
              <a:t> ???</a:t>
            </a:r>
            <a:endParaRPr lang="fr-FR" sz="2400" dirty="0">
              <a:solidFill>
                <a:srgbClr val="FF0000"/>
              </a:solidFill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2645" y="1867372"/>
            <a:ext cx="5741670" cy="4786950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459" y="1903129"/>
            <a:ext cx="5193671" cy="4635783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2832414" y="6302130"/>
            <a:ext cx="68805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400" dirty="0" err="1" smtClean="0">
                <a:solidFill>
                  <a:srgbClr val="FF0000"/>
                </a:solidFill>
              </a:rPr>
              <a:t>True</a:t>
            </a:r>
            <a:r>
              <a:rPr lang="fr-FR" sz="2400" dirty="0" smtClean="0">
                <a:solidFill>
                  <a:srgbClr val="FF0000"/>
                </a:solidFill>
              </a:rPr>
              <a:t> </a:t>
            </a:r>
            <a:r>
              <a:rPr lang="fr-FR" sz="2400" dirty="0" err="1" smtClean="0">
                <a:solidFill>
                  <a:srgbClr val="FF0000"/>
                </a:solidFill>
              </a:rPr>
              <a:t>three</a:t>
            </a:r>
            <a:r>
              <a:rPr lang="fr-FR" sz="2400" dirty="0" smtClean="0">
                <a:solidFill>
                  <a:srgbClr val="FF0000"/>
                </a:solidFill>
              </a:rPr>
              <a:t> </a:t>
            </a:r>
            <a:r>
              <a:rPr lang="fr-FR" sz="2400" dirty="0" err="1" smtClean="0">
                <a:solidFill>
                  <a:srgbClr val="FF0000"/>
                </a:solidFill>
              </a:rPr>
              <a:t>fold</a:t>
            </a:r>
            <a:r>
              <a:rPr lang="fr-FR" sz="2400" dirty="0">
                <a:solidFill>
                  <a:srgbClr val="FF0000"/>
                </a:solidFill>
              </a:rPr>
              <a:t> </a:t>
            </a:r>
            <a:r>
              <a:rPr lang="fr-FR" sz="2400" dirty="0" err="1" smtClean="0">
                <a:solidFill>
                  <a:srgbClr val="FF0000"/>
                </a:solidFill>
              </a:rPr>
              <a:t>symmetry</a:t>
            </a:r>
            <a:r>
              <a:rPr lang="fr-FR" sz="2400" dirty="0" smtClean="0">
                <a:solidFill>
                  <a:srgbClr val="FF0000"/>
                </a:solidFill>
              </a:rPr>
              <a:t> point at center ???</a:t>
            </a:r>
            <a:endParaRPr lang="fr-FR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1801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15</a:t>
            </a:fld>
            <a:endParaRPr lang="fr-FR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418459" y="19748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Six orientations of the </a:t>
            </a:r>
            <a:r>
              <a:rPr lang="en-US" b="1" dirty="0" smtClean="0">
                <a:solidFill>
                  <a:srgbClr val="C85350"/>
                </a:solidFill>
              </a:rPr>
              <a:t>2-arms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0195" y="1166024"/>
            <a:ext cx="6714807" cy="519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6130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16</a:t>
            </a:fld>
            <a:endParaRPr lang="fr-FR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418459" y="19748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Six orientations of the </a:t>
            </a:r>
            <a:r>
              <a:rPr lang="en-US" b="1" dirty="0" smtClean="0">
                <a:solidFill>
                  <a:srgbClr val="C85350"/>
                </a:solidFill>
              </a:rPr>
              <a:t>2-arms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3849" y="1002778"/>
            <a:ext cx="6667500" cy="506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2560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17</a:t>
            </a:fld>
            <a:endParaRPr lang="fr-FR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ODD and EVEN orientations for Tile(1,1)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80" y="1203325"/>
            <a:ext cx="10829925" cy="5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8930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18</a:t>
            </a:fld>
            <a:endParaRPr lang="fr-FR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135" y="423862"/>
            <a:ext cx="10344150" cy="4257675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full cluster</a:t>
            </a:r>
            <a:endParaRPr lang="fr-FR" b="1" dirty="0">
              <a:solidFill>
                <a:srgbClr val="C85350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683968" y="4279077"/>
            <a:ext cx="1119117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/>
              <a:t>C cluster: one ODD </a:t>
            </a:r>
            <a:r>
              <a:rPr lang="fr-FR" sz="2800" dirty="0" err="1"/>
              <a:t>tile</a:t>
            </a:r>
            <a:r>
              <a:rPr lang="fr-FR" sz="2800" dirty="0"/>
              <a:t> at the center + 6 EVEN </a:t>
            </a:r>
            <a:r>
              <a:rPr lang="fr-FR" sz="2800" dirty="0" err="1"/>
              <a:t>tiles</a:t>
            </a:r>
            <a:r>
              <a:rPr lang="fr-FR" sz="2800" dirty="0"/>
              <a:t> </a:t>
            </a:r>
            <a:r>
              <a:rPr lang="fr-FR" sz="2800" dirty="0" err="1"/>
              <a:t>around</a:t>
            </a:r>
            <a:endParaRPr lang="fr-FR" sz="28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err="1"/>
              <a:t>Three</a:t>
            </a:r>
            <a:r>
              <a:rPr lang="fr-FR" sz="2800" dirty="0"/>
              <a:t> glue points (orange </a:t>
            </a:r>
            <a:r>
              <a:rPr lang="fr-FR" sz="2800" dirty="0" err="1"/>
              <a:t>color</a:t>
            </a:r>
            <a:r>
              <a:rPr lang="fr-FR" sz="2800" dirty="0"/>
              <a:t>): </a:t>
            </a:r>
            <a:r>
              <a:rPr lang="fr-FR" sz="2800" dirty="0" err="1"/>
              <a:t>regular</a:t>
            </a:r>
            <a:r>
              <a:rPr lang="fr-FR" sz="2800" dirty="0"/>
              <a:t> triangle </a:t>
            </a:r>
            <a:r>
              <a:rPr lang="fr-FR" sz="2800" dirty="0" err="1"/>
              <a:t>centered</a:t>
            </a:r>
            <a:r>
              <a:rPr lang="fr-FR" sz="2800" dirty="0"/>
              <a:t> on the </a:t>
            </a:r>
            <a:r>
              <a:rPr lang="fr-FR" sz="2800" dirty="0" err="1"/>
              <a:t>trifle</a:t>
            </a:r>
            <a:r>
              <a:rPr lang="fr-FR" sz="2800" dirty="0"/>
              <a:t> </a:t>
            </a:r>
            <a:r>
              <a:rPr lang="fr-FR" sz="2800" dirty="0" err="1"/>
              <a:t>shape</a:t>
            </a:r>
            <a:r>
              <a:rPr lang="fr-FR" sz="2800" dirty="0"/>
              <a:t> of the ODD </a:t>
            </a:r>
            <a:r>
              <a:rPr lang="fr-FR" sz="2800" dirty="0" err="1"/>
              <a:t>tile</a:t>
            </a:r>
            <a:endParaRPr lang="fr-FR" sz="28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/>
              <a:t>Full cluster: 3 more EVEN </a:t>
            </a:r>
            <a:r>
              <a:rPr lang="fr-FR" sz="2800" dirty="0" err="1"/>
              <a:t>tiles</a:t>
            </a:r>
            <a:r>
              <a:rPr lang="fr-FR" sz="2800" dirty="0"/>
              <a:t> </a:t>
            </a:r>
            <a:r>
              <a:rPr lang="fr-FR" sz="2800" dirty="0" err="1"/>
              <a:t>obtained</a:t>
            </a:r>
            <a:r>
              <a:rPr lang="fr-FR" sz="2800" dirty="0"/>
              <a:t> by translations (</a:t>
            </a:r>
            <a:r>
              <a:rPr lang="fr-FR" sz="2800" dirty="0" err="1"/>
              <a:t>three</a:t>
            </a:r>
            <a:r>
              <a:rPr lang="fr-FR" sz="2800" dirty="0"/>
              <a:t> </a:t>
            </a:r>
            <a:r>
              <a:rPr lang="fr-FR" sz="2800" dirty="0" err="1"/>
              <a:t>dark</a:t>
            </a:r>
            <a:r>
              <a:rPr lang="fr-FR" sz="2800" dirty="0"/>
              <a:t> </a:t>
            </a:r>
            <a:r>
              <a:rPr lang="fr-FR" sz="2800" dirty="0" err="1"/>
              <a:t>blue</a:t>
            </a:r>
            <a:r>
              <a:rPr lang="fr-FR" sz="2800" dirty="0"/>
              <a:t> </a:t>
            </a:r>
            <a:r>
              <a:rPr lang="fr-FR" sz="2800" dirty="0" err="1"/>
              <a:t>lines</a:t>
            </a:r>
            <a:r>
              <a:rPr lang="fr-FR" sz="2800" dirty="0"/>
              <a:t>)</a:t>
            </a:r>
          </a:p>
          <a:p>
            <a:endParaRPr lang="fr-FR" sz="280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199894" y="540968"/>
            <a:ext cx="20253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err="1"/>
              <a:t>Tile</a:t>
            </a:r>
            <a:r>
              <a:rPr lang="fr-FR" sz="2800" dirty="0"/>
              <a:t>(1,1)</a:t>
            </a:r>
          </a:p>
          <a:p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31247944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19</a:t>
            </a:fld>
            <a:endParaRPr lang="fr-FR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full cluster with its six rotations: n(2pi/6)</a:t>
            </a:r>
            <a:endParaRPr lang="fr-FR" b="1" dirty="0">
              <a:solidFill>
                <a:srgbClr val="C85350"/>
              </a:solidFill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162627" y="1150568"/>
            <a:ext cx="20253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err="1"/>
              <a:t>Tile</a:t>
            </a:r>
            <a:r>
              <a:rPr lang="fr-FR" sz="2800" dirty="0"/>
              <a:t>(1,1)</a:t>
            </a:r>
          </a:p>
          <a:p>
            <a:endParaRPr lang="fr-FR" sz="2800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316858" y="5361812"/>
            <a:ext cx="111911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/>
              <a:t>13 </a:t>
            </a:r>
            <a:r>
              <a:rPr lang="fr-FR" sz="2800" dirty="0" err="1"/>
              <a:t>tiles</a:t>
            </a:r>
            <a:r>
              <a:rPr lang="fr-FR" sz="2800" dirty="0"/>
              <a:t> in a full cluster: one ODD </a:t>
            </a:r>
            <a:r>
              <a:rPr lang="fr-FR" sz="2800" dirty="0" err="1"/>
              <a:t>tile</a:t>
            </a:r>
            <a:r>
              <a:rPr lang="fr-FR" sz="2800" dirty="0"/>
              <a:t> at the center + 9 EVEN </a:t>
            </a:r>
            <a:r>
              <a:rPr lang="fr-FR" sz="2800" dirty="0" err="1"/>
              <a:t>tiles</a:t>
            </a:r>
            <a:r>
              <a:rPr lang="fr-FR" sz="2800" dirty="0"/>
              <a:t> </a:t>
            </a:r>
            <a:r>
              <a:rPr lang="fr-FR" sz="2800" dirty="0" err="1"/>
              <a:t>around</a:t>
            </a:r>
            <a:endParaRPr lang="fr-FR" sz="2800" dirty="0"/>
          </a:p>
          <a:p>
            <a:endParaRPr lang="fr-FR" sz="2800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316858" y="5988166"/>
            <a:ext cx="113747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400" dirty="0"/>
              <a:t>Blue triangles (EVEN) have one horizontal </a:t>
            </a:r>
            <a:r>
              <a:rPr lang="fr-FR" sz="2400" dirty="0" err="1"/>
              <a:t>edge</a:t>
            </a:r>
            <a:r>
              <a:rPr lang="fr-FR" sz="2400" dirty="0"/>
              <a:t> </a:t>
            </a:r>
            <a:r>
              <a:rPr lang="fr-FR" sz="2400" dirty="0" err="1"/>
              <a:t>when</a:t>
            </a:r>
            <a:r>
              <a:rPr lang="fr-FR" sz="2400" dirty="0"/>
              <a:t> </a:t>
            </a:r>
            <a:r>
              <a:rPr lang="fr-FR" sz="2400" dirty="0" err="1"/>
              <a:t>pink</a:t>
            </a:r>
            <a:r>
              <a:rPr lang="fr-FR" sz="2400" dirty="0"/>
              <a:t> (ODD) have a vertical one</a:t>
            </a:r>
          </a:p>
          <a:p>
            <a:endParaRPr lang="fr-FR" sz="24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4" y="2038735"/>
            <a:ext cx="10953750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6625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20</a:t>
            </a:fld>
            <a:endParaRPr lang="fr-FR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3812" y="1273174"/>
            <a:ext cx="5283822" cy="4670425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Possible configurations at the glue points ?</a:t>
            </a:r>
            <a:endParaRPr lang="fr-FR" b="1" dirty="0">
              <a:solidFill>
                <a:srgbClr val="C85350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2754068" y="5879296"/>
            <a:ext cx="111911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/>
              <a:t>Half-</a:t>
            </a:r>
            <a:r>
              <a:rPr lang="fr-FR" sz="2800" dirty="0" err="1"/>
              <a:t>turned</a:t>
            </a:r>
            <a:r>
              <a:rPr lang="fr-FR" sz="2800" dirty="0"/>
              <a:t> or </a:t>
            </a:r>
            <a:r>
              <a:rPr lang="fr-FR" sz="2800" dirty="0" err="1"/>
              <a:t>translated</a:t>
            </a:r>
            <a:r>
              <a:rPr lang="fr-FR" sz="2800" dirty="0"/>
              <a:t> </a:t>
            </a:r>
            <a:r>
              <a:rPr lang="fr-FR" sz="2800" dirty="0" err="1"/>
              <a:t>monotile</a:t>
            </a:r>
            <a:r>
              <a:rPr lang="fr-FR" sz="2800" dirty="0"/>
              <a:t> (violet line)</a:t>
            </a:r>
          </a:p>
          <a:p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7374917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21</a:t>
            </a:fld>
            <a:endParaRPr lang="fr-FR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Three possible configurations at the glue points</a:t>
            </a:r>
            <a:endParaRPr lang="fr-FR" b="1" dirty="0">
              <a:solidFill>
                <a:srgbClr val="C85350"/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765248" y="5473005"/>
            <a:ext cx="1119117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/>
              <a:t>configuration </a:t>
            </a:r>
            <a:r>
              <a:rPr lang="fr-FR" sz="2800" dirty="0" err="1"/>
              <a:t>with</a:t>
            </a:r>
            <a:r>
              <a:rPr lang="fr-FR" sz="2800" dirty="0"/>
              <a:t> </a:t>
            </a:r>
            <a:r>
              <a:rPr lang="fr-FR" sz="2800" dirty="0" err="1"/>
              <a:t>three</a:t>
            </a:r>
            <a:r>
              <a:rPr lang="fr-FR" sz="2800" dirty="0"/>
              <a:t> </a:t>
            </a:r>
            <a:r>
              <a:rPr lang="fr-FR" sz="2800" dirty="0" err="1"/>
              <a:t>half-turned</a:t>
            </a:r>
            <a:r>
              <a:rPr lang="fr-FR" sz="2800" dirty="0"/>
              <a:t> </a:t>
            </a:r>
            <a:r>
              <a:rPr lang="fr-FR" sz="2800" dirty="0" err="1"/>
              <a:t>tiles</a:t>
            </a:r>
            <a:r>
              <a:rPr lang="fr-FR" sz="2800" dirty="0"/>
              <a:t> </a:t>
            </a:r>
            <a:r>
              <a:rPr lang="fr-FR" sz="2800" dirty="0" err="1"/>
              <a:t>is</a:t>
            </a:r>
            <a:r>
              <a:rPr lang="fr-FR" sz="2800" dirty="0"/>
              <a:t> the </a:t>
            </a:r>
            <a:r>
              <a:rPr lang="fr-FR" sz="2800" dirty="0" err="1"/>
              <a:t>most</a:t>
            </a:r>
            <a:r>
              <a:rPr lang="fr-FR" sz="2800" dirty="0"/>
              <a:t> </a:t>
            </a:r>
            <a:r>
              <a:rPr lang="fr-FR" sz="2800" dirty="0" err="1"/>
              <a:t>common</a:t>
            </a:r>
            <a:endParaRPr lang="fr-FR" sz="28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/>
              <a:t>The </a:t>
            </a:r>
            <a:r>
              <a:rPr lang="fr-FR" sz="2800" dirty="0" err="1" smtClean="0"/>
              <a:t>other</a:t>
            </a:r>
            <a:r>
              <a:rPr lang="fr-FR" sz="2800" dirty="0" smtClean="0"/>
              <a:t> </a:t>
            </a:r>
            <a:r>
              <a:rPr lang="fr-FR" sz="2800" dirty="0" err="1" smtClean="0"/>
              <a:t>two</a:t>
            </a:r>
            <a:r>
              <a:rPr lang="fr-FR" sz="2800" dirty="0" smtClean="0"/>
              <a:t> are </a:t>
            </a:r>
            <a:r>
              <a:rPr lang="fr-FR" sz="2800" dirty="0" err="1" smtClean="0"/>
              <a:t>always</a:t>
            </a:r>
            <a:r>
              <a:rPr lang="fr-FR" sz="2800" dirty="0" smtClean="0"/>
              <a:t> </a:t>
            </a:r>
            <a:r>
              <a:rPr lang="fr-FR" sz="2800" dirty="0" err="1" smtClean="0"/>
              <a:t>coupled</a:t>
            </a:r>
            <a:r>
              <a:rPr lang="fr-FR" sz="2800" dirty="0" smtClean="0"/>
              <a:t> </a:t>
            </a:r>
            <a:r>
              <a:rPr lang="fr-FR" sz="2800" dirty="0" err="1" smtClean="0"/>
              <a:t>together</a:t>
            </a:r>
            <a:r>
              <a:rPr lang="fr-FR" sz="2800" dirty="0" smtClean="0"/>
              <a:t> in the </a:t>
            </a:r>
            <a:r>
              <a:rPr lang="fr-FR" sz="2800" dirty="0" err="1" smtClean="0"/>
              <a:t>tiling</a:t>
            </a:r>
            <a:endParaRPr lang="fr-FR" sz="2800" dirty="0"/>
          </a:p>
          <a:p>
            <a:endParaRPr lang="fr-FR" sz="2800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248" y="2080413"/>
            <a:ext cx="4166926" cy="2053577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9000" y="1143842"/>
            <a:ext cx="4427359" cy="2160312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0834" y="3304154"/>
            <a:ext cx="4410282" cy="2168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7939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22</a:t>
            </a:fld>
            <a:endParaRPr lang="fr-FR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Orientation of the EVEN tiles in the most frequent configuration</a:t>
            </a:r>
            <a:endParaRPr lang="fr-FR" b="1" dirty="0">
              <a:solidFill>
                <a:srgbClr val="C85350"/>
              </a:solidFill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162627" y="1150568"/>
            <a:ext cx="20253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err="1"/>
              <a:t>Tile</a:t>
            </a:r>
            <a:r>
              <a:rPr lang="fr-FR" sz="2800" dirty="0"/>
              <a:t>(1,1)</a:t>
            </a:r>
          </a:p>
          <a:p>
            <a:endParaRPr lang="fr-FR" sz="2800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805213" y="5423163"/>
            <a:ext cx="111911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400" dirty="0"/>
              <a:t>6 </a:t>
            </a:r>
            <a:r>
              <a:rPr lang="fr-FR" sz="2400" dirty="0" err="1"/>
              <a:t>tiles</a:t>
            </a:r>
            <a:r>
              <a:rPr lang="fr-FR" sz="2400" dirty="0"/>
              <a:t> in the C-cluster (corona made of M12, M4, M2, M12, M10, M8)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400" dirty="0"/>
              <a:t>3 </a:t>
            </a:r>
            <a:r>
              <a:rPr lang="fr-FR" sz="2400" dirty="0" err="1"/>
              <a:t>translated</a:t>
            </a:r>
            <a:r>
              <a:rPr lang="fr-FR" sz="2400" dirty="0"/>
              <a:t> (M2, M10, M12) (</a:t>
            </a:r>
            <a:r>
              <a:rPr lang="fr-FR" sz="2400" dirty="0" err="1"/>
              <a:t>along</a:t>
            </a:r>
            <a:r>
              <a:rPr lang="fr-FR" sz="2400" dirty="0"/>
              <a:t> </a:t>
            </a:r>
            <a:r>
              <a:rPr lang="fr-FR" sz="2400" dirty="0" err="1"/>
              <a:t>blue</a:t>
            </a:r>
            <a:r>
              <a:rPr lang="fr-FR" sz="2400" dirty="0"/>
              <a:t> </a:t>
            </a:r>
            <a:r>
              <a:rPr lang="fr-FR" sz="2400" dirty="0" err="1"/>
              <a:t>lines</a:t>
            </a:r>
            <a:r>
              <a:rPr lang="fr-FR" sz="2400" dirty="0"/>
              <a:t>, the </a:t>
            </a:r>
            <a:r>
              <a:rPr lang="fr-FR" sz="2400" dirty="0" err="1"/>
              <a:t>edges</a:t>
            </a:r>
            <a:r>
              <a:rPr lang="fr-FR" sz="2400" dirty="0"/>
              <a:t> of </a:t>
            </a:r>
            <a:r>
              <a:rPr lang="fr-FR" sz="2400" dirty="0" err="1"/>
              <a:t>blue</a:t>
            </a:r>
            <a:r>
              <a:rPr lang="fr-FR" sz="2400" dirty="0"/>
              <a:t> triangles)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400" dirty="0"/>
              <a:t>3 </a:t>
            </a:r>
            <a:r>
              <a:rPr lang="fr-FR" sz="2400" dirty="0" err="1"/>
              <a:t>half-turned</a:t>
            </a:r>
            <a:r>
              <a:rPr lang="fr-FR" sz="2400" dirty="0"/>
              <a:t> (M4-&gt;M10, M12 -&gt; M6, M8 -&gt; M2)</a:t>
            </a:r>
          </a:p>
          <a:p>
            <a:endParaRPr lang="fr-FR" sz="2400" dirty="0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2516" y="1503101"/>
            <a:ext cx="7609684" cy="3750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6361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23</a:t>
            </a:fld>
            <a:endParaRPr lang="fr-FR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71121" y="197485"/>
            <a:ext cx="11905620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Construction for the whole tiling ???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831" y="1113239"/>
            <a:ext cx="9728200" cy="5504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6691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24</a:t>
            </a:fld>
            <a:endParaRPr lang="fr-FR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71121" y="197485"/>
            <a:ext cx="11905620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Three patterns in the whole tiling </a:t>
            </a:r>
            <a:r>
              <a:rPr lang="en-US" b="1" dirty="0">
                <a:solidFill>
                  <a:srgbClr val="C85350"/>
                </a:solidFill>
                <a:sym typeface="Wingdings" panose="05000000000000000000" pitchFamily="2" charset="2"/>
              </a:rPr>
              <a:t>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965" y="1270090"/>
            <a:ext cx="3598915" cy="508626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0364" y="1043748"/>
            <a:ext cx="7233920" cy="569581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2636168" y="6015692"/>
            <a:ext cx="2025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/>
              <a:t>diabolo</a:t>
            </a:r>
            <a:endParaRPr lang="fr-FR" sz="280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140368" y="6277302"/>
            <a:ext cx="2025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/>
              <a:t>2-arms</a:t>
            </a:r>
            <a:endParaRPr lang="fr-FR" sz="2800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340050" y="1593542"/>
            <a:ext cx="2025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/>
              <a:t>3-arms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31959745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25</a:t>
            </a:fld>
            <a:endParaRPr lang="fr-FR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215259" y="143018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err="1" smtClean="0">
                <a:solidFill>
                  <a:srgbClr val="C85350"/>
                </a:solidFill>
              </a:rPr>
              <a:t>Diabolo</a:t>
            </a:r>
            <a:r>
              <a:rPr lang="en-US" b="1" dirty="0" smtClean="0">
                <a:solidFill>
                  <a:srgbClr val="C85350"/>
                </a:solidFill>
              </a:rPr>
              <a:t> pattern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1224" y="1725355"/>
            <a:ext cx="5086350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3131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26</a:t>
            </a:fld>
            <a:endParaRPr lang="fr-FR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3018"/>
            <a:ext cx="4572000" cy="6715125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3786" y="143018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err="1" smtClean="0">
                <a:solidFill>
                  <a:srgbClr val="C85350"/>
                </a:solidFill>
              </a:rPr>
              <a:t>Diabolo</a:t>
            </a:r>
            <a:r>
              <a:rPr lang="en-US" b="1" dirty="0" smtClean="0">
                <a:solidFill>
                  <a:srgbClr val="C85350"/>
                </a:solidFill>
              </a:rPr>
              <a:t> pattern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653" y="984250"/>
            <a:ext cx="7696200" cy="53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6389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27</a:t>
            </a:fld>
            <a:endParaRPr lang="fr-FR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215259" y="143018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err="1" smtClean="0">
                <a:solidFill>
                  <a:srgbClr val="C85350"/>
                </a:solidFill>
              </a:rPr>
              <a:t>Diabolo</a:t>
            </a:r>
            <a:r>
              <a:rPr lang="en-US" b="1" dirty="0" smtClean="0">
                <a:solidFill>
                  <a:srgbClr val="C85350"/>
                </a:solidFill>
              </a:rPr>
              <a:t> pattern</a:t>
            </a:r>
            <a:endParaRPr lang="fr-FR" b="1" dirty="0">
              <a:solidFill>
                <a:srgbClr val="C85350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1233229" y="6027003"/>
            <a:ext cx="87473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400" dirty="0" err="1" smtClean="0"/>
              <a:t>Three</a:t>
            </a:r>
            <a:r>
              <a:rPr lang="fr-FR" sz="2400" dirty="0" smtClean="0"/>
              <a:t> orientations of the </a:t>
            </a:r>
            <a:r>
              <a:rPr lang="fr-FR" sz="2400" dirty="0" err="1" smtClean="0"/>
              <a:t>same</a:t>
            </a:r>
            <a:r>
              <a:rPr lang="fr-FR" sz="2400" dirty="0" smtClean="0"/>
              <a:t> diabolo pattern</a:t>
            </a:r>
            <a:endParaRPr lang="fr-FR" sz="2400" dirty="0"/>
          </a:p>
          <a:p>
            <a:endParaRPr lang="fr-FR" sz="2400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976" y="979449"/>
            <a:ext cx="11221564" cy="5047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4552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28</a:t>
            </a:fld>
            <a:endParaRPr lang="fr-FR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977" y="236515"/>
            <a:ext cx="3797617" cy="5095208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4399" y="323532"/>
            <a:ext cx="4957277" cy="5099631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805213" y="5423163"/>
            <a:ext cx="111911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400" dirty="0" err="1"/>
              <a:t>Two</a:t>
            </a:r>
            <a:r>
              <a:rPr lang="fr-FR" sz="2400" dirty="0"/>
              <a:t> ‘croissants’ of 4 clusters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400" dirty="0" err="1"/>
              <a:t>Two</a:t>
            </a:r>
            <a:r>
              <a:rPr lang="fr-FR" sz="2400" dirty="0"/>
              <a:t> </a:t>
            </a:r>
            <a:r>
              <a:rPr lang="fr-FR" sz="2400" dirty="0" err="1"/>
              <a:t>translated</a:t>
            </a:r>
            <a:r>
              <a:rPr lang="fr-FR" sz="2400" dirty="0"/>
              <a:t> </a:t>
            </a:r>
            <a:r>
              <a:rPr lang="fr-FR" sz="2400" dirty="0" err="1"/>
              <a:t>monotiles</a:t>
            </a:r>
            <a:r>
              <a:rPr lang="fr-FR" sz="2400" dirty="0"/>
              <a:t> in the middle + superposition of glue points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400" dirty="0" err="1"/>
              <a:t>Easy</a:t>
            </a:r>
            <a:r>
              <a:rPr lang="fr-FR" sz="2400" dirty="0"/>
              <a:t> to code ! </a:t>
            </a:r>
            <a:r>
              <a:rPr lang="fr-FR" sz="2400" dirty="0">
                <a:sym typeface="Wingdings" panose="05000000000000000000" pitchFamily="2" charset="2"/>
              </a:rPr>
              <a:t></a:t>
            </a:r>
            <a:endParaRPr lang="fr-FR" sz="2400" dirty="0"/>
          </a:p>
          <a:p>
            <a:endParaRPr lang="fr-FR" sz="2400" dirty="0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215259" y="143018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rgbClr val="C85350"/>
                </a:solidFill>
              </a:rPr>
              <a:t>Two-arms chiral </a:t>
            </a:r>
            <a:r>
              <a:rPr lang="en-US" b="1" dirty="0">
                <a:solidFill>
                  <a:srgbClr val="C85350"/>
                </a:solidFill>
              </a:rPr>
              <a:t>pattern</a:t>
            </a:r>
            <a:endParaRPr lang="fr-FR" b="1" dirty="0">
              <a:solidFill>
                <a:srgbClr val="C853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93014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29</a:t>
            </a:fld>
            <a:endParaRPr lang="fr-FR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418459" y="19748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rgbClr val="C85350"/>
                </a:solidFill>
              </a:rPr>
              <a:t>Link with triangular pattern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527" y="1269999"/>
            <a:ext cx="4804630" cy="4996815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760" y="1035840"/>
            <a:ext cx="4946091" cy="5024600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785568" y="6027003"/>
            <a:ext cx="111911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400" dirty="0" smtClean="0"/>
              <a:t>The </a:t>
            </a:r>
            <a:r>
              <a:rPr lang="fr-FR" sz="2400" dirty="0" err="1" smtClean="0"/>
              <a:t>two</a:t>
            </a:r>
            <a:r>
              <a:rPr lang="fr-FR" sz="2400" dirty="0" smtClean="0"/>
              <a:t> </a:t>
            </a:r>
            <a:r>
              <a:rPr lang="fr-FR" sz="2400" dirty="0" err="1" smtClean="0"/>
              <a:t>other</a:t>
            </a:r>
            <a:r>
              <a:rPr lang="fr-FR" sz="2400" dirty="0" smtClean="0"/>
              <a:t> environnements </a:t>
            </a:r>
            <a:r>
              <a:rPr lang="fr-FR" sz="2400" dirty="0" err="1" smtClean="0"/>
              <a:t>with</a:t>
            </a:r>
            <a:r>
              <a:rPr lang="fr-FR" sz="2400" dirty="0" smtClean="0"/>
              <a:t> a violet </a:t>
            </a:r>
            <a:r>
              <a:rPr lang="fr-FR" sz="2400" dirty="0" err="1" smtClean="0"/>
              <a:t>lines</a:t>
            </a:r>
            <a:r>
              <a:rPr lang="fr-FR" sz="2400" dirty="0" smtClean="0"/>
              <a:t> are </a:t>
            </a:r>
            <a:r>
              <a:rPr lang="fr-FR" sz="2400" dirty="0" err="1" smtClean="0"/>
              <a:t>always</a:t>
            </a:r>
            <a:r>
              <a:rPr lang="fr-FR" sz="2400" dirty="0" smtClean="0"/>
              <a:t> </a:t>
            </a:r>
            <a:r>
              <a:rPr lang="fr-FR" sz="2400" dirty="0" err="1" smtClean="0"/>
              <a:t>coupled</a:t>
            </a:r>
            <a:r>
              <a:rPr lang="fr-FR" sz="2400" dirty="0" smtClean="0"/>
              <a:t> </a:t>
            </a:r>
            <a:r>
              <a:rPr lang="fr-FR" sz="2400" dirty="0" err="1" smtClean="0"/>
              <a:t>together</a:t>
            </a:r>
            <a:endParaRPr lang="fr-FR" sz="2400" dirty="0"/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6168344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30</a:t>
            </a:fld>
            <a:endParaRPr lang="fr-FR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418459" y="19748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Six orientations of the </a:t>
            </a:r>
            <a:r>
              <a:rPr lang="en-US" b="1" dirty="0" smtClean="0">
                <a:solidFill>
                  <a:srgbClr val="C85350"/>
                </a:solidFill>
              </a:rPr>
              <a:t>2-arms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0195" y="1166024"/>
            <a:ext cx="6714807" cy="519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8387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31</a:t>
            </a:fld>
            <a:endParaRPr lang="fr-FR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418459" y="19748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Six orientations of the </a:t>
            </a:r>
            <a:r>
              <a:rPr lang="en-US" b="1" dirty="0" smtClean="0">
                <a:solidFill>
                  <a:srgbClr val="C85350"/>
                </a:solidFill>
              </a:rPr>
              <a:t>2-arms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3849" y="1002778"/>
            <a:ext cx="6667500" cy="50673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1313213" y="6061858"/>
            <a:ext cx="111911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>
                <a:solidFill>
                  <a:srgbClr val="FF0000"/>
                </a:solidFill>
              </a:rPr>
              <a:t>8 </a:t>
            </a:r>
            <a:r>
              <a:rPr lang="fr-FR" sz="2800" dirty="0" err="1">
                <a:solidFill>
                  <a:srgbClr val="FF0000"/>
                </a:solidFill>
              </a:rPr>
              <a:t>combinations</a:t>
            </a:r>
            <a:r>
              <a:rPr lang="fr-FR" sz="2800" dirty="0">
                <a:solidFill>
                  <a:srgbClr val="FF0000"/>
                </a:solidFill>
              </a:rPr>
              <a:t> for a </a:t>
            </a:r>
            <a:r>
              <a:rPr lang="fr-FR" sz="2800" dirty="0" err="1">
                <a:solidFill>
                  <a:srgbClr val="FF0000"/>
                </a:solidFill>
              </a:rPr>
              <a:t>given</a:t>
            </a:r>
            <a:r>
              <a:rPr lang="fr-FR" sz="2800" dirty="0">
                <a:solidFill>
                  <a:srgbClr val="FF0000"/>
                </a:solidFill>
              </a:rPr>
              <a:t> cluster orientation (green crosses)</a:t>
            </a:r>
          </a:p>
          <a:p>
            <a:endParaRPr lang="fr-FR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24261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32</a:t>
            </a:fld>
            <a:endParaRPr lang="fr-FR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418459" y="19748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Six orientations of the </a:t>
            </a:r>
            <a:r>
              <a:rPr lang="en-US" b="1" dirty="0" smtClean="0">
                <a:solidFill>
                  <a:srgbClr val="C85350"/>
                </a:solidFill>
              </a:rPr>
              <a:t>2-arms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400" y="1505801"/>
            <a:ext cx="6561137" cy="4719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2874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33</a:t>
            </a:fld>
            <a:endParaRPr lang="fr-FR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418459" y="19748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rgbClr val="C85350"/>
                </a:solidFill>
              </a:rPr>
              <a:t>four </a:t>
            </a:r>
            <a:r>
              <a:rPr lang="en-US" b="1" dirty="0">
                <a:solidFill>
                  <a:srgbClr val="C85350"/>
                </a:solidFill>
              </a:rPr>
              <a:t>orientations of the </a:t>
            </a:r>
            <a:r>
              <a:rPr lang="en-US" b="1" dirty="0" smtClean="0">
                <a:solidFill>
                  <a:srgbClr val="C85350"/>
                </a:solidFill>
              </a:rPr>
              <a:t>3-arms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099" y="1230924"/>
            <a:ext cx="5368925" cy="5490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8588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34</a:t>
            </a:fld>
            <a:endParaRPr lang="fr-FR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418459" y="19748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b="1" dirty="0" smtClean="0">
                <a:solidFill>
                  <a:srgbClr val="C85350"/>
                </a:solidFill>
              </a:rPr>
              <a:t>New puzzle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761" y="1187450"/>
            <a:ext cx="7362825" cy="553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5246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35</a:t>
            </a:fld>
            <a:endParaRPr lang="fr-FR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418459" y="19748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b="1" dirty="0" smtClean="0">
                <a:solidFill>
                  <a:srgbClr val="C85350"/>
                </a:solidFill>
              </a:rPr>
              <a:t>New puzzle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2211" y="1050827"/>
            <a:ext cx="7456489" cy="5807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5677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36</a:t>
            </a:fld>
            <a:endParaRPr lang="fr-FR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418459" y="19748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rgbClr val="C85350"/>
                </a:solidFill>
              </a:rPr>
              <a:t>stars</a:t>
            </a:r>
            <a:endParaRPr lang="fr-FR" b="1" dirty="0">
              <a:solidFill>
                <a:srgbClr val="C85350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2253013" y="6061858"/>
            <a:ext cx="111911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FF0000"/>
                </a:solidFill>
              </a:rPr>
              <a:t>Small and large stars </a:t>
            </a:r>
            <a:r>
              <a:rPr lang="fr-FR" sz="2800" dirty="0" err="1" smtClean="0">
                <a:solidFill>
                  <a:srgbClr val="FF0000"/>
                </a:solidFill>
              </a:rPr>
              <a:t>with</a:t>
            </a:r>
            <a:r>
              <a:rPr lang="fr-FR" sz="2800" dirty="0" smtClean="0">
                <a:solidFill>
                  <a:srgbClr val="FF0000"/>
                </a:solidFill>
              </a:rPr>
              <a:t> </a:t>
            </a:r>
            <a:r>
              <a:rPr lang="fr-FR" sz="2800" dirty="0" err="1" smtClean="0">
                <a:solidFill>
                  <a:srgbClr val="FF0000"/>
                </a:solidFill>
              </a:rPr>
              <a:t>two</a:t>
            </a:r>
            <a:r>
              <a:rPr lang="fr-FR" sz="2800" dirty="0" smtClean="0">
                <a:solidFill>
                  <a:srgbClr val="FF0000"/>
                </a:solidFill>
              </a:rPr>
              <a:t> possible orientations</a:t>
            </a:r>
            <a:endParaRPr lang="fr-FR" sz="2800" dirty="0">
              <a:solidFill>
                <a:srgbClr val="FF0000"/>
              </a:solidFill>
            </a:endParaRPr>
          </a:p>
          <a:p>
            <a:endParaRPr lang="fr-FR" sz="2800" dirty="0">
              <a:solidFill>
                <a:srgbClr val="FF0000"/>
              </a:solidFill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7893" y="1021863"/>
            <a:ext cx="5459412" cy="5039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6797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37</a:t>
            </a:fld>
            <a:endParaRPr lang="fr-FR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418459" y="19748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rgbClr val="C85350"/>
                </a:solidFill>
              </a:rPr>
              <a:t>Small stars connect the orange triangles 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874" y="1168079"/>
            <a:ext cx="9569450" cy="4893779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793749" y="6201455"/>
            <a:ext cx="108076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400" dirty="0" err="1" smtClean="0">
                <a:solidFill>
                  <a:srgbClr val="FF0000"/>
                </a:solidFill>
              </a:rPr>
              <a:t>Possibility</a:t>
            </a:r>
            <a:r>
              <a:rPr lang="fr-FR" sz="2400" dirty="0" smtClean="0">
                <a:solidFill>
                  <a:srgbClr val="FF0000"/>
                </a:solidFill>
              </a:rPr>
              <a:t> to </a:t>
            </a:r>
            <a:r>
              <a:rPr lang="fr-FR" sz="2400" dirty="0" err="1" smtClean="0">
                <a:solidFill>
                  <a:srgbClr val="FF0000"/>
                </a:solidFill>
              </a:rPr>
              <a:t>obtain</a:t>
            </a:r>
            <a:r>
              <a:rPr lang="fr-FR" sz="2400" dirty="0" smtClean="0">
                <a:solidFill>
                  <a:srgbClr val="FF0000"/>
                </a:solidFill>
              </a:rPr>
              <a:t> the relative positions </a:t>
            </a:r>
            <a:r>
              <a:rPr lang="fr-FR" sz="2400" dirty="0" err="1" smtClean="0">
                <a:solidFill>
                  <a:srgbClr val="FF0000"/>
                </a:solidFill>
              </a:rPr>
              <a:t>between</a:t>
            </a:r>
            <a:r>
              <a:rPr lang="fr-FR" sz="2400" dirty="0" smtClean="0">
                <a:solidFill>
                  <a:srgbClr val="FF0000"/>
                </a:solidFill>
              </a:rPr>
              <a:t> diabolo, 2-arms and 3-arms</a:t>
            </a:r>
            <a:endParaRPr lang="fr-FR" sz="2400" dirty="0">
              <a:solidFill>
                <a:srgbClr val="FF0000"/>
              </a:solidFill>
            </a:endParaRPr>
          </a:p>
          <a:p>
            <a:endParaRPr lang="fr-FR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32453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38</a:t>
            </a:fld>
            <a:endParaRPr lang="fr-FR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10 environments (C1 orientation)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098319"/>
            <a:ext cx="8036877" cy="497082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2623853" y="6123413"/>
            <a:ext cx="111911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400" dirty="0" err="1"/>
              <a:t>Left</a:t>
            </a:r>
            <a:r>
              <a:rPr lang="fr-FR" sz="2400" dirty="0"/>
              <a:t> </a:t>
            </a:r>
            <a:r>
              <a:rPr lang="fr-FR" sz="2400" dirty="0" err="1"/>
              <a:t>handed</a:t>
            </a:r>
            <a:r>
              <a:rPr lang="fr-FR" sz="2400" dirty="0"/>
              <a:t> version of the figure in </a:t>
            </a:r>
            <a:r>
              <a:rPr lang="fr-FR" sz="2400" dirty="0" err="1"/>
              <a:t>Arnaud’s</a:t>
            </a:r>
            <a:r>
              <a:rPr lang="fr-FR" sz="2400" dirty="0"/>
              <a:t> </a:t>
            </a:r>
            <a:r>
              <a:rPr lang="fr-FR" sz="2400" dirty="0" err="1"/>
              <a:t>paper</a:t>
            </a:r>
            <a:r>
              <a:rPr lang="fr-FR" sz="2400" dirty="0"/>
              <a:t>.</a:t>
            </a:r>
          </a:p>
          <a:p>
            <a:endParaRPr lang="fr-FR" sz="2400" dirty="0"/>
          </a:p>
        </p:txBody>
      </p:sp>
      <p:sp>
        <p:nvSpPr>
          <p:cNvPr id="8" name="Rectangle 7"/>
          <p:cNvSpPr/>
          <p:nvPr/>
        </p:nvSpPr>
        <p:spPr>
          <a:xfrm>
            <a:off x="508497" y="6516880"/>
            <a:ext cx="118751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latin typeface="CMR10"/>
              </a:rPr>
              <a:t>Chéritat</a:t>
            </a:r>
            <a:r>
              <a:rPr lang="en-US" dirty="0">
                <a:latin typeface="CMR10"/>
              </a:rPr>
              <a:t>, A., (2024). Observations on the hex clusters of the </a:t>
            </a:r>
            <a:r>
              <a:rPr lang="en-US" dirty="0" err="1">
                <a:latin typeface="CMR10"/>
              </a:rPr>
              <a:t>spectre</a:t>
            </a:r>
            <a:r>
              <a:rPr lang="en-US" dirty="0">
                <a:latin typeface="CMR10"/>
              </a:rPr>
              <a:t> </a:t>
            </a:r>
            <a:r>
              <a:rPr lang="en-US" dirty="0" err="1">
                <a:latin typeface="CMR10"/>
              </a:rPr>
              <a:t>tilings</a:t>
            </a:r>
            <a:r>
              <a:rPr lang="en-US" dirty="0">
                <a:latin typeface="CMR10"/>
              </a:rPr>
              <a:t>. </a:t>
            </a:r>
            <a:r>
              <a:rPr lang="fr-FR" dirty="0">
                <a:latin typeface="CMR10"/>
                <a:hlinkClick r:id="rId3"/>
              </a:rPr>
              <a:t>https://arxiv.org/abs/2407.05359</a:t>
            </a:r>
            <a:endParaRPr lang="fr-FR" dirty="0">
              <a:latin typeface="CMR10"/>
            </a:endParaRPr>
          </a:p>
        </p:txBody>
      </p:sp>
    </p:spTree>
    <p:extLst>
      <p:ext uri="{BB962C8B-B14F-4D97-AF65-F5344CB8AC3E}">
        <p14:creationId xmlns:p14="http://schemas.microsoft.com/office/powerpoint/2010/main" val="32632432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39</a:t>
            </a:fld>
            <a:endParaRPr lang="fr-FR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10 environments for C1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612" y="977900"/>
            <a:ext cx="10620375" cy="574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6417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40</a:t>
            </a:fld>
            <a:endParaRPr lang="fr-FR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10 environments for C1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88" y="1133775"/>
            <a:ext cx="11875140" cy="522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4856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41</a:t>
            </a:fld>
            <a:endParaRPr lang="fr-FR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8 different locations in the chiral pattern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9360" y="1146734"/>
            <a:ext cx="7746047" cy="5574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2991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42</a:t>
            </a:fld>
            <a:endParaRPr lang="fr-FR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10 environments (capital </a:t>
            </a:r>
            <a:r>
              <a:rPr lang="en-US" b="1" dirty="0" err="1">
                <a:solidFill>
                  <a:srgbClr val="C85350"/>
                </a:solidFill>
              </a:rPr>
              <a:t>greek</a:t>
            </a:r>
            <a:r>
              <a:rPr lang="en-US" b="1" dirty="0">
                <a:solidFill>
                  <a:srgbClr val="C85350"/>
                </a:solidFill>
              </a:rPr>
              <a:t> letters)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032" y="1175702"/>
            <a:ext cx="7953375" cy="5095875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2623853" y="6123413"/>
            <a:ext cx="111911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400" dirty="0" err="1"/>
              <a:t>Need</a:t>
            </a:r>
            <a:r>
              <a:rPr lang="fr-FR" sz="2400" dirty="0"/>
              <a:t> to </a:t>
            </a:r>
            <a:r>
              <a:rPr lang="fr-FR" sz="2400" dirty="0" err="1"/>
              <a:t>reduce</a:t>
            </a:r>
            <a:r>
              <a:rPr lang="fr-FR" sz="2400" dirty="0"/>
              <a:t> to 8 </a:t>
            </a:r>
            <a:r>
              <a:rPr lang="fr-FR" sz="2400" dirty="0" err="1"/>
              <a:t>environments</a:t>
            </a:r>
            <a:r>
              <a:rPr lang="fr-FR" sz="2400" dirty="0"/>
              <a:t> ?</a:t>
            </a:r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7276516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43</a:t>
            </a:fld>
            <a:endParaRPr lang="fr-FR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350" y="1037419"/>
            <a:ext cx="5715000" cy="494959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45435" y="6169580"/>
            <a:ext cx="118751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latin typeface="CMR10"/>
              </a:rPr>
              <a:t>Chéritat</a:t>
            </a:r>
            <a:r>
              <a:rPr lang="en-US" dirty="0">
                <a:latin typeface="CMR10"/>
              </a:rPr>
              <a:t>, A., (2024). Observations on the hex clusters of the </a:t>
            </a:r>
            <a:r>
              <a:rPr lang="en-US" dirty="0" err="1">
                <a:latin typeface="CMR10"/>
              </a:rPr>
              <a:t>spectre</a:t>
            </a:r>
            <a:r>
              <a:rPr lang="en-US" dirty="0">
                <a:latin typeface="CMR10"/>
              </a:rPr>
              <a:t> </a:t>
            </a:r>
            <a:r>
              <a:rPr lang="en-US" dirty="0" err="1">
                <a:latin typeface="CMR10"/>
              </a:rPr>
              <a:t>tilings</a:t>
            </a:r>
            <a:r>
              <a:rPr lang="en-US" dirty="0">
                <a:latin typeface="CMR10"/>
              </a:rPr>
              <a:t>. </a:t>
            </a:r>
            <a:r>
              <a:rPr lang="fr-FR" dirty="0">
                <a:latin typeface="CMR10"/>
                <a:hlinkClick r:id="rId3"/>
              </a:rPr>
              <a:t>https://arxiv.org/abs/2407.05359</a:t>
            </a:r>
            <a:endParaRPr lang="fr-FR" dirty="0">
              <a:latin typeface="CMR10"/>
            </a:endParaRPr>
          </a:p>
        </p:txBody>
      </p:sp>
      <p:sp>
        <p:nvSpPr>
          <p:cNvPr id="15" name="Titre 1">
            <a:extLst>
              <a:ext uri="{FF2B5EF4-FFF2-40B4-BE49-F238E27FC236}">
                <a16:creationId xmlns:a16="http://schemas.microsoft.com/office/drawing/2014/main" id="{051A3091-2EA5-465A-A4C4-48DDA269330D}"/>
              </a:ext>
            </a:extLst>
          </p:cNvPr>
          <p:cNvSpPr txBox="1">
            <a:spLocks/>
          </p:cNvSpPr>
          <p:nvPr/>
        </p:nvSpPr>
        <p:spPr>
          <a:xfrm>
            <a:off x="7333944" y="2541538"/>
            <a:ext cx="4676752" cy="60679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b="1" dirty="0">
                <a:solidFill>
                  <a:srgbClr val="FF0000"/>
                </a:solidFill>
              </a:rPr>
              <a:t>To do:</a:t>
            </a:r>
          </a:p>
          <a:p>
            <a:r>
              <a:rPr lang="fr-FR" sz="3200" b="1" dirty="0" err="1">
                <a:solidFill>
                  <a:srgbClr val="FF0000"/>
                </a:solidFill>
              </a:rPr>
              <a:t>Locate</a:t>
            </a:r>
            <a:r>
              <a:rPr lang="fr-FR" sz="3200" b="1" dirty="0">
                <a:solidFill>
                  <a:srgbClr val="FF0000"/>
                </a:solidFill>
              </a:rPr>
              <a:t> the 8 hexagonal clusters in the chiral pattern</a:t>
            </a:r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8 types of hexagonal clusters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7411" y="3247899"/>
            <a:ext cx="640054" cy="52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13926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44</a:t>
            </a:fld>
            <a:endParaRPr lang="fr-FR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err="1">
                <a:solidFill>
                  <a:srgbClr val="C85350"/>
                </a:solidFill>
              </a:rPr>
              <a:t>Homochiral</a:t>
            </a:r>
            <a:r>
              <a:rPr lang="en-US" b="1" dirty="0">
                <a:solidFill>
                  <a:srgbClr val="C85350"/>
                </a:solidFill>
              </a:rPr>
              <a:t> python code on </a:t>
            </a:r>
            <a:r>
              <a:rPr lang="en-US" b="1" dirty="0" err="1">
                <a:solidFill>
                  <a:srgbClr val="C85350"/>
                </a:solidFill>
              </a:rPr>
              <a:t>github</a:t>
            </a:r>
            <a:endParaRPr lang="fr-FR" b="1" dirty="0">
              <a:solidFill>
                <a:srgbClr val="C85350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441434" y="1447271"/>
            <a:ext cx="1121716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/>
              <a:t>Under construction !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>
                <a:hlinkClick r:id="rId2"/>
              </a:rPr>
              <a:t>https://github.com/marimperorclerc/homochiral</a:t>
            </a:r>
            <a:endParaRPr lang="fr-FR" sz="2800" dirty="0"/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fr-FR" sz="2800" dirty="0"/>
          </a:p>
          <a:p>
            <a:r>
              <a:rPr lang="en-US" sz="2800" dirty="0"/>
              <a:t>python code for drawing clusters with Tile(</a:t>
            </a:r>
            <a:r>
              <a:rPr lang="en-US" sz="2800" dirty="0" err="1"/>
              <a:t>a,b</a:t>
            </a:r>
            <a:r>
              <a:rPr lang="en-US" sz="2800" dirty="0"/>
              <a:t>) in </a:t>
            </a:r>
            <a:r>
              <a:rPr lang="en-US" sz="2800" dirty="0" err="1"/>
              <a:t>svg</a:t>
            </a:r>
            <a:r>
              <a:rPr lang="en-US" sz="2800" dirty="0"/>
              <a:t> graphics.</a:t>
            </a:r>
          </a:p>
          <a:p>
            <a:endParaRPr lang="en-US" sz="2800" dirty="0"/>
          </a:p>
          <a:p>
            <a:r>
              <a:rPr lang="en-US" sz="2800" b="1" dirty="0"/>
              <a:t>References</a:t>
            </a:r>
          </a:p>
          <a:p>
            <a:r>
              <a:rPr lang="en-US" sz="2800" dirty="0"/>
              <a:t>Code is based on the </a:t>
            </a:r>
            <a:r>
              <a:rPr lang="en-US" sz="2800" dirty="0" err="1"/>
              <a:t>drawsvg</a:t>
            </a:r>
            <a:r>
              <a:rPr lang="en-US" sz="2800" dirty="0"/>
              <a:t> package: </a:t>
            </a:r>
          </a:p>
          <a:p>
            <a:r>
              <a:rPr lang="en-US" sz="2800" dirty="0">
                <a:hlinkClick r:id="rId3"/>
              </a:rPr>
              <a:t>https://pypi.org/project/drawsvg/</a:t>
            </a:r>
            <a:endParaRPr lang="en-US" sz="2800" dirty="0"/>
          </a:p>
          <a:p>
            <a:r>
              <a:rPr lang="en-US" sz="2800" dirty="0"/>
              <a:t>And the python code with alternate chirality for inflation for </a:t>
            </a:r>
            <a:r>
              <a:rPr lang="en-US" sz="2800" dirty="0" err="1"/>
              <a:t>spectre</a:t>
            </a:r>
            <a:r>
              <a:rPr lang="en-US" sz="2800" dirty="0"/>
              <a:t> tiling: </a:t>
            </a:r>
          </a:p>
          <a:p>
            <a:r>
              <a:rPr lang="en-US" sz="2800" dirty="0">
                <a:hlinkClick r:id="rId4"/>
              </a:rPr>
              <a:t>https://github.com/shrx/spectre/blob/master/spectre.py</a:t>
            </a: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fr-FR" sz="2800" dirty="0"/>
          </a:p>
          <a:p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187037838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45</a:t>
            </a:fld>
            <a:endParaRPr lang="fr-FR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Inflation step 1: substitution rule for C1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86" y="1696516"/>
            <a:ext cx="11401425" cy="3476625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865754" y="1099289"/>
            <a:ext cx="26856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EVEN </a:t>
            </a:r>
            <a:r>
              <a:rPr lang="fr-FR" sz="2800" dirty="0" err="1"/>
              <a:t>tiles</a:t>
            </a:r>
            <a:r>
              <a:rPr lang="fr-FR" sz="2800" dirty="0"/>
              <a:t> in C1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4347279" y="1114011"/>
            <a:ext cx="3497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ODD </a:t>
            </a:r>
            <a:r>
              <a:rPr lang="fr-FR" sz="2800" dirty="0" err="1"/>
              <a:t>tiles</a:t>
            </a:r>
            <a:r>
              <a:rPr lang="fr-FR" sz="2800" dirty="0"/>
              <a:t> for </a:t>
            </a:r>
            <a:r>
              <a:rPr lang="fr-FR" sz="2800" dirty="0" err="1"/>
              <a:t>step</a:t>
            </a:r>
            <a:r>
              <a:rPr lang="fr-FR" sz="2800" dirty="0"/>
              <a:t> 1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8362096" y="1075919"/>
            <a:ext cx="36855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err="1"/>
              <a:t>same</a:t>
            </a:r>
            <a:r>
              <a:rPr lang="fr-FR" sz="2800" dirty="0"/>
              <a:t> as full clusters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316859" y="5246570"/>
            <a:ext cx="1165442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000" dirty="0"/>
              <a:t>ODD </a:t>
            </a:r>
            <a:r>
              <a:rPr lang="fr-FR" sz="2000" dirty="0" err="1"/>
              <a:t>tiles</a:t>
            </a:r>
            <a:r>
              <a:rPr lang="fr-FR" sz="2000" dirty="0"/>
              <a:t> for </a:t>
            </a:r>
            <a:r>
              <a:rPr lang="fr-FR" sz="2000" dirty="0" err="1"/>
              <a:t>step</a:t>
            </a:r>
            <a:r>
              <a:rPr lang="fr-FR" sz="2000" dirty="0"/>
              <a:t> 1 are </a:t>
            </a:r>
            <a:r>
              <a:rPr lang="fr-FR" sz="2000" dirty="0" err="1"/>
              <a:t>obtained</a:t>
            </a:r>
            <a:r>
              <a:rPr lang="fr-FR" sz="2000" dirty="0"/>
              <a:t> by </a:t>
            </a:r>
            <a:r>
              <a:rPr lang="fr-FR" sz="2000" dirty="0" err="1"/>
              <a:t>adding</a:t>
            </a:r>
            <a:r>
              <a:rPr lang="fr-FR" sz="2000" dirty="0"/>
              <a:t> 1 (</a:t>
            </a:r>
            <a:r>
              <a:rPr lang="fr-FR" sz="2000" dirty="0" err="1"/>
              <a:t>mod</a:t>
            </a:r>
            <a:r>
              <a:rPr lang="fr-FR" sz="2000" dirty="0"/>
              <a:t> 12) to all EVEN </a:t>
            </a:r>
            <a:r>
              <a:rPr lang="fr-FR" sz="2000" dirty="0" err="1"/>
              <a:t>tiles</a:t>
            </a:r>
            <a:r>
              <a:rPr lang="fr-FR" sz="2000" dirty="0"/>
              <a:t> in the C cluster (6 </a:t>
            </a:r>
            <a:r>
              <a:rPr lang="fr-FR" sz="2000" dirty="0" err="1"/>
              <a:t>tiles</a:t>
            </a:r>
            <a:r>
              <a:rPr lang="fr-FR" sz="2000" dirty="0"/>
              <a:t>)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000" dirty="0"/>
              <a:t>Directions of </a:t>
            </a:r>
            <a:r>
              <a:rPr lang="fr-FR" sz="2000" dirty="0" err="1"/>
              <a:t>translated</a:t>
            </a:r>
            <a:r>
              <a:rPr lang="fr-FR" sz="2000" dirty="0"/>
              <a:t> and </a:t>
            </a:r>
            <a:r>
              <a:rPr lang="fr-FR" sz="2000" dirty="0" err="1"/>
              <a:t>half-turned</a:t>
            </a:r>
            <a:r>
              <a:rPr lang="fr-FR" sz="2000" dirty="0"/>
              <a:t> </a:t>
            </a:r>
            <a:r>
              <a:rPr lang="fr-FR" sz="2000" dirty="0" err="1"/>
              <a:t>tiles</a:t>
            </a:r>
            <a:r>
              <a:rPr lang="fr-FR" sz="2000" dirty="0"/>
              <a:t> are </a:t>
            </a:r>
            <a:r>
              <a:rPr lang="fr-FR" sz="2000" dirty="0" err="1"/>
              <a:t>exchanged</a:t>
            </a:r>
            <a:r>
              <a:rPr lang="fr-FR" sz="2000" dirty="0"/>
              <a:t> (</a:t>
            </a:r>
            <a:r>
              <a:rPr lang="fr-FR" sz="2000" b="1" dirty="0" err="1"/>
              <a:t>see</a:t>
            </a:r>
            <a:r>
              <a:rPr lang="fr-FR" sz="2000" b="1" dirty="0"/>
              <a:t> the change of position for green points</a:t>
            </a:r>
            <a:r>
              <a:rPr lang="fr-FR" sz="2000" dirty="0"/>
              <a:t>). </a:t>
            </a:r>
            <a:r>
              <a:rPr lang="fr-FR" sz="2000" dirty="0" err="1"/>
              <a:t>Then</a:t>
            </a:r>
            <a:r>
              <a:rPr lang="fr-FR" sz="2000" dirty="0"/>
              <a:t> </a:t>
            </a:r>
            <a:r>
              <a:rPr lang="fr-FR" sz="2000" dirty="0" err="1"/>
              <a:t>three</a:t>
            </a:r>
            <a:r>
              <a:rPr lang="fr-FR" sz="2000" dirty="0"/>
              <a:t> </a:t>
            </a:r>
            <a:r>
              <a:rPr lang="fr-FR" sz="2000" dirty="0" err="1"/>
              <a:t>tiles</a:t>
            </a:r>
            <a:r>
              <a:rPr lang="fr-FR" sz="2000" dirty="0"/>
              <a:t> are </a:t>
            </a:r>
            <a:r>
              <a:rPr lang="fr-FR" sz="2000" dirty="0" err="1"/>
              <a:t>translated</a:t>
            </a:r>
            <a:r>
              <a:rPr lang="fr-FR" sz="2000" dirty="0"/>
              <a:t> (M1, M3, M11) and </a:t>
            </a:r>
            <a:r>
              <a:rPr lang="fr-FR" sz="2000" dirty="0" err="1"/>
              <a:t>three</a:t>
            </a:r>
            <a:r>
              <a:rPr lang="fr-FR" sz="2000" dirty="0"/>
              <a:t> are </a:t>
            </a:r>
            <a:r>
              <a:rPr lang="fr-FR" sz="2000" dirty="0" err="1"/>
              <a:t>half-turned</a:t>
            </a:r>
            <a:r>
              <a:rPr lang="fr-FR" sz="2000" dirty="0"/>
              <a:t> (M5-&gt;M11, M1 -&gt; M7, M9 -&gt; M3)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000" dirty="0"/>
              <a:t>ODD </a:t>
            </a:r>
            <a:r>
              <a:rPr lang="fr-FR" sz="2000" dirty="0" err="1"/>
              <a:t>tile</a:t>
            </a:r>
            <a:r>
              <a:rPr lang="fr-FR" sz="2000" dirty="0"/>
              <a:t> index </a:t>
            </a:r>
            <a:r>
              <a:rPr lang="fr-FR" sz="2000" dirty="0" err="1"/>
              <a:t>is</a:t>
            </a:r>
            <a:r>
              <a:rPr lang="fr-FR" sz="2000" dirty="0"/>
              <a:t> </a:t>
            </a:r>
            <a:r>
              <a:rPr lang="fr-FR" sz="2000" dirty="0" err="1"/>
              <a:t>equivalent</a:t>
            </a:r>
            <a:r>
              <a:rPr lang="fr-FR" sz="2000" dirty="0"/>
              <a:t> to the orientation of a full C cluster </a:t>
            </a:r>
            <a:r>
              <a:rPr lang="fr-FR" sz="2000" dirty="0">
                <a:sym typeface="Wingdings" panose="05000000000000000000" pitchFamily="2" charset="2"/>
              </a:rPr>
              <a:t></a:t>
            </a:r>
            <a:endParaRPr lang="fr-FR" sz="2000" dirty="0"/>
          </a:p>
          <a:p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39864966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46</a:t>
            </a:fld>
            <a:endParaRPr lang="fr-FR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Inflation step 1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434" y="1171070"/>
            <a:ext cx="8300709" cy="4840236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9760" y="4431578"/>
            <a:ext cx="2111057" cy="2107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9791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47</a:t>
            </a:fld>
            <a:endParaRPr lang="fr-FR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Inflation step 1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00" y="1462626"/>
            <a:ext cx="9478962" cy="3763423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167335" y="5584805"/>
            <a:ext cx="119890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/>
              <a:t>Directions </a:t>
            </a:r>
            <a:r>
              <a:rPr lang="fr-FR" sz="2800" dirty="0" err="1"/>
              <a:t>along</a:t>
            </a:r>
            <a:r>
              <a:rPr lang="fr-FR" sz="2800" dirty="0"/>
              <a:t> the </a:t>
            </a:r>
            <a:r>
              <a:rPr lang="fr-FR" sz="2800" dirty="0" err="1"/>
              <a:t>blue</a:t>
            </a:r>
            <a:r>
              <a:rPr lang="fr-FR" sz="2800" dirty="0"/>
              <a:t> </a:t>
            </a:r>
            <a:r>
              <a:rPr lang="fr-FR" sz="2800" dirty="0" err="1"/>
              <a:t>lines</a:t>
            </a:r>
            <a:r>
              <a:rPr lang="fr-FR" sz="2800" dirty="0"/>
              <a:t> are the </a:t>
            </a:r>
            <a:r>
              <a:rPr lang="fr-FR" sz="2800" dirty="0" err="1"/>
              <a:t>edge</a:t>
            </a:r>
            <a:r>
              <a:rPr lang="fr-FR" sz="2800" dirty="0"/>
              <a:t> directions of the </a:t>
            </a:r>
            <a:r>
              <a:rPr lang="fr-FR" sz="2800" dirty="0" err="1"/>
              <a:t>blue</a:t>
            </a:r>
            <a:r>
              <a:rPr lang="fr-FR" sz="2800" dirty="0"/>
              <a:t> triangles !!!</a:t>
            </a:r>
          </a:p>
          <a:p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199227043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48</a:t>
            </a:fld>
            <a:endParaRPr lang="fr-FR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Inflation step 1 for full cluster C1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500" y="1081952"/>
            <a:ext cx="9179890" cy="468541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202908" y="5442569"/>
            <a:ext cx="1198909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000" dirty="0" err="1"/>
              <a:t>Assembly</a:t>
            </a:r>
            <a:r>
              <a:rPr lang="fr-FR" sz="2000" dirty="0"/>
              <a:t> of the 12 full clusters </a:t>
            </a:r>
            <a:r>
              <a:rPr lang="fr-FR" sz="2000" dirty="0" err="1"/>
              <a:t>works</a:t>
            </a:r>
            <a:r>
              <a:rPr lang="fr-FR" sz="2000" dirty="0"/>
              <a:t> fine !!! (</a:t>
            </a:r>
            <a:r>
              <a:rPr lang="fr-FR" sz="2000" dirty="0" err="1"/>
              <a:t>done</a:t>
            </a:r>
            <a:r>
              <a:rPr lang="fr-FR" sz="2000" dirty="0"/>
              <a:t> </a:t>
            </a:r>
            <a:r>
              <a:rPr lang="fr-FR" sz="2000" dirty="0" err="1"/>
              <a:t>manually</a:t>
            </a:r>
            <a:r>
              <a:rPr lang="fr-FR" sz="2000" dirty="0"/>
              <a:t> </a:t>
            </a:r>
            <a:r>
              <a:rPr lang="fr-FR" sz="2000" dirty="0" err="1"/>
              <a:t>so</a:t>
            </a:r>
            <a:r>
              <a:rPr lang="fr-FR" sz="2000" dirty="0"/>
              <a:t> far for the relative positions of clusters)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000" dirty="0" err="1"/>
              <a:t>Some</a:t>
            </a:r>
            <a:r>
              <a:rPr lang="fr-FR" sz="2000" dirty="0"/>
              <a:t> </a:t>
            </a:r>
            <a:r>
              <a:rPr lang="fr-FR" sz="2000" dirty="0" err="1"/>
              <a:t>tiles</a:t>
            </a:r>
            <a:r>
              <a:rPr lang="fr-FR" sz="2000" dirty="0"/>
              <a:t> are </a:t>
            </a:r>
            <a:r>
              <a:rPr lang="fr-FR" sz="2000" dirty="0" err="1"/>
              <a:t>superimposed</a:t>
            </a:r>
            <a:endParaRPr lang="fr-FR" sz="20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000" dirty="0" err="1"/>
              <a:t>Some</a:t>
            </a:r>
            <a:r>
              <a:rPr lang="fr-FR" sz="2000" dirty="0"/>
              <a:t> </a:t>
            </a:r>
            <a:r>
              <a:rPr lang="fr-FR" sz="2000" dirty="0" err="1"/>
              <a:t>half-turned</a:t>
            </a:r>
            <a:r>
              <a:rPr lang="fr-FR" sz="2000" dirty="0"/>
              <a:t> </a:t>
            </a:r>
            <a:r>
              <a:rPr lang="fr-FR" sz="2000" dirty="0" err="1"/>
              <a:t>tiles</a:t>
            </a:r>
            <a:r>
              <a:rPr lang="fr-FR" sz="2000" dirty="0"/>
              <a:t> </a:t>
            </a:r>
            <a:r>
              <a:rPr lang="fr-FR" sz="2000" dirty="0" err="1"/>
              <a:t>need</a:t>
            </a:r>
            <a:r>
              <a:rPr lang="fr-FR" sz="2000" dirty="0"/>
              <a:t> to </a:t>
            </a:r>
            <a:r>
              <a:rPr lang="fr-FR" sz="2000" dirty="0" err="1"/>
              <a:t>be</a:t>
            </a:r>
            <a:r>
              <a:rPr lang="fr-FR" sz="2000" dirty="0"/>
              <a:t> </a:t>
            </a:r>
            <a:r>
              <a:rPr lang="fr-FR" sz="2000" dirty="0" err="1"/>
              <a:t>removed</a:t>
            </a:r>
            <a:r>
              <a:rPr lang="fr-FR" sz="2000" dirty="0"/>
              <a:t> </a:t>
            </a:r>
            <a:r>
              <a:rPr lang="fr-FR" sz="2000" dirty="0" err="1"/>
              <a:t>with</a:t>
            </a:r>
            <a:r>
              <a:rPr lang="fr-FR" sz="2000" dirty="0"/>
              <a:t> a simple </a:t>
            </a:r>
            <a:r>
              <a:rPr lang="fr-FR" sz="2000" dirty="0" err="1"/>
              <a:t>rule</a:t>
            </a:r>
            <a:r>
              <a:rPr lang="fr-FR" sz="2000" dirty="0"/>
              <a:t>: </a:t>
            </a:r>
            <a:r>
              <a:rPr lang="fr-FR" sz="2000" b="1" dirty="0"/>
              <a:t>translation </a:t>
            </a:r>
            <a:r>
              <a:rPr lang="fr-FR" sz="2000" b="1" dirty="0" err="1"/>
              <a:t>wins</a:t>
            </a:r>
            <a:r>
              <a:rPr lang="fr-FR" sz="2000" b="1" dirty="0"/>
              <a:t> over </a:t>
            </a:r>
            <a:r>
              <a:rPr lang="fr-FR" sz="2000" b="1" dirty="0" err="1"/>
              <a:t>half-turn</a:t>
            </a:r>
            <a:r>
              <a:rPr lang="fr-FR" sz="2000" b="1" dirty="0"/>
              <a:t> </a:t>
            </a:r>
            <a:r>
              <a:rPr lang="fr-FR" sz="2000" dirty="0"/>
              <a:t>!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000" dirty="0"/>
              <a:t>A </a:t>
            </a:r>
            <a:r>
              <a:rPr lang="fr-FR" sz="2000" dirty="0" err="1"/>
              <a:t>bigger</a:t>
            </a:r>
            <a:r>
              <a:rPr lang="fr-FR" sz="2000" dirty="0"/>
              <a:t> green triangle </a:t>
            </a:r>
            <a:r>
              <a:rPr lang="fr-FR" sz="2000" dirty="0" err="1"/>
              <a:t>is</a:t>
            </a:r>
            <a:r>
              <a:rPr lang="fr-FR" sz="2000" dirty="0"/>
              <a:t> </a:t>
            </a:r>
            <a:r>
              <a:rPr lang="fr-FR" sz="2000" dirty="0" err="1"/>
              <a:t>identified</a:t>
            </a:r>
            <a:r>
              <a:rPr lang="fr-FR" sz="2000" dirty="0"/>
              <a:t>, </a:t>
            </a:r>
            <a:r>
              <a:rPr lang="fr-FR" sz="2000" dirty="0" err="1"/>
              <a:t>centered</a:t>
            </a:r>
            <a:r>
              <a:rPr lang="fr-FR" sz="2000" dirty="0"/>
              <a:t> on a </a:t>
            </a:r>
            <a:r>
              <a:rPr lang="fr-FR" sz="2000" dirty="0" err="1"/>
              <a:t>trifle</a:t>
            </a:r>
            <a:r>
              <a:rPr lang="fr-FR" sz="2000" dirty="0"/>
              <a:t> at the center of the figure </a:t>
            </a:r>
            <a:r>
              <a:rPr lang="fr-FR" sz="2000" dirty="0">
                <a:sym typeface="Wingdings" panose="05000000000000000000" pitchFamily="2" charset="2"/>
              </a:rPr>
              <a:t></a:t>
            </a:r>
            <a:endParaRPr lang="fr-FR" sz="2000" dirty="0"/>
          </a:p>
          <a:p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93704076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49</a:t>
            </a:fld>
            <a:endParaRPr lang="fr-FR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Inflation step 1 for full cluster C1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2"/>
          <a:srcRect r="50112"/>
          <a:stretch/>
        </p:blipFill>
        <p:spPr>
          <a:xfrm>
            <a:off x="6320790" y="1035430"/>
            <a:ext cx="4579620" cy="468541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1351768" y="5376879"/>
            <a:ext cx="94897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000" dirty="0"/>
              <a:t>TO DO: </a:t>
            </a:r>
            <a:r>
              <a:rPr lang="fr-FR" sz="2000" dirty="0" err="1"/>
              <a:t>Find</a:t>
            </a:r>
            <a:r>
              <a:rPr lang="fr-FR" sz="2000" dirty="0"/>
              <a:t> a </a:t>
            </a:r>
            <a:r>
              <a:rPr lang="fr-FR" sz="2000" dirty="0" err="1"/>
              <a:t>rule</a:t>
            </a:r>
            <a:r>
              <a:rPr lang="fr-FR" sz="2000" dirty="0"/>
              <a:t> for the relative positions </a:t>
            </a:r>
            <a:r>
              <a:rPr lang="fr-FR" sz="2000" dirty="0" err="1"/>
              <a:t>between</a:t>
            </a:r>
            <a:r>
              <a:rPr lang="fr-FR" sz="2000" dirty="0"/>
              <a:t> clusters in the </a:t>
            </a:r>
            <a:r>
              <a:rPr lang="fr-FR" sz="2000" dirty="0" err="1"/>
              <a:t>assembly</a:t>
            </a:r>
            <a:endParaRPr lang="fr-FR" sz="20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000" dirty="0"/>
              <a:t>Clusters are </a:t>
            </a:r>
            <a:r>
              <a:rPr lang="fr-FR" sz="2000" dirty="0" err="1"/>
              <a:t>translated</a:t>
            </a:r>
            <a:r>
              <a:rPr lang="fr-FR" sz="2000" dirty="0"/>
              <a:t> </a:t>
            </a:r>
            <a:r>
              <a:rPr lang="fr-FR" sz="2000" dirty="0" err="1"/>
              <a:t>from</a:t>
            </a:r>
            <a:r>
              <a:rPr lang="fr-FR" sz="2000" dirty="0"/>
              <a:t> </a:t>
            </a:r>
            <a:r>
              <a:rPr lang="fr-FR" sz="2000" dirty="0" err="1"/>
              <a:t>each</a:t>
            </a:r>
            <a:r>
              <a:rPr lang="fr-FR" sz="2000" dirty="0"/>
              <a:t> </a:t>
            </a:r>
            <a:r>
              <a:rPr lang="fr-FR" sz="2000" dirty="0" err="1"/>
              <a:t>other</a:t>
            </a:r>
            <a:r>
              <a:rPr lang="fr-FR" sz="2000" dirty="0"/>
              <a:t> </a:t>
            </a:r>
            <a:r>
              <a:rPr lang="fr-FR" sz="2000" dirty="0" err="1"/>
              <a:t>along</a:t>
            </a:r>
            <a:r>
              <a:rPr lang="fr-FR" sz="2000" dirty="0"/>
              <a:t> the </a:t>
            </a:r>
            <a:r>
              <a:rPr lang="fr-FR" sz="2000" dirty="0" err="1"/>
              <a:t>blue</a:t>
            </a:r>
            <a:r>
              <a:rPr lang="fr-FR" sz="2000" dirty="0"/>
              <a:t> </a:t>
            </a:r>
            <a:r>
              <a:rPr lang="fr-FR" sz="2000" dirty="0" err="1"/>
              <a:t>lines</a:t>
            </a:r>
            <a:r>
              <a:rPr lang="fr-FR" sz="2000" dirty="0"/>
              <a:t>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000" dirty="0"/>
              <a:t>Use superposition of green points </a:t>
            </a:r>
            <a:r>
              <a:rPr lang="fr-FR" sz="2000" dirty="0" err="1"/>
              <a:t>from</a:t>
            </a:r>
            <a:r>
              <a:rPr lang="fr-FR" sz="2000" dirty="0"/>
              <a:t> </a:t>
            </a:r>
            <a:r>
              <a:rPr lang="fr-FR" sz="2000" dirty="0" err="1"/>
              <a:t>two</a:t>
            </a:r>
            <a:r>
              <a:rPr lang="fr-FR" sz="2000" dirty="0"/>
              <a:t> adjacent clusters ??? </a:t>
            </a:r>
          </a:p>
          <a:p>
            <a:endParaRPr lang="fr-FR" sz="2000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5881" y="1473199"/>
            <a:ext cx="4016597" cy="3430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26567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50</a:t>
            </a:fld>
            <a:endParaRPr lang="fr-FR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Defect healing</a:t>
            </a:r>
            <a:endParaRPr lang="fr-FR" b="1" dirty="0">
              <a:solidFill>
                <a:srgbClr val="C85350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951348" y="6061858"/>
            <a:ext cx="55581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err="1"/>
              <a:t>Starting</a:t>
            </a:r>
            <a:r>
              <a:rPr lang="fr-FR" sz="2800" dirty="0"/>
              <a:t> point for </a:t>
            </a:r>
            <a:r>
              <a:rPr lang="fr-FR" sz="2800" dirty="0" err="1"/>
              <a:t>worms</a:t>
            </a:r>
            <a:r>
              <a:rPr lang="fr-FR" sz="2800" dirty="0"/>
              <a:t> </a:t>
            </a:r>
            <a:r>
              <a:rPr lang="fr-FR" sz="2800" dirty="0">
                <a:sym typeface="Wingdings" panose="05000000000000000000" pitchFamily="2" charset="2"/>
              </a:rPr>
              <a:t></a:t>
            </a:r>
            <a:endParaRPr lang="fr-FR" sz="2800" dirty="0"/>
          </a:p>
          <a:p>
            <a:endParaRPr lang="fr-FR" sz="2800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293" y="1313707"/>
            <a:ext cx="4675770" cy="4510527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9497" y="1361301"/>
            <a:ext cx="4901886" cy="4652962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6076803" y="6069757"/>
            <a:ext cx="60767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err="1"/>
              <a:t>After</a:t>
            </a:r>
            <a:r>
              <a:rPr lang="fr-FR" sz="2800" dirty="0"/>
              <a:t> </a:t>
            </a:r>
            <a:r>
              <a:rPr lang="fr-FR" sz="2800" dirty="0" err="1"/>
              <a:t>removing</a:t>
            </a:r>
            <a:r>
              <a:rPr lang="fr-FR" sz="2800" dirty="0"/>
              <a:t> </a:t>
            </a:r>
            <a:r>
              <a:rPr lang="fr-FR" sz="2800" dirty="0" err="1"/>
              <a:t>two</a:t>
            </a:r>
            <a:r>
              <a:rPr lang="fr-FR" sz="2800" dirty="0"/>
              <a:t> </a:t>
            </a:r>
            <a:r>
              <a:rPr lang="fr-FR" sz="2800" dirty="0" err="1"/>
              <a:t>half-turned</a:t>
            </a:r>
            <a:r>
              <a:rPr lang="fr-FR" sz="2800" dirty="0"/>
              <a:t> </a:t>
            </a:r>
            <a:r>
              <a:rPr lang="fr-FR" sz="2800" dirty="0" err="1"/>
              <a:t>tiles</a:t>
            </a:r>
            <a:endParaRPr lang="fr-FR" sz="2800" dirty="0"/>
          </a:p>
          <a:p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13479811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51</a:t>
            </a:fld>
            <a:endParaRPr lang="fr-FR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Defect healing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91" y="1570221"/>
            <a:ext cx="5630509" cy="4235122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1680" y="1460010"/>
            <a:ext cx="5779293" cy="4345333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951348" y="6061858"/>
            <a:ext cx="55581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err="1"/>
              <a:t>Starting</a:t>
            </a:r>
            <a:r>
              <a:rPr lang="fr-FR" sz="2800" dirty="0"/>
              <a:t> point for </a:t>
            </a:r>
            <a:r>
              <a:rPr lang="fr-FR" sz="2800" dirty="0" err="1"/>
              <a:t>worms</a:t>
            </a:r>
            <a:r>
              <a:rPr lang="fr-FR" sz="2800" dirty="0"/>
              <a:t> </a:t>
            </a:r>
            <a:r>
              <a:rPr lang="fr-FR" sz="2800" dirty="0">
                <a:sym typeface="Wingdings" panose="05000000000000000000" pitchFamily="2" charset="2"/>
              </a:rPr>
              <a:t></a:t>
            </a:r>
            <a:endParaRPr lang="fr-FR" sz="2800" dirty="0"/>
          </a:p>
          <a:p>
            <a:endParaRPr lang="fr-FR" sz="2800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6076803" y="6069757"/>
            <a:ext cx="60767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err="1"/>
              <a:t>After</a:t>
            </a:r>
            <a:r>
              <a:rPr lang="fr-FR" sz="2800" dirty="0"/>
              <a:t> </a:t>
            </a:r>
            <a:r>
              <a:rPr lang="fr-FR" sz="2800" dirty="0" err="1"/>
              <a:t>removing</a:t>
            </a:r>
            <a:r>
              <a:rPr lang="fr-FR" sz="2800" dirty="0"/>
              <a:t> </a:t>
            </a:r>
            <a:r>
              <a:rPr lang="fr-FR" sz="2800" dirty="0" err="1"/>
              <a:t>two</a:t>
            </a:r>
            <a:r>
              <a:rPr lang="fr-FR" sz="2800" dirty="0"/>
              <a:t> </a:t>
            </a:r>
            <a:r>
              <a:rPr lang="fr-FR" sz="2800" dirty="0" err="1"/>
              <a:t>half-turned</a:t>
            </a:r>
            <a:r>
              <a:rPr lang="fr-FR" sz="2800" dirty="0"/>
              <a:t> </a:t>
            </a:r>
            <a:r>
              <a:rPr lang="fr-FR" sz="2800" dirty="0" err="1"/>
              <a:t>tiles</a:t>
            </a:r>
            <a:endParaRPr lang="fr-FR" sz="2800" dirty="0"/>
          </a:p>
          <a:p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60858933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52</a:t>
            </a:fld>
            <a:endParaRPr lang="fr-FR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999" y="1151255"/>
            <a:ext cx="4572000" cy="3905250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TO DO: Step 2 </a:t>
            </a:r>
            <a:endParaRPr lang="fr-FR" b="1" dirty="0">
              <a:solidFill>
                <a:srgbClr val="C85350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316859" y="5402243"/>
            <a:ext cx="119890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/>
              <a:t>Replace all the 12 full clusters in </a:t>
            </a:r>
            <a:r>
              <a:rPr lang="fr-FR" sz="2800" dirty="0" err="1"/>
              <a:t>this</a:t>
            </a:r>
            <a:r>
              <a:rPr lang="fr-FR" sz="2800" dirty="0"/>
              <a:t> pattern </a:t>
            </a:r>
            <a:r>
              <a:rPr lang="fr-FR" sz="2800" dirty="0" err="1"/>
              <a:t>with</a:t>
            </a:r>
            <a:r>
              <a:rPr lang="fr-FR" sz="2800" dirty="0"/>
              <a:t> the </a:t>
            </a:r>
            <a:r>
              <a:rPr lang="fr-FR" sz="2800" dirty="0" err="1"/>
              <a:t>same</a:t>
            </a:r>
            <a:r>
              <a:rPr lang="fr-FR" sz="2800" dirty="0"/>
              <a:t> </a:t>
            </a:r>
            <a:r>
              <a:rPr lang="fr-FR" sz="2800" dirty="0" err="1"/>
              <a:t>rule</a:t>
            </a:r>
            <a:r>
              <a:rPr lang="fr-FR" sz="2800" dirty="0"/>
              <a:t> </a:t>
            </a:r>
            <a:r>
              <a:rPr lang="fr-FR" sz="2800" dirty="0" err="1"/>
              <a:t>used</a:t>
            </a:r>
            <a:r>
              <a:rPr lang="fr-FR" sz="2800" dirty="0"/>
              <a:t> </a:t>
            </a:r>
            <a:r>
              <a:rPr lang="fr-FR" sz="2800" dirty="0" err="1"/>
              <a:t>previously</a:t>
            </a:r>
            <a:r>
              <a:rPr lang="fr-FR" sz="2800" dirty="0"/>
              <a:t> for C1 (</a:t>
            </a:r>
            <a:r>
              <a:rPr lang="fr-FR" sz="2800" dirty="0" err="1"/>
              <a:t>just</a:t>
            </a:r>
            <a:r>
              <a:rPr lang="fr-FR" sz="2800" dirty="0"/>
              <a:t> a rotation of the pattern for C2, C3, C4, C5 and C6)</a:t>
            </a:r>
          </a:p>
        </p:txBody>
      </p:sp>
    </p:spTree>
    <p:extLst>
      <p:ext uri="{BB962C8B-B14F-4D97-AF65-F5344CB8AC3E}">
        <p14:creationId xmlns:p14="http://schemas.microsoft.com/office/powerpoint/2010/main" val="18838975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53</a:t>
            </a:fld>
            <a:endParaRPr lang="fr-FR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New reference triangle in Tile(</a:t>
            </a:r>
            <a:r>
              <a:rPr lang="en-US" b="1" dirty="0" err="1">
                <a:solidFill>
                  <a:srgbClr val="C85350"/>
                </a:solidFill>
              </a:rPr>
              <a:t>a,b</a:t>
            </a:r>
            <a:r>
              <a:rPr lang="en-US" b="1" dirty="0">
                <a:solidFill>
                  <a:srgbClr val="C85350"/>
                </a:solidFill>
              </a:rPr>
              <a:t>)</a:t>
            </a:r>
            <a:endParaRPr lang="fr-FR" b="1" dirty="0">
              <a:solidFill>
                <a:srgbClr val="C8535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749670" y="5039163"/>
            <a:ext cx="133944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>
                <a:solidFill>
                  <a:srgbClr val="268BD2"/>
                </a:solidFill>
                <a:latin typeface="Consolas" panose="020B0609020204030204" pitchFamily="49" charset="0"/>
              </a:rPr>
              <a:t>a</a:t>
            </a:r>
            <a:r>
              <a:rPr lang="fr-FR" sz="2400" dirty="0">
                <a:solidFill>
                  <a:srgbClr val="859900"/>
                </a:solidFill>
                <a:latin typeface="Consolas" panose="020B0609020204030204" pitchFamily="49" charset="0"/>
              </a:rPr>
              <a:t>=</a:t>
            </a:r>
            <a:r>
              <a:rPr lang="fr-FR" sz="2400" dirty="0">
                <a:solidFill>
                  <a:srgbClr val="D33682"/>
                </a:solidFill>
                <a:latin typeface="Consolas" panose="020B0609020204030204" pitchFamily="49" charset="0"/>
              </a:rPr>
              <a:t>1.6</a:t>
            </a:r>
            <a:endParaRPr lang="fr-FR" sz="2400" dirty="0">
              <a:solidFill>
                <a:srgbClr val="657B83"/>
              </a:solidFill>
              <a:latin typeface="Consolas" panose="020B0609020204030204" pitchFamily="49" charset="0"/>
            </a:endParaRPr>
          </a:p>
          <a:p>
            <a:r>
              <a:rPr lang="fr-FR" sz="2400" dirty="0">
                <a:solidFill>
                  <a:srgbClr val="268BD2"/>
                </a:solidFill>
                <a:latin typeface="Consolas" panose="020B0609020204030204" pitchFamily="49" charset="0"/>
              </a:rPr>
              <a:t>b</a:t>
            </a:r>
            <a:r>
              <a:rPr lang="fr-FR" sz="2400" dirty="0">
                <a:solidFill>
                  <a:srgbClr val="859900"/>
                </a:solidFill>
                <a:latin typeface="Consolas" panose="020B0609020204030204" pitchFamily="49" charset="0"/>
              </a:rPr>
              <a:t>=</a:t>
            </a:r>
            <a:r>
              <a:rPr lang="fr-FR" sz="2400" dirty="0">
                <a:solidFill>
                  <a:srgbClr val="D33682"/>
                </a:solidFill>
                <a:latin typeface="Consolas" panose="020B0609020204030204" pitchFamily="49" charset="0"/>
              </a:rPr>
              <a:t>1.2</a:t>
            </a:r>
            <a:endParaRPr lang="fr-FR" sz="2400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7209" y="4187851"/>
            <a:ext cx="5051460" cy="2533623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0124" y="1422041"/>
            <a:ext cx="9229725" cy="2657475"/>
          </a:xfrm>
          <a:prstGeom prst="rect">
            <a:avLst/>
          </a:prstGeom>
        </p:spPr>
      </p:pic>
      <p:sp>
        <p:nvSpPr>
          <p:cNvPr id="10" name="ZoneTexte 9"/>
          <p:cNvSpPr txBox="1"/>
          <p:nvPr/>
        </p:nvSpPr>
        <p:spPr>
          <a:xfrm>
            <a:off x="901425" y="4187850"/>
            <a:ext cx="41456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Robust</a:t>
            </a:r>
            <a:r>
              <a:rPr lang="fr-FR" sz="2800" dirty="0"/>
              <a:t> for </a:t>
            </a:r>
            <a:r>
              <a:rPr lang="fr-FR" sz="2800" dirty="0" err="1"/>
              <a:t>any</a:t>
            </a:r>
            <a:r>
              <a:rPr lang="fr-FR" sz="2800" dirty="0"/>
              <a:t> T(</a:t>
            </a:r>
            <a:r>
              <a:rPr lang="fr-FR" sz="2800" dirty="0" err="1"/>
              <a:t>a,b</a:t>
            </a:r>
            <a:r>
              <a:rPr lang="fr-FR" sz="2800" dirty="0"/>
              <a:t>) </a:t>
            </a:r>
            <a:r>
              <a:rPr lang="fr-FR" sz="2800" dirty="0" err="1"/>
              <a:t>tile</a:t>
            </a:r>
            <a:r>
              <a:rPr lang="fr-FR" sz="2800" dirty="0"/>
              <a:t> </a:t>
            </a:r>
            <a:r>
              <a:rPr lang="fr-FR" sz="2800" dirty="0">
                <a:sym typeface="Wingdings" panose="05000000000000000000" pitchFamily="2" charset="2"/>
              </a:rPr>
              <a:t>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2118258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54</a:t>
            </a:fld>
            <a:endParaRPr lang="fr-FR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24" y="2228738"/>
            <a:ext cx="10681376" cy="3157244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Link with trifle and bow-tie in Tile(1,1)</a:t>
            </a:r>
            <a:endParaRPr lang="fr-FR" b="1" dirty="0">
              <a:solidFill>
                <a:srgbClr val="C853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882489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55</a:t>
            </a:fld>
            <a:endParaRPr lang="fr-FR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991" y="1193800"/>
            <a:ext cx="9265710" cy="5162550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Comparison with hexagon/square/rhombus decomposition</a:t>
            </a:r>
            <a:endParaRPr lang="fr-FR" b="1" dirty="0">
              <a:solidFill>
                <a:srgbClr val="C853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918826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206" y="619760"/>
            <a:ext cx="10483934" cy="5293359"/>
          </a:xfrm>
          <a:prstGeom prst="rect">
            <a:avLst/>
          </a:prstGeom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56</a:t>
            </a:fld>
            <a:endParaRPr lang="fr-FR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Tile(1,1) : </a:t>
            </a:r>
            <a:r>
              <a:rPr lang="en-US" b="1" dirty="0" err="1">
                <a:solidFill>
                  <a:srgbClr val="C85350"/>
                </a:solidFill>
              </a:rPr>
              <a:t>spectre</a:t>
            </a:r>
            <a:r>
              <a:rPr lang="en-US" b="1" dirty="0">
                <a:solidFill>
                  <a:srgbClr val="C85350"/>
                </a:solidFill>
              </a:rPr>
              <a:t> tile</a:t>
            </a:r>
            <a:endParaRPr lang="fr-FR" b="1" dirty="0">
              <a:solidFill>
                <a:srgbClr val="C853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239579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57</a:t>
            </a:fld>
            <a:endParaRPr lang="fr-FR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translation versus half-turn for any Tile(</a:t>
            </a:r>
            <a:r>
              <a:rPr lang="en-US" b="1" dirty="0" err="1">
                <a:solidFill>
                  <a:srgbClr val="C85350"/>
                </a:solidFill>
              </a:rPr>
              <a:t>a,b</a:t>
            </a:r>
            <a:r>
              <a:rPr lang="en-US" b="1" dirty="0">
                <a:solidFill>
                  <a:srgbClr val="C85350"/>
                </a:solidFill>
              </a:rPr>
              <a:t>)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763" y="1289289"/>
            <a:ext cx="9698037" cy="426771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07097" y="1506656"/>
            <a:ext cx="133944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>
                <a:solidFill>
                  <a:srgbClr val="268BD2"/>
                </a:solidFill>
                <a:latin typeface="Consolas" panose="020B0609020204030204" pitchFamily="49" charset="0"/>
              </a:rPr>
              <a:t>a</a:t>
            </a:r>
            <a:r>
              <a:rPr lang="fr-FR" sz="2400" dirty="0">
                <a:solidFill>
                  <a:srgbClr val="859900"/>
                </a:solidFill>
                <a:latin typeface="Consolas" panose="020B0609020204030204" pitchFamily="49" charset="0"/>
              </a:rPr>
              <a:t>=</a:t>
            </a:r>
            <a:r>
              <a:rPr lang="fr-FR" sz="2400" dirty="0">
                <a:solidFill>
                  <a:srgbClr val="D33682"/>
                </a:solidFill>
                <a:latin typeface="Consolas" panose="020B0609020204030204" pitchFamily="49" charset="0"/>
              </a:rPr>
              <a:t>1.6</a:t>
            </a:r>
            <a:endParaRPr lang="fr-FR" sz="2400" dirty="0">
              <a:solidFill>
                <a:srgbClr val="657B83"/>
              </a:solidFill>
              <a:latin typeface="Consolas" panose="020B0609020204030204" pitchFamily="49" charset="0"/>
            </a:endParaRPr>
          </a:p>
          <a:p>
            <a:r>
              <a:rPr lang="fr-FR" sz="2400" dirty="0">
                <a:solidFill>
                  <a:srgbClr val="268BD2"/>
                </a:solidFill>
                <a:latin typeface="Consolas" panose="020B0609020204030204" pitchFamily="49" charset="0"/>
              </a:rPr>
              <a:t>b</a:t>
            </a:r>
            <a:r>
              <a:rPr lang="fr-FR" sz="2400" dirty="0">
                <a:solidFill>
                  <a:srgbClr val="859900"/>
                </a:solidFill>
                <a:latin typeface="Consolas" panose="020B0609020204030204" pitchFamily="49" charset="0"/>
              </a:rPr>
              <a:t>=</a:t>
            </a:r>
            <a:r>
              <a:rPr lang="fr-FR" sz="2400" dirty="0">
                <a:solidFill>
                  <a:srgbClr val="D33682"/>
                </a:solidFill>
                <a:latin typeface="Consolas" panose="020B0609020204030204" pitchFamily="49" charset="0"/>
              </a:rPr>
              <a:t>1.2</a:t>
            </a:r>
            <a:endParaRPr lang="fr-FR" sz="2400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960107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58</a:t>
            </a:fld>
            <a:endParaRPr lang="fr-FR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Cluster and full cluster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4839" y="1437556"/>
            <a:ext cx="12220575" cy="340995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16859" y="1367541"/>
            <a:ext cx="133944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>
                <a:solidFill>
                  <a:srgbClr val="268BD2"/>
                </a:solidFill>
                <a:latin typeface="Consolas" panose="020B0609020204030204" pitchFamily="49" charset="0"/>
              </a:rPr>
              <a:t>a</a:t>
            </a:r>
            <a:r>
              <a:rPr lang="fr-FR" sz="2400" dirty="0">
                <a:solidFill>
                  <a:srgbClr val="859900"/>
                </a:solidFill>
                <a:latin typeface="Consolas" panose="020B0609020204030204" pitchFamily="49" charset="0"/>
              </a:rPr>
              <a:t>=</a:t>
            </a:r>
            <a:r>
              <a:rPr lang="fr-FR" sz="2400" dirty="0">
                <a:solidFill>
                  <a:srgbClr val="D33682"/>
                </a:solidFill>
                <a:latin typeface="Consolas" panose="020B0609020204030204" pitchFamily="49" charset="0"/>
              </a:rPr>
              <a:t>1.6</a:t>
            </a:r>
            <a:endParaRPr lang="fr-FR" sz="2400" dirty="0">
              <a:solidFill>
                <a:srgbClr val="657B83"/>
              </a:solidFill>
              <a:latin typeface="Consolas" panose="020B0609020204030204" pitchFamily="49" charset="0"/>
            </a:endParaRPr>
          </a:p>
          <a:p>
            <a:r>
              <a:rPr lang="fr-FR" sz="2400" dirty="0">
                <a:solidFill>
                  <a:srgbClr val="268BD2"/>
                </a:solidFill>
                <a:latin typeface="Consolas" panose="020B0609020204030204" pitchFamily="49" charset="0"/>
              </a:rPr>
              <a:t>b</a:t>
            </a:r>
            <a:r>
              <a:rPr lang="fr-FR" sz="2400" dirty="0">
                <a:solidFill>
                  <a:srgbClr val="859900"/>
                </a:solidFill>
                <a:latin typeface="Consolas" panose="020B0609020204030204" pitchFamily="49" charset="0"/>
              </a:rPr>
              <a:t>=</a:t>
            </a:r>
            <a:r>
              <a:rPr lang="fr-FR" sz="2400" dirty="0">
                <a:solidFill>
                  <a:srgbClr val="D33682"/>
                </a:solidFill>
                <a:latin typeface="Consolas" panose="020B0609020204030204" pitchFamily="49" charset="0"/>
              </a:rPr>
              <a:t>1.2</a:t>
            </a:r>
            <a:endParaRPr lang="fr-FR" sz="2400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7128584" y="5153917"/>
            <a:ext cx="450636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err="1"/>
              <a:t>Three</a:t>
            </a:r>
            <a:r>
              <a:rPr lang="fr-FR" sz="2800" dirty="0"/>
              <a:t> more possible </a:t>
            </a:r>
            <a:r>
              <a:rPr lang="fr-FR" sz="2800" dirty="0" err="1"/>
              <a:t>tiles</a:t>
            </a:r>
            <a:r>
              <a:rPr lang="fr-FR" sz="2800" dirty="0"/>
              <a:t> </a:t>
            </a:r>
            <a:r>
              <a:rPr lang="fr-FR" sz="2800" dirty="0" err="1"/>
              <a:t>with</a:t>
            </a:r>
            <a:r>
              <a:rPr lang="fr-FR" sz="2800" dirty="0"/>
              <a:t> </a:t>
            </a:r>
            <a:r>
              <a:rPr lang="fr-FR" sz="2800" dirty="0" err="1"/>
              <a:t>half-turn</a:t>
            </a:r>
            <a:r>
              <a:rPr lang="fr-FR" sz="2800" dirty="0"/>
              <a:t> </a:t>
            </a:r>
            <a:r>
              <a:rPr lang="fr-FR" sz="2800" dirty="0" err="1"/>
              <a:t>around</a:t>
            </a:r>
            <a:r>
              <a:rPr lang="fr-FR" sz="2800" dirty="0"/>
              <a:t> the green points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232718" y="4971355"/>
            <a:ext cx="284717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C cluster</a:t>
            </a:r>
          </a:p>
          <a:p>
            <a:r>
              <a:rPr lang="fr-FR" sz="2800" dirty="0"/>
              <a:t>(corona </a:t>
            </a:r>
            <a:r>
              <a:rPr lang="fr-FR" sz="2800" dirty="0" err="1"/>
              <a:t>around</a:t>
            </a:r>
            <a:r>
              <a:rPr lang="fr-FR" sz="2800" dirty="0"/>
              <a:t> a ODD </a:t>
            </a:r>
            <a:r>
              <a:rPr lang="fr-FR" sz="2800" dirty="0" err="1"/>
              <a:t>tile</a:t>
            </a:r>
            <a:r>
              <a:rPr lang="fr-FR" sz="2800" dirty="0"/>
              <a:t>)</a:t>
            </a:r>
          </a:p>
        </p:txBody>
      </p:sp>
      <p:sp>
        <p:nvSpPr>
          <p:cNvPr id="13" name="ZoneTexte 12"/>
          <p:cNvSpPr txBox="1"/>
          <p:nvPr/>
        </p:nvSpPr>
        <p:spPr>
          <a:xfrm>
            <a:off x="3371135" y="5123754"/>
            <a:ext cx="284717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The </a:t>
            </a:r>
            <a:r>
              <a:rPr lang="fr-FR" sz="2800" dirty="0" err="1"/>
              <a:t>three</a:t>
            </a:r>
            <a:r>
              <a:rPr lang="fr-FR" sz="2800" dirty="0"/>
              <a:t> </a:t>
            </a:r>
            <a:r>
              <a:rPr lang="fr-FR" sz="2800" dirty="0" err="1"/>
              <a:t>translated</a:t>
            </a:r>
            <a:r>
              <a:rPr lang="fr-FR" sz="2800" dirty="0"/>
              <a:t> </a:t>
            </a:r>
            <a:r>
              <a:rPr lang="fr-FR" sz="2800" dirty="0" err="1"/>
              <a:t>tiles</a:t>
            </a:r>
            <a:r>
              <a:rPr lang="fr-FR" sz="2800" dirty="0"/>
              <a:t> are all in the </a:t>
            </a:r>
            <a:r>
              <a:rPr lang="fr-FR" sz="2800" dirty="0" err="1"/>
              <a:t>tiling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36247160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95549</TotalTime>
  <Words>1340</Words>
  <Application>Microsoft Office PowerPoint</Application>
  <PresentationFormat>Grand écran</PresentationFormat>
  <Paragraphs>216</Paragraphs>
  <Slides>58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58</vt:i4>
      </vt:variant>
    </vt:vector>
  </HeadingPairs>
  <TitlesOfParts>
    <vt:vector size="65" baseType="lpstr">
      <vt:lpstr>Arial</vt:lpstr>
      <vt:lpstr>Calibri</vt:lpstr>
      <vt:lpstr>Calibri Light</vt:lpstr>
      <vt:lpstr>CMR10</vt:lpstr>
      <vt:lpstr>Consolas</vt:lpstr>
      <vt:lpstr>Wingdings</vt:lpstr>
      <vt:lpstr>Thème Office</vt:lpstr>
      <vt:lpstr>Homochiral ideas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LPS-CNRS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SoftQC – Auto-assemblage de nanoparticules: des super-réseaux périodiques aux phases quasicristallines</dc:title>
  <dc:creator>Administrateur</dc:creator>
  <cp:lastModifiedBy>Administrateur</cp:lastModifiedBy>
  <cp:revision>1094</cp:revision>
  <dcterms:created xsi:type="dcterms:W3CDTF">2024-05-03T12:49:25Z</dcterms:created>
  <dcterms:modified xsi:type="dcterms:W3CDTF">2026-03-06T12:42:19Z</dcterms:modified>
</cp:coreProperties>
</file>
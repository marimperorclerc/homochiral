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0"/>
  </p:notesMasterIdLst>
  <p:sldIdLst>
    <p:sldId id="797" r:id="rId2"/>
    <p:sldId id="840" r:id="rId3"/>
    <p:sldId id="858" r:id="rId4"/>
    <p:sldId id="857" r:id="rId5"/>
    <p:sldId id="856" r:id="rId6"/>
    <p:sldId id="855" r:id="rId7"/>
    <p:sldId id="778" r:id="rId8"/>
    <p:sldId id="841" r:id="rId9"/>
    <p:sldId id="846" r:id="rId10"/>
    <p:sldId id="854" r:id="rId11"/>
    <p:sldId id="843" r:id="rId12"/>
    <p:sldId id="847" r:id="rId13"/>
    <p:sldId id="845" r:id="rId14"/>
    <p:sldId id="850" r:id="rId15"/>
    <p:sldId id="844" r:id="rId16"/>
    <p:sldId id="848" r:id="rId17"/>
    <p:sldId id="849" r:id="rId18"/>
    <p:sldId id="853" r:id="rId19"/>
    <p:sldId id="851" r:id="rId20"/>
    <p:sldId id="852" r:id="rId21"/>
    <p:sldId id="859" r:id="rId22"/>
    <p:sldId id="861" r:id="rId23"/>
    <p:sldId id="860" r:id="rId24"/>
    <p:sldId id="864" r:id="rId25"/>
    <p:sldId id="863" r:id="rId26"/>
    <p:sldId id="862" r:id="rId27"/>
    <p:sldId id="839" r:id="rId28"/>
    <p:sldId id="816" r:id="rId29"/>
    <p:sldId id="774" r:id="rId30"/>
    <p:sldId id="817" r:id="rId31"/>
    <p:sldId id="818" r:id="rId32"/>
    <p:sldId id="802" r:id="rId33"/>
    <p:sldId id="821" r:id="rId34"/>
    <p:sldId id="827" r:id="rId35"/>
    <p:sldId id="819" r:id="rId36"/>
    <p:sldId id="832" r:id="rId37"/>
    <p:sldId id="831" r:id="rId38"/>
    <p:sldId id="828" r:id="rId39"/>
    <p:sldId id="820" r:id="rId40"/>
    <p:sldId id="829" r:id="rId41"/>
    <p:sldId id="822" r:id="rId42"/>
    <p:sldId id="835" r:id="rId43"/>
    <p:sldId id="836" r:id="rId44"/>
    <p:sldId id="837" r:id="rId45"/>
    <p:sldId id="838" r:id="rId46"/>
    <p:sldId id="833" r:id="rId47"/>
    <p:sldId id="834" r:id="rId48"/>
    <p:sldId id="823" r:id="rId49"/>
    <p:sldId id="824" r:id="rId50"/>
    <p:sldId id="826" r:id="rId51"/>
    <p:sldId id="807" r:id="rId52"/>
    <p:sldId id="825" r:id="rId53"/>
    <p:sldId id="754" r:id="rId54"/>
    <p:sldId id="795" r:id="rId55"/>
    <p:sldId id="803" r:id="rId56"/>
    <p:sldId id="804" r:id="rId57"/>
    <p:sldId id="805" r:id="rId58"/>
    <p:sldId id="806" r:id="rId59"/>
    <p:sldId id="809" r:id="rId60"/>
    <p:sldId id="790" r:id="rId61"/>
    <p:sldId id="791" r:id="rId62"/>
    <p:sldId id="808" r:id="rId63"/>
    <p:sldId id="775" r:id="rId64"/>
    <p:sldId id="777" r:id="rId65"/>
    <p:sldId id="801" r:id="rId66"/>
    <p:sldId id="799" r:id="rId67"/>
    <p:sldId id="743" r:id="rId68"/>
    <p:sldId id="786" r:id="rId6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bjectives" id="{55E4413A-BE1F-4C01-BEB6-917B60851A1C}">
          <p14:sldIdLst>
            <p14:sldId id="797"/>
            <p14:sldId id="840"/>
            <p14:sldId id="858"/>
            <p14:sldId id="857"/>
            <p14:sldId id="856"/>
            <p14:sldId id="855"/>
            <p14:sldId id="778"/>
            <p14:sldId id="841"/>
            <p14:sldId id="846"/>
            <p14:sldId id="854"/>
            <p14:sldId id="843"/>
            <p14:sldId id="847"/>
            <p14:sldId id="845"/>
            <p14:sldId id="850"/>
            <p14:sldId id="844"/>
            <p14:sldId id="848"/>
            <p14:sldId id="849"/>
            <p14:sldId id="853"/>
            <p14:sldId id="851"/>
            <p14:sldId id="852"/>
            <p14:sldId id="859"/>
            <p14:sldId id="861"/>
            <p14:sldId id="860"/>
            <p14:sldId id="864"/>
            <p14:sldId id="863"/>
            <p14:sldId id="862"/>
          </p14:sldIdLst>
        </p14:section>
        <p14:section name="step 1" id="{8572CD16-27D0-4F60-94D1-96F7FEDDD391}">
          <p14:sldIdLst>
            <p14:sldId id="839"/>
            <p14:sldId id="816"/>
            <p14:sldId id="774"/>
            <p14:sldId id="817"/>
            <p14:sldId id="818"/>
            <p14:sldId id="802"/>
            <p14:sldId id="821"/>
            <p14:sldId id="827"/>
            <p14:sldId id="819"/>
            <p14:sldId id="832"/>
            <p14:sldId id="831"/>
            <p14:sldId id="828"/>
            <p14:sldId id="820"/>
            <p14:sldId id="829"/>
            <p14:sldId id="822"/>
            <p14:sldId id="835"/>
            <p14:sldId id="836"/>
            <p14:sldId id="837"/>
            <p14:sldId id="838"/>
          </p14:sldIdLst>
        </p14:section>
        <p14:section name="stars" id="{E4283538-972A-4A55-B0B2-9E604D75AB19}">
          <p14:sldIdLst>
            <p14:sldId id="833"/>
            <p14:sldId id="834"/>
          </p14:sldIdLst>
        </p14:section>
        <p14:section name="Link with Arnaud clusters" id="{811911C5-785E-41D8-9A02-6873ED32F576}">
          <p14:sldIdLst>
            <p14:sldId id="823"/>
            <p14:sldId id="824"/>
            <p14:sldId id="826"/>
            <p14:sldId id="807"/>
            <p14:sldId id="825"/>
            <p14:sldId id="754"/>
            <p14:sldId id="795"/>
          </p14:sldIdLst>
        </p14:section>
        <p14:section name="Recent work" id="{FD8C0108-40DF-44EA-9165-79503E2CDD2A}">
          <p14:sldIdLst>
            <p14:sldId id="803"/>
            <p14:sldId id="804"/>
            <p14:sldId id="805"/>
            <p14:sldId id="806"/>
            <p14:sldId id="809"/>
            <p14:sldId id="790"/>
            <p14:sldId id="791"/>
            <p14:sldId id="808"/>
            <p14:sldId id="775"/>
            <p14:sldId id="777"/>
            <p14:sldId id="801"/>
            <p14:sldId id="799"/>
            <p14:sldId id="743"/>
            <p14:sldId id="7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7FFCF"/>
    <a:srgbClr val="FF1616"/>
    <a:srgbClr val="1F4E79"/>
    <a:srgbClr val="AA10FF"/>
    <a:srgbClr val="05FF76"/>
    <a:srgbClr val="EDF8E9"/>
    <a:srgbClr val="C7E9C0"/>
    <a:srgbClr val="A1D99B"/>
    <a:srgbClr val="74C4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91" autoAdjust="0"/>
    <p:restoredTop sz="93773" autoAdjust="0"/>
  </p:normalViewPr>
  <p:slideViewPr>
    <p:cSldViewPr snapToGrid="0">
      <p:cViewPr>
        <p:scale>
          <a:sx n="66" d="100"/>
          <a:sy n="66" d="100"/>
        </p:scale>
        <p:origin x="32" y="-72"/>
      </p:cViewPr>
      <p:guideLst/>
    </p:cSldViewPr>
  </p:slideViewPr>
  <p:notesTextViewPr>
    <p:cViewPr>
      <p:scale>
        <a:sx n="125" d="100"/>
        <a:sy n="125" d="100"/>
      </p:scale>
      <p:origin x="0" y="0"/>
    </p:cViewPr>
  </p:notesTextViewPr>
  <p:sorterViewPr>
    <p:cViewPr>
      <p:scale>
        <a:sx n="100" d="100"/>
        <a:sy n="100" d="100"/>
      </p:scale>
      <p:origin x="0" y="-306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C1508-1146-4A69-8F99-8C5D9876FDBE}" type="datetimeFigureOut">
              <a:rPr lang="fr-FR" smtClean="0"/>
              <a:t>11/03/2026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DA558A-D0F6-4A23-840A-1A4E79F93CE4}" type="slidenum">
              <a:rPr lang="fr-FR" smtClean="0"/>
              <a:t>‹N°›</a:t>
            </a:fld>
            <a:endParaRPr lang="fr-FR"/>
          </a:p>
        </p:txBody>
      </p:sp>
    </p:spTree>
    <p:extLst>
      <p:ext uri="{BB962C8B-B14F-4D97-AF65-F5344CB8AC3E}">
        <p14:creationId xmlns:p14="http://schemas.microsoft.com/office/powerpoint/2010/main" val="208055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5DA558A-D0F6-4A23-840A-1A4E79F93CE4}" type="slidenum">
              <a:rPr lang="fr-FR" smtClean="0"/>
              <a:t>56</a:t>
            </a:fld>
            <a:endParaRPr lang="fr-FR"/>
          </a:p>
        </p:txBody>
      </p:sp>
    </p:spTree>
    <p:extLst>
      <p:ext uri="{BB962C8B-B14F-4D97-AF65-F5344CB8AC3E}">
        <p14:creationId xmlns:p14="http://schemas.microsoft.com/office/powerpoint/2010/main" val="1842719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5D14D988-1420-4BDD-9CBC-4258686EC6AC}" type="datetime1">
              <a:rPr lang="fr-FR" smtClean="0"/>
              <a:t>11/03/2026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97750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B59031-BF04-471D-AD33-CD26C4CC2113}" type="datetime1">
              <a:rPr lang="fr-FR" smtClean="0"/>
              <a:t>11/03/2026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231052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DF87DCB-0ED8-472B-BBCD-AAF1AA70433B}" type="datetime1">
              <a:rPr lang="fr-FR" smtClean="0"/>
              <a:t>11/03/2026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3768302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AF81442D-88C1-46C3-B249-34BE66B5D513}" type="datetime1">
              <a:rPr lang="fr-FR" smtClean="0"/>
              <a:t>11/03/2026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791617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233EF1F-00A4-46A5-AAC4-DB4177211361}" type="datetime1">
              <a:rPr lang="fr-FR" smtClean="0"/>
              <a:t>11/03/2026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1064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E4BCC57D-F713-4353-8E97-B278908A2A56}" type="datetime1">
              <a:rPr lang="fr-FR" smtClean="0"/>
              <a:t>11/03/2026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827066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BAB040A-FB87-4644-AB04-C81EC379E170}" type="datetime1">
              <a:rPr lang="fr-FR" smtClean="0"/>
              <a:t>11/03/2026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4086795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E0062D1B-2239-4F9B-8FD3-0E31B8FA7FA2}" type="datetime1">
              <a:rPr lang="fr-FR" smtClean="0"/>
              <a:t>11/03/2026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455905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50BD42F1-F846-4CC5-948A-0D5DCFBD9C37}" type="datetime1">
              <a:rPr lang="fr-FR" smtClean="0"/>
              <a:t>11/03/2026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2763865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7B81584-49D1-4CE9-8058-FF5ACE68A6CF}" type="datetime1">
              <a:rPr lang="fr-FR" smtClean="0"/>
              <a:t>11/03/2026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351073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93359BB4-5566-4AB3-A06E-FF9EB735E0B4}" type="datetime1">
              <a:rPr lang="fr-FR" smtClean="0"/>
              <a:t>11/03/2026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920796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2FA6CD-8586-41A8-8804-244B34B7E6DA}" type="datetime1">
              <a:rPr lang="fr-FR" smtClean="0"/>
              <a:t>11/03/2026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BBC808-1C2F-4D0A-88AD-4B1C02A49358}" type="slidenum">
              <a:rPr lang="fr-FR" smtClean="0"/>
              <a:t>‹N°›</a:t>
            </a:fld>
            <a:endParaRPr lang="fr-FR"/>
          </a:p>
        </p:txBody>
      </p:sp>
    </p:spTree>
    <p:extLst>
      <p:ext uri="{BB962C8B-B14F-4D97-AF65-F5344CB8AC3E}">
        <p14:creationId xmlns:p14="http://schemas.microsoft.com/office/powerpoint/2010/main" val="883542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ilings.math.uni-bielefeld.de/substitution/wheel-tiling/"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hyperlink" Target="https://tilings.math.uni-bielefeld.de/substitution/shield/"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hyperlink" Target="https://tilings.math.uni-bielefeld.de/substitution/socolar/"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rxiv.org/abs/2512.16595" TargetMode="External"/><Relationship Id="rId2" Type="http://schemas.openxmlformats.org/officeDocument/2006/relationships/hyperlink" Target="https://www.chiark.greenend.org.uk/~sgtatham/quasiblog/aperiodic-refine/" TargetMode="Externa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hyperlink" Target="https://www.chiark.greenend.org.uk/~sgtatham/quasiblog/aperiodic-refine/" TargetMode="Externa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hyperlink" Target="https://pypi.org/project/drawsvg/" TargetMode="External"/><Relationship Id="rId2" Type="http://schemas.openxmlformats.org/officeDocument/2006/relationships/hyperlink" Target="https://github.com/marimperorclerc/homochiral" TargetMode="External"/><Relationship Id="rId1" Type="http://schemas.openxmlformats.org/officeDocument/2006/relationships/slideLayout" Target="../slideLayouts/slideLayout7.xml"/><Relationship Id="rId4" Type="http://schemas.openxmlformats.org/officeDocument/2006/relationships/hyperlink" Target="https://github.com/shrx/spectre/blob/master/spectre.py"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26" Type="http://schemas.openxmlformats.org/officeDocument/2006/relationships/image" Target="../media/image65.png"/><Relationship Id="rId3" Type="http://schemas.openxmlformats.org/officeDocument/2006/relationships/image" Target="../media/image42.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5" Type="http://schemas.openxmlformats.org/officeDocument/2006/relationships/image" Target="../media/image64.png"/><Relationship Id="rId2" Type="http://schemas.openxmlformats.org/officeDocument/2006/relationships/image" Target="../media/image41.pn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24" Type="http://schemas.openxmlformats.org/officeDocument/2006/relationships/image" Target="../media/image63.png"/><Relationship Id="rId5" Type="http://schemas.openxmlformats.org/officeDocument/2006/relationships/image" Target="../media/image44.png"/><Relationship Id="rId15" Type="http://schemas.openxmlformats.org/officeDocument/2006/relationships/image" Target="../media/image54.png"/><Relationship Id="rId23" Type="http://schemas.openxmlformats.org/officeDocument/2006/relationships/image" Target="../media/image62.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 Id="rId22" Type="http://schemas.openxmlformats.org/officeDocument/2006/relationships/image" Target="../media/image61.png"/></Relationships>
</file>

<file path=ppt/slides/_rels/slide2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3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arxiv.org/abs/2407.05359" TargetMode="External"/><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https://arxiv.org/abs/2407.05359" TargetMode="External"/><Relationship Id="rId2" Type="http://schemas.openxmlformats.org/officeDocument/2006/relationships/image" Target="../media/image92.png"/><Relationship Id="rId1" Type="http://schemas.openxmlformats.org/officeDocument/2006/relationships/slideLayout" Target="../slideLayouts/slideLayout7.xml"/><Relationship Id="rId4" Type="http://schemas.openxmlformats.org/officeDocument/2006/relationships/image" Target="../media/image93.png"/></Relationships>
</file>

<file path=ppt/slides/_rels/slide54.xml.rels><?xml version="1.0" encoding="UTF-8" standalone="yes"?>
<Relationships xmlns="http://schemas.openxmlformats.org/package/2006/relationships"><Relationship Id="rId3" Type="http://schemas.openxmlformats.org/officeDocument/2006/relationships/hyperlink" Target="https://pypi.org/project/drawsvg/" TargetMode="External"/><Relationship Id="rId2" Type="http://schemas.openxmlformats.org/officeDocument/2006/relationships/hyperlink" Target="https://github.com/marimperorclerc/homochiral" TargetMode="External"/><Relationship Id="rId1" Type="http://schemas.openxmlformats.org/officeDocument/2006/relationships/slideLayout" Target="../slideLayouts/slideLayout7.xml"/><Relationship Id="rId4" Type="http://schemas.openxmlformats.org/officeDocument/2006/relationships/hyperlink" Target="https://github.com/shrx/spectre/blob/master/spectre.py" TargetMode="External"/></Relationships>
</file>

<file path=ppt/slides/_rels/slide5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5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err="1"/>
              <a:t>Homochiral</a:t>
            </a:r>
            <a:r>
              <a:rPr lang="fr-FR" dirty="0"/>
              <a:t> </a:t>
            </a:r>
            <a:r>
              <a:rPr lang="fr-FR" dirty="0" err="1"/>
              <a:t>ideas</a:t>
            </a:r>
            <a:endParaRPr lang="fr-FR" dirty="0"/>
          </a:p>
        </p:txBody>
      </p:sp>
      <p:sp>
        <p:nvSpPr>
          <p:cNvPr id="3" name="Sous-titre 2"/>
          <p:cNvSpPr>
            <a:spLocks noGrp="1"/>
          </p:cNvSpPr>
          <p:nvPr>
            <p:ph type="subTitle" idx="1"/>
          </p:nvPr>
        </p:nvSpPr>
        <p:spPr/>
        <p:txBody>
          <a:bodyPr>
            <a:normAutofit/>
          </a:bodyPr>
          <a:lstStyle/>
          <a:p>
            <a:r>
              <a:rPr lang="fr-FR" sz="2800" dirty="0"/>
              <a:t>Marianne </a:t>
            </a:r>
            <a:r>
              <a:rPr lang="fr-FR" sz="2800" dirty="0" err="1"/>
              <a:t>Imperor</a:t>
            </a:r>
            <a:r>
              <a:rPr lang="fr-FR" sz="2800" dirty="0"/>
              <a:t>-Clerc</a:t>
            </a:r>
          </a:p>
          <a:p>
            <a:r>
              <a:rPr lang="fr-FR" sz="2800" dirty="0" smtClean="0"/>
              <a:t>March </a:t>
            </a:r>
            <a:r>
              <a:rPr lang="fr-FR" sz="2800" dirty="0"/>
              <a:t>2026</a:t>
            </a:r>
          </a:p>
        </p:txBody>
      </p:sp>
    </p:spTree>
    <p:extLst>
      <p:ext uri="{BB962C8B-B14F-4D97-AF65-F5344CB8AC3E}">
        <p14:creationId xmlns:p14="http://schemas.microsoft.com/office/powerpoint/2010/main" val="1248200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Wheel tiling </a:t>
            </a:r>
            <a:endParaRPr lang="fr-FR" b="1" dirty="0">
              <a:solidFill>
                <a:srgbClr val="C85350"/>
              </a:solidFill>
            </a:endParaRPr>
          </a:p>
        </p:txBody>
      </p:sp>
      <p:sp>
        <p:nvSpPr>
          <p:cNvPr id="8" name="Rectangle 7"/>
          <p:cNvSpPr/>
          <p:nvPr/>
        </p:nvSpPr>
        <p:spPr>
          <a:xfrm>
            <a:off x="194939" y="1128096"/>
            <a:ext cx="6046463" cy="923330"/>
          </a:xfrm>
          <a:prstGeom prst="rect">
            <a:avLst/>
          </a:prstGeom>
        </p:spPr>
        <p:txBody>
          <a:bodyPr wrap="none">
            <a:spAutoFit/>
          </a:bodyPr>
          <a:lstStyle/>
          <a:p>
            <a:r>
              <a:rPr lang="fr-FR" dirty="0">
                <a:hlinkClick r:id="rId2"/>
              </a:rPr>
              <a:t>https://tilings.math.uni-bielefeld.de/substitution/wheel-tiling</a:t>
            </a:r>
            <a:r>
              <a:rPr lang="fr-FR" dirty="0" smtClean="0">
                <a:hlinkClick r:id="rId2"/>
              </a:rPr>
              <a:t>/</a:t>
            </a:r>
            <a:endParaRPr lang="fr-FR" dirty="0" smtClean="0"/>
          </a:p>
          <a:p>
            <a:r>
              <a:rPr lang="fr-FR" dirty="0" err="1" smtClean="0"/>
              <a:t>Nissen</a:t>
            </a:r>
            <a:r>
              <a:rPr lang="fr-FR" dirty="0" smtClean="0"/>
              <a:t>, Hans-</a:t>
            </a:r>
            <a:r>
              <a:rPr lang="fr-FR" dirty="0" err="1"/>
              <a:t>U</a:t>
            </a:r>
            <a:r>
              <a:rPr lang="fr-FR" dirty="0" err="1" smtClean="0"/>
              <a:t>de</a:t>
            </a:r>
            <a:endParaRPr lang="fr-FR" dirty="0" smtClean="0"/>
          </a:p>
          <a:p>
            <a:endParaRPr lang="fr-FR" dirty="0"/>
          </a:p>
        </p:txBody>
      </p:sp>
      <p:pic>
        <p:nvPicPr>
          <p:cNvPr id="9" name="Image 8"/>
          <p:cNvPicPr>
            <a:picLocks noChangeAspect="1"/>
          </p:cNvPicPr>
          <p:nvPr/>
        </p:nvPicPr>
        <p:blipFill>
          <a:blip r:embed="rId3"/>
          <a:stretch>
            <a:fillRect/>
          </a:stretch>
        </p:blipFill>
        <p:spPr>
          <a:xfrm>
            <a:off x="3924968" y="1665346"/>
            <a:ext cx="4497671" cy="5152028"/>
          </a:xfrm>
          <a:prstGeom prst="rect">
            <a:avLst/>
          </a:prstGeom>
        </p:spPr>
      </p:pic>
    </p:spTree>
    <p:extLst>
      <p:ext uri="{BB962C8B-B14F-4D97-AF65-F5344CB8AC3E}">
        <p14:creationId xmlns:p14="http://schemas.microsoft.com/office/powerpoint/2010/main" val="2455192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Wheel tiling -&gt; shield and </a:t>
            </a:r>
            <a:r>
              <a:rPr lang="en-US" b="1" dirty="0" err="1" smtClean="0">
                <a:solidFill>
                  <a:srgbClr val="C85350"/>
                </a:solidFill>
              </a:rPr>
              <a:t>Socolar</a:t>
            </a:r>
            <a:r>
              <a:rPr lang="en-US" b="1" dirty="0" smtClean="0">
                <a:solidFill>
                  <a:srgbClr val="C85350"/>
                </a:solidFill>
              </a:rPr>
              <a:t> </a:t>
            </a:r>
            <a:r>
              <a:rPr lang="en-US" b="1" dirty="0" err="1" smtClean="0">
                <a:solidFill>
                  <a:srgbClr val="C85350"/>
                </a:solidFill>
              </a:rPr>
              <a:t>tilings</a:t>
            </a:r>
            <a:r>
              <a:rPr lang="en-US" b="1" dirty="0" smtClean="0">
                <a:solidFill>
                  <a:srgbClr val="C85350"/>
                </a:solidFill>
              </a:rPr>
              <a:t> </a:t>
            </a:r>
            <a:endParaRPr lang="fr-FR" b="1" dirty="0">
              <a:solidFill>
                <a:srgbClr val="C85350"/>
              </a:solidFill>
            </a:endParaRPr>
          </a:p>
        </p:txBody>
      </p:sp>
      <p:sp>
        <p:nvSpPr>
          <p:cNvPr id="10" name="Rectangle 9"/>
          <p:cNvSpPr/>
          <p:nvPr/>
        </p:nvSpPr>
        <p:spPr>
          <a:xfrm>
            <a:off x="316858" y="1077621"/>
            <a:ext cx="11405241" cy="923330"/>
          </a:xfrm>
          <a:prstGeom prst="rect">
            <a:avLst/>
          </a:prstGeom>
        </p:spPr>
        <p:txBody>
          <a:bodyPr wrap="square">
            <a:spAutoFit/>
          </a:bodyPr>
          <a:lstStyle/>
          <a:p>
            <a:r>
              <a:rPr lang="en-US" dirty="0"/>
              <a:t>There is a very simple rule to transform the wheel tiling into the </a:t>
            </a:r>
            <a:r>
              <a:rPr lang="en-US" dirty="0">
                <a:hlinkClick r:id="rId2"/>
              </a:rPr>
              <a:t>shield</a:t>
            </a:r>
            <a:r>
              <a:rPr lang="en-US" dirty="0"/>
              <a:t> tiling: Replace each edge in the tiling by an edge orthogonal to it, of equal length, such that the old and new edge intersect in their midpoints. Applying this rule to the wheel tiling yields the shield tiling and vice versa. </a:t>
            </a:r>
            <a:endParaRPr lang="fr-FR" dirty="0"/>
          </a:p>
        </p:txBody>
      </p:sp>
      <p:pic>
        <p:nvPicPr>
          <p:cNvPr id="4" name="Image 3"/>
          <p:cNvPicPr>
            <a:picLocks noChangeAspect="1"/>
          </p:cNvPicPr>
          <p:nvPr/>
        </p:nvPicPr>
        <p:blipFill>
          <a:blip r:embed="rId3"/>
          <a:stretch>
            <a:fillRect/>
          </a:stretch>
        </p:blipFill>
        <p:spPr>
          <a:xfrm>
            <a:off x="1498149" y="2336025"/>
            <a:ext cx="3340031" cy="4434179"/>
          </a:xfrm>
          <a:prstGeom prst="rect">
            <a:avLst/>
          </a:prstGeom>
        </p:spPr>
      </p:pic>
      <p:pic>
        <p:nvPicPr>
          <p:cNvPr id="5" name="Image 4"/>
          <p:cNvPicPr>
            <a:picLocks noChangeAspect="1"/>
          </p:cNvPicPr>
          <p:nvPr/>
        </p:nvPicPr>
        <p:blipFill>
          <a:blip r:embed="rId4"/>
          <a:stretch>
            <a:fillRect/>
          </a:stretch>
        </p:blipFill>
        <p:spPr>
          <a:xfrm>
            <a:off x="7172156" y="2254803"/>
            <a:ext cx="4146127" cy="4495800"/>
          </a:xfrm>
          <a:prstGeom prst="rect">
            <a:avLst/>
          </a:prstGeom>
        </p:spPr>
      </p:pic>
      <p:sp>
        <p:nvSpPr>
          <p:cNvPr id="6" name="Rectangle 5"/>
          <p:cNvSpPr/>
          <p:nvPr/>
        </p:nvSpPr>
        <p:spPr>
          <a:xfrm>
            <a:off x="6199522" y="1846062"/>
            <a:ext cx="5599097" cy="646331"/>
          </a:xfrm>
          <a:prstGeom prst="rect">
            <a:avLst/>
          </a:prstGeom>
        </p:spPr>
        <p:txBody>
          <a:bodyPr wrap="none">
            <a:spAutoFit/>
          </a:bodyPr>
          <a:lstStyle/>
          <a:p>
            <a:r>
              <a:rPr lang="fr-FR" dirty="0">
                <a:hlinkClick r:id="rId5"/>
              </a:rPr>
              <a:t>https://tilings.math.uni-bielefeld.de/substitution/socolar</a:t>
            </a:r>
            <a:r>
              <a:rPr lang="fr-FR" dirty="0" smtClean="0">
                <a:hlinkClick r:id="rId5"/>
              </a:rPr>
              <a:t>/</a:t>
            </a:r>
            <a:endParaRPr lang="fr-FR" dirty="0" smtClean="0"/>
          </a:p>
          <a:p>
            <a:endParaRPr lang="fr-FR" dirty="0"/>
          </a:p>
        </p:txBody>
      </p:sp>
      <p:sp>
        <p:nvSpPr>
          <p:cNvPr id="7" name="Rectangle 6"/>
          <p:cNvSpPr/>
          <p:nvPr/>
        </p:nvSpPr>
        <p:spPr>
          <a:xfrm>
            <a:off x="316853" y="1920067"/>
            <a:ext cx="5702625" cy="369332"/>
          </a:xfrm>
          <a:prstGeom prst="rect">
            <a:avLst/>
          </a:prstGeom>
        </p:spPr>
        <p:txBody>
          <a:bodyPr wrap="square">
            <a:spAutoFit/>
          </a:bodyPr>
          <a:lstStyle/>
          <a:p>
            <a:r>
              <a:rPr lang="fr-FR" dirty="0">
                <a:hlinkClick r:id="rId2"/>
              </a:rPr>
              <a:t>https://tilings.math.uni-bielefeld.de/substitution/shield</a:t>
            </a:r>
            <a:r>
              <a:rPr lang="fr-FR" dirty="0" smtClean="0">
                <a:hlinkClick r:id="rId2"/>
              </a:rPr>
              <a:t>/</a:t>
            </a:r>
            <a:endParaRPr lang="fr-FR" dirty="0" smtClean="0"/>
          </a:p>
        </p:txBody>
      </p:sp>
      <p:pic>
        <p:nvPicPr>
          <p:cNvPr id="11" name="Image 10"/>
          <p:cNvPicPr>
            <a:picLocks noChangeAspect="1"/>
          </p:cNvPicPr>
          <p:nvPr/>
        </p:nvPicPr>
        <p:blipFill>
          <a:blip r:embed="rId6"/>
          <a:stretch>
            <a:fillRect/>
          </a:stretch>
        </p:blipFill>
        <p:spPr>
          <a:xfrm>
            <a:off x="267839" y="2882429"/>
            <a:ext cx="2389586" cy="3341370"/>
          </a:xfrm>
          <a:prstGeom prst="rect">
            <a:avLst/>
          </a:prstGeom>
        </p:spPr>
      </p:pic>
      <p:pic>
        <p:nvPicPr>
          <p:cNvPr id="12" name="Image 11"/>
          <p:cNvPicPr>
            <a:picLocks noChangeAspect="1"/>
          </p:cNvPicPr>
          <p:nvPr/>
        </p:nvPicPr>
        <p:blipFill>
          <a:blip r:embed="rId7"/>
          <a:stretch>
            <a:fillRect/>
          </a:stretch>
        </p:blipFill>
        <p:spPr>
          <a:xfrm>
            <a:off x="5651224" y="2708170"/>
            <a:ext cx="2752365" cy="3545839"/>
          </a:xfrm>
          <a:prstGeom prst="rect">
            <a:avLst/>
          </a:prstGeom>
        </p:spPr>
      </p:pic>
    </p:spTree>
    <p:extLst>
      <p:ext uri="{BB962C8B-B14F-4D97-AF65-F5344CB8AC3E}">
        <p14:creationId xmlns:p14="http://schemas.microsoft.com/office/powerpoint/2010/main" val="3623434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H7/H8 by Simon </a:t>
            </a:r>
            <a:r>
              <a:rPr lang="en-US" b="1" dirty="0" err="1" smtClean="0">
                <a:solidFill>
                  <a:srgbClr val="C85350"/>
                </a:solidFill>
              </a:rPr>
              <a:t>Tathan</a:t>
            </a:r>
            <a:endParaRPr lang="fr-FR" b="1" dirty="0">
              <a:solidFill>
                <a:srgbClr val="C85350"/>
              </a:solidFill>
            </a:endParaRPr>
          </a:p>
        </p:txBody>
      </p:sp>
      <p:sp>
        <p:nvSpPr>
          <p:cNvPr id="5" name="Rectangle 4"/>
          <p:cNvSpPr/>
          <p:nvPr/>
        </p:nvSpPr>
        <p:spPr>
          <a:xfrm>
            <a:off x="497840" y="1313707"/>
            <a:ext cx="8656320" cy="1477328"/>
          </a:xfrm>
          <a:prstGeom prst="rect">
            <a:avLst/>
          </a:prstGeom>
        </p:spPr>
        <p:txBody>
          <a:bodyPr wrap="square">
            <a:spAutoFit/>
          </a:bodyPr>
          <a:lstStyle/>
          <a:p>
            <a:r>
              <a:rPr lang="fr-FR" dirty="0">
                <a:hlinkClick r:id="rId2"/>
              </a:rPr>
              <a:t>https://www.chiark.greenend.org.uk/~sgtatham/quasiblog/aperiodic-refine</a:t>
            </a:r>
            <a:r>
              <a:rPr lang="fr-FR" dirty="0" smtClean="0">
                <a:hlinkClick r:id="rId2"/>
              </a:rPr>
              <a:t>/</a:t>
            </a:r>
            <a:endParaRPr lang="fr-FR" dirty="0" smtClean="0"/>
          </a:p>
          <a:p>
            <a:endParaRPr lang="fr-FR" dirty="0"/>
          </a:p>
          <a:p>
            <a:r>
              <a:rPr lang="fr-FR" dirty="0">
                <a:hlinkClick r:id="rId3"/>
              </a:rPr>
              <a:t>https://</a:t>
            </a:r>
            <a:r>
              <a:rPr lang="fr-FR" dirty="0" smtClean="0">
                <a:hlinkClick r:id="rId3"/>
              </a:rPr>
              <a:t>arxiv.org/abs/2512.16595</a:t>
            </a:r>
            <a:endParaRPr lang="fr-FR" dirty="0" smtClean="0"/>
          </a:p>
          <a:p>
            <a:endParaRPr lang="fr-FR" dirty="0" smtClean="0"/>
          </a:p>
          <a:p>
            <a:endParaRPr lang="fr-FR" dirty="0"/>
          </a:p>
        </p:txBody>
      </p:sp>
      <p:pic>
        <p:nvPicPr>
          <p:cNvPr id="6" name="Image 5"/>
          <p:cNvPicPr>
            <a:picLocks noChangeAspect="1"/>
          </p:cNvPicPr>
          <p:nvPr/>
        </p:nvPicPr>
        <p:blipFill>
          <a:blip r:embed="rId4"/>
          <a:stretch>
            <a:fillRect/>
          </a:stretch>
        </p:blipFill>
        <p:spPr>
          <a:xfrm>
            <a:off x="680720" y="2490889"/>
            <a:ext cx="4988877" cy="2968353"/>
          </a:xfrm>
          <a:prstGeom prst="rect">
            <a:avLst/>
          </a:prstGeom>
        </p:spPr>
      </p:pic>
      <p:pic>
        <p:nvPicPr>
          <p:cNvPr id="7" name="Image 6"/>
          <p:cNvPicPr>
            <a:picLocks noChangeAspect="1"/>
          </p:cNvPicPr>
          <p:nvPr/>
        </p:nvPicPr>
        <p:blipFill>
          <a:blip r:embed="rId5"/>
          <a:stretch>
            <a:fillRect/>
          </a:stretch>
        </p:blipFill>
        <p:spPr>
          <a:xfrm>
            <a:off x="6304229" y="2099271"/>
            <a:ext cx="5210226" cy="3359971"/>
          </a:xfrm>
          <a:prstGeom prst="rect">
            <a:avLst/>
          </a:prstGeom>
        </p:spPr>
      </p:pic>
    </p:spTree>
    <p:extLst>
      <p:ext uri="{BB962C8B-B14F-4D97-AF65-F5344CB8AC3E}">
        <p14:creationId xmlns:p14="http://schemas.microsoft.com/office/powerpoint/2010/main" val="3460362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10814548" y="6657623"/>
            <a:ext cx="539251" cy="63852"/>
          </a:xfrm>
        </p:spPr>
        <p:txBody>
          <a:bodyPr/>
          <a:lstStyle/>
          <a:p>
            <a:fld id="{7CBBC808-1C2F-4D0A-88AD-4B1C02A49358}" type="slidenum">
              <a:rPr lang="fr-FR" smtClean="0"/>
              <a:t>5</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The nine </a:t>
            </a:r>
            <a:r>
              <a:rPr lang="en-US" b="1" dirty="0" err="1" smtClean="0">
                <a:solidFill>
                  <a:srgbClr val="C85350"/>
                </a:solidFill>
              </a:rPr>
              <a:t>homochiral</a:t>
            </a:r>
            <a:r>
              <a:rPr lang="en-US" b="1" dirty="0" smtClean="0">
                <a:solidFill>
                  <a:srgbClr val="C85350"/>
                </a:solidFill>
              </a:rPr>
              <a:t> </a:t>
            </a:r>
            <a:r>
              <a:rPr lang="en-US" b="1" dirty="0" err="1" smtClean="0">
                <a:solidFill>
                  <a:srgbClr val="C85350"/>
                </a:solidFill>
              </a:rPr>
              <a:t>substiturions</a:t>
            </a:r>
            <a:r>
              <a:rPr lang="en-US" b="1" dirty="0" smtClean="0">
                <a:solidFill>
                  <a:srgbClr val="C85350"/>
                </a:solidFill>
              </a:rPr>
              <a:t>  by Simon </a:t>
            </a:r>
            <a:r>
              <a:rPr lang="en-US" b="1" dirty="0" err="1" smtClean="0">
                <a:solidFill>
                  <a:srgbClr val="C85350"/>
                </a:solidFill>
              </a:rPr>
              <a:t>Tathan</a:t>
            </a:r>
            <a:endParaRPr lang="fr-FR" b="1" dirty="0">
              <a:solidFill>
                <a:srgbClr val="C85350"/>
              </a:solidFill>
            </a:endParaRPr>
          </a:p>
        </p:txBody>
      </p:sp>
      <p:sp>
        <p:nvSpPr>
          <p:cNvPr id="5" name="Rectangle 4"/>
          <p:cNvSpPr/>
          <p:nvPr/>
        </p:nvSpPr>
        <p:spPr>
          <a:xfrm>
            <a:off x="497840" y="1313707"/>
            <a:ext cx="8656320" cy="646331"/>
          </a:xfrm>
          <a:prstGeom prst="rect">
            <a:avLst/>
          </a:prstGeom>
        </p:spPr>
        <p:txBody>
          <a:bodyPr wrap="square">
            <a:spAutoFit/>
          </a:bodyPr>
          <a:lstStyle/>
          <a:p>
            <a:r>
              <a:rPr lang="fr-FR" dirty="0">
                <a:hlinkClick r:id="rId2"/>
              </a:rPr>
              <a:t>https://www.chiark.greenend.org.uk/~sgtatham/quasiblog/aperiodic-refine</a:t>
            </a:r>
            <a:r>
              <a:rPr lang="fr-FR" dirty="0" smtClean="0">
                <a:hlinkClick r:id="rId2"/>
              </a:rPr>
              <a:t>/</a:t>
            </a:r>
            <a:endParaRPr lang="fr-FR" dirty="0" smtClean="0"/>
          </a:p>
          <a:p>
            <a:endParaRPr lang="fr-FR" dirty="0"/>
          </a:p>
        </p:txBody>
      </p:sp>
      <p:pic>
        <p:nvPicPr>
          <p:cNvPr id="4" name="Image 3"/>
          <p:cNvPicPr>
            <a:picLocks noChangeAspect="1"/>
          </p:cNvPicPr>
          <p:nvPr/>
        </p:nvPicPr>
        <p:blipFill>
          <a:blip r:embed="rId3"/>
          <a:stretch>
            <a:fillRect/>
          </a:stretch>
        </p:blipFill>
        <p:spPr>
          <a:xfrm>
            <a:off x="908791" y="2112971"/>
            <a:ext cx="2450614" cy="1497434"/>
          </a:xfrm>
          <a:prstGeom prst="rect">
            <a:avLst/>
          </a:prstGeom>
        </p:spPr>
      </p:pic>
      <p:pic>
        <p:nvPicPr>
          <p:cNvPr id="8" name="Image 7"/>
          <p:cNvPicPr>
            <a:picLocks noChangeAspect="1"/>
          </p:cNvPicPr>
          <p:nvPr/>
        </p:nvPicPr>
        <p:blipFill>
          <a:blip r:embed="rId4"/>
          <a:stretch>
            <a:fillRect/>
          </a:stretch>
        </p:blipFill>
        <p:spPr>
          <a:xfrm>
            <a:off x="873407" y="5133416"/>
            <a:ext cx="2615362" cy="1700426"/>
          </a:xfrm>
          <a:prstGeom prst="rect">
            <a:avLst/>
          </a:prstGeom>
        </p:spPr>
      </p:pic>
      <p:pic>
        <p:nvPicPr>
          <p:cNvPr id="9" name="Image 8"/>
          <p:cNvPicPr>
            <a:picLocks noChangeAspect="1"/>
          </p:cNvPicPr>
          <p:nvPr/>
        </p:nvPicPr>
        <p:blipFill>
          <a:blip r:embed="rId5"/>
          <a:stretch>
            <a:fillRect/>
          </a:stretch>
        </p:blipFill>
        <p:spPr>
          <a:xfrm>
            <a:off x="4354971" y="2112971"/>
            <a:ext cx="2530046" cy="1618053"/>
          </a:xfrm>
          <a:prstGeom prst="rect">
            <a:avLst/>
          </a:prstGeom>
        </p:spPr>
      </p:pic>
      <p:pic>
        <p:nvPicPr>
          <p:cNvPr id="10" name="Image 9"/>
          <p:cNvPicPr>
            <a:picLocks noChangeAspect="1"/>
          </p:cNvPicPr>
          <p:nvPr/>
        </p:nvPicPr>
        <p:blipFill>
          <a:blip r:embed="rId6"/>
          <a:stretch>
            <a:fillRect/>
          </a:stretch>
        </p:blipFill>
        <p:spPr>
          <a:xfrm>
            <a:off x="4293609" y="3609505"/>
            <a:ext cx="2580059" cy="1523911"/>
          </a:xfrm>
          <a:prstGeom prst="rect">
            <a:avLst/>
          </a:prstGeom>
        </p:spPr>
      </p:pic>
      <p:pic>
        <p:nvPicPr>
          <p:cNvPr id="11" name="Image 10"/>
          <p:cNvPicPr>
            <a:picLocks noChangeAspect="1"/>
          </p:cNvPicPr>
          <p:nvPr/>
        </p:nvPicPr>
        <p:blipFill>
          <a:blip r:embed="rId7"/>
          <a:stretch>
            <a:fillRect/>
          </a:stretch>
        </p:blipFill>
        <p:spPr>
          <a:xfrm>
            <a:off x="4231410" y="5115190"/>
            <a:ext cx="2653607" cy="1606285"/>
          </a:xfrm>
          <a:prstGeom prst="rect">
            <a:avLst/>
          </a:prstGeom>
        </p:spPr>
      </p:pic>
      <p:pic>
        <p:nvPicPr>
          <p:cNvPr id="12" name="Image 11"/>
          <p:cNvPicPr>
            <a:picLocks noChangeAspect="1"/>
          </p:cNvPicPr>
          <p:nvPr/>
        </p:nvPicPr>
        <p:blipFill>
          <a:blip r:embed="rId8"/>
          <a:stretch>
            <a:fillRect/>
          </a:stretch>
        </p:blipFill>
        <p:spPr>
          <a:xfrm>
            <a:off x="7840595" y="2078713"/>
            <a:ext cx="2627129" cy="1468014"/>
          </a:xfrm>
          <a:prstGeom prst="rect">
            <a:avLst/>
          </a:prstGeom>
        </p:spPr>
      </p:pic>
      <p:pic>
        <p:nvPicPr>
          <p:cNvPr id="13" name="Image 12"/>
          <p:cNvPicPr>
            <a:picLocks noChangeAspect="1"/>
          </p:cNvPicPr>
          <p:nvPr/>
        </p:nvPicPr>
        <p:blipFill>
          <a:blip r:embed="rId9"/>
          <a:stretch>
            <a:fillRect/>
          </a:stretch>
        </p:blipFill>
        <p:spPr>
          <a:xfrm>
            <a:off x="796918" y="3651726"/>
            <a:ext cx="2691851" cy="1679832"/>
          </a:xfrm>
          <a:prstGeom prst="rect">
            <a:avLst/>
          </a:prstGeom>
        </p:spPr>
      </p:pic>
      <p:pic>
        <p:nvPicPr>
          <p:cNvPr id="14" name="Image 13"/>
          <p:cNvPicPr>
            <a:picLocks noChangeAspect="1"/>
          </p:cNvPicPr>
          <p:nvPr/>
        </p:nvPicPr>
        <p:blipFill>
          <a:blip r:embed="rId10"/>
          <a:stretch>
            <a:fillRect/>
          </a:stretch>
        </p:blipFill>
        <p:spPr>
          <a:xfrm>
            <a:off x="7969959" y="3481079"/>
            <a:ext cx="2706561" cy="1603343"/>
          </a:xfrm>
          <a:prstGeom prst="rect">
            <a:avLst/>
          </a:prstGeom>
        </p:spPr>
      </p:pic>
      <p:pic>
        <p:nvPicPr>
          <p:cNvPr id="15" name="Image 14"/>
          <p:cNvPicPr>
            <a:picLocks noChangeAspect="1"/>
          </p:cNvPicPr>
          <p:nvPr/>
        </p:nvPicPr>
        <p:blipFill>
          <a:blip r:embed="rId11"/>
          <a:stretch>
            <a:fillRect/>
          </a:stretch>
        </p:blipFill>
        <p:spPr>
          <a:xfrm>
            <a:off x="7969959" y="5159318"/>
            <a:ext cx="2644781" cy="1518027"/>
          </a:xfrm>
          <a:prstGeom prst="rect">
            <a:avLst/>
          </a:prstGeom>
        </p:spPr>
      </p:pic>
    </p:spTree>
    <p:extLst>
      <p:ext uri="{BB962C8B-B14F-4D97-AF65-F5344CB8AC3E}">
        <p14:creationId xmlns:p14="http://schemas.microsoft.com/office/powerpoint/2010/main" val="2248219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a:solidFill>
                  <a:srgbClr val="C85350"/>
                </a:solidFill>
              </a:rPr>
              <a:t>Homochiral</a:t>
            </a:r>
            <a:r>
              <a:rPr lang="en-US" b="1" dirty="0">
                <a:solidFill>
                  <a:srgbClr val="C85350"/>
                </a:solidFill>
              </a:rPr>
              <a:t> python code on </a:t>
            </a:r>
            <a:r>
              <a:rPr lang="en-US" b="1" dirty="0" err="1">
                <a:solidFill>
                  <a:srgbClr val="C85350"/>
                </a:solidFill>
              </a:rPr>
              <a:t>github</a:t>
            </a:r>
            <a:endParaRPr lang="fr-FR" b="1" dirty="0">
              <a:solidFill>
                <a:srgbClr val="C85350"/>
              </a:solidFill>
            </a:endParaRPr>
          </a:p>
        </p:txBody>
      </p:sp>
      <p:sp>
        <p:nvSpPr>
          <p:cNvPr id="4" name="ZoneTexte 3">
            <a:extLst>
              <a:ext uri="{FF2B5EF4-FFF2-40B4-BE49-F238E27FC236}">
                <a16:creationId xmlns:a16="http://schemas.microsoft.com/office/drawing/2014/main" id="{5C1DF85E-AE3C-4141-B8E3-32FC0D949336}"/>
              </a:ext>
            </a:extLst>
          </p:cNvPr>
          <p:cNvSpPr txBox="1"/>
          <p:nvPr/>
        </p:nvSpPr>
        <p:spPr>
          <a:xfrm>
            <a:off x="441434" y="1447271"/>
            <a:ext cx="11217166" cy="5693866"/>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hlinkClick r:id="rId2"/>
              </a:rPr>
              <a:t>https</a:t>
            </a:r>
            <a:r>
              <a:rPr lang="fr-FR" sz="2800" dirty="0">
                <a:hlinkClick r:id="rId2"/>
              </a:rPr>
              <a:t>://github.com/marimperorclerc/homochiral</a:t>
            </a:r>
            <a:endParaRPr lang="fr-FR" sz="2800" dirty="0"/>
          </a:p>
          <a:p>
            <a:pPr marL="457200" indent="-457200">
              <a:buFont typeface="Wingdings" panose="05000000000000000000" pitchFamily="2" charset="2"/>
              <a:buChar char="§"/>
            </a:pPr>
            <a:endParaRPr lang="fr-FR" sz="2800" dirty="0"/>
          </a:p>
          <a:p>
            <a:r>
              <a:rPr lang="en-US" sz="2800" dirty="0"/>
              <a:t>python code for drawing clusters with Tile(</a:t>
            </a:r>
            <a:r>
              <a:rPr lang="en-US" sz="2800" dirty="0" err="1"/>
              <a:t>a,b</a:t>
            </a:r>
            <a:r>
              <a:rPr lang="en-US" sz="2800" dirty="0"/>
              <a:t>) in </a:t>
            </a:r>
            <a:r>
              <a:rPr lang="en-US" sz="2800" dirty="0" err="1"/>
              <a:t>svg</a:t>
            </a:r>
            <a:r>
              <a:rPr lang="en-US" sz="2800" dirty="0"/>
              <a:t> </a:t>
            </a:r>
            <a:r>
              <a:rPr lang="en-US" sz="2800" dirty="0" smtClean="0"/>
              <a:t>graphics</a:t>
            </a:r>
          </a:p>
          <a:p>
            <a:endParaRPr lang="en-US" sz="2800" dirty="0" smtClean="0"/>
          </a:p>
          <a:p>
            <a:r>
              <a:rPr lang="en-US" sz="2800" b="1" dirty="0" smtClean="0"/>
              <a:t>References</a:t>
            </a:r>
            <a:endParaRPr lang="en-US" sz="2800" b="1" dirty="0"/>
          </a:p>
          <a:p>
            <a:r>
              <a:rPr lang="en-US" sz="2800" dirty="0"/>
              <a:t>Code is based on the </a:t>
            </a:r>
            <a:r>
              <a:rPr lang="en-US" sz="2800" dirty="0" err="1"/>
              <a:t>drawsvg</a:t>
            </a:r>
            <a:r>
              <a:rPr lang="en-US" sz="2800" dirty="0"/>
              <a:t> package: </a:t>
            </a:r>
          </a:p>
          <a:p>
            <a:r>
              <a:rPr lang="en-US" sz="2800" dirty="0">
                <a:hlinkClick r:id="rId3"/>
              </a:rPr>
              <a:t>https://pypi.org/project/drawsvg/</a:t>
            </a:r>
            <a:endParaRPr lang="en-US" sz="2800" dirty="0"/>
          </a:p>
          <a:p>
            <a:r>
              <a:rPr lang="en-US" sz="2800" dirty="0"/>
              <a:t>And the python code with alternate chirality for inflation for </a:t>
            </a:r>
            <a:r>
              <a:rPr lang="en-US" sz="2800" dirty="0" err="1"/>
              <a:t>spectre</a:t>
            </a:r>
            <a:r>
              <a:rPr lang="en-US" sz="2800" dirty="0"/>
              <a:t> tiling: </a:t>
            </a:r>
          </a:p>
          <a:p>
            <a:r>
              <a:rPr lang="en-US" sz="2800" dirty="0">
                <a:hlinkClick r:id="rId4"/>
              </a:rPr>
              <a:t>https://github.com/shrx/spectre/blob/master/spectre.py</a:t>
            </a:r>
            <a:endParaRPr lang="en-US" sz="2800" dirty="0"/>
          </a:p>
          <a:p>
            <a:pPr marL="457200" indent="-457200">
              <a:buFont typeface="Wingdings" panose="05000000000000000000" pitchFamily="2" charset="2"/>
              <a:buChar char="§"/>
            </a:pPr>
            <a:r>
              <a:rPr lang="en-US" sz="2800" dirty="0"/>
              <a:t>Adapted here </a:t>
            </a:r>
            <a:r>
              <a:rPr lang="en-US" sz="2800" dirty="0" smtClean="0"/>
              <a:t>(</a:t>
            </a:r>
            <a:r>
              <a:rPr lang="en-US" sz="2800" dirty="0" err="1" smtClean="0"/>
              <a:t>spectre</a:t>
            </a:r>
            <a:r>
              <a:rPr lang="en-US" sz="2800" dirty="0" smtClean="0"/>
              <a:t>-colored-</a:t>
            </a:r>
            <a:r>
              <a:rPr lang="en-US" sz="2800" dirty="0" err="1" smtClean="0"/>
              <a:t>tiles.ipynb</a:t>
            </a:r>
            <a:r>
              <a:rPr lang="en-US" sz="2800" dirty="0" smtClean="0"/>
              <a:t>) with different color choices</a:t>
            </a:r>
          </a:p>
          <a:p>
            <a:pPr marL="457200" indent="-457200">
              <a:buFont typeface="Wingdings" panose="05000000000000000000" pitchFamily="2" charset="2"/>
              <a:buChar char="§"/>
            </a:pPr>
            <a:r>
              <a:rPr lang="en-US" sz="2800" dirty="0" smtClean="0"/>
              <a:t>See some .</a:t>
            </a:r>
            <a:r>
              <a:rPr lang="en-US" sz="2800" dirty="0" err="1" smtClean="0"/>
              <a:t>svg</a:t>
            </a:r>
            <a:r>
              <a:rPr lang="en-US" sz="2800" dirty="0" smtClean="0"/>
              <a:t> files in  \</a:t>
            </a:r>
            <a:r>
              <a:rPr lang="en-US" sz="2800" dirty="0" err="1" smtClean="0"/>
              <a:t>svg-spectre</a:t>
            </a:r>
            <a:r>
              <a:rPr lang="en-US" sz="2800" dirty="0" smtClean="0"/>
              <a:t> folder</a:t>
            </a:r>
            <a:endParaRPr lang="en-US" sz="2800" dirty="0"/>
          </a:p>
          <a:p>
            <a:pPr marL="457200" indent="-457200">
              <a:buFont typeface="Wingdings" panose="05000000000000000000" pitchFamily="2" charset="2"/>
              <a:buChar char="§"/>
            </a:pPr>
            <a:endParaRPr lang="fr-FR" sz="2800" dirty="0"/>
          </a:p>
          <a:p>
            <a:endParaRPr lang="fr-FR" sz="2800" dirty="0"/>
          </a:p>
        </p:txBody>
      </p:sp>
    </p:spTree>
    <p:extLst>
      <p:ext uri="{BB962C8B-B14F-4D97-AF65-F5344CB8AC3E}">
        <p14:creationId xmlns:p14="http://schemas.microsoft.com/office/powerpoint/2010/main" val="3273237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7</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Identification of the </a:t>
            </a:r>
            <a:r>
              <a:rPr lang="en-US" b="1" dirty="0" err="1" smtClean="0">
                <a:solidFill>
                  <a:srgbClr val="C85350"/>
                </a:solidFill>
              </a:rPr>
              <a:t>greek</a:t>
            </a:r>
            <a:r>
              <a:rPr lang="en-US" b="1" dirty="0" smtClean="0">
                <a:solidFill>
                  <a:srgbClr val="C85350"/>
                </a:solidFill>
              </a:rPr>
              <a:t> letters for tiles</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43391" y="999137"/>
            <a:ext cx="8651875" cy="5394070"/>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5963419" y="1361006"/>
            <a:ext cx="5911721" cy="1569660"/>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Consider</a:t>
            </a:r>
            <a:r>
              <a:rPr lang="fr-FR" sz="2400" dirty="0" smtClean="0">
                <a:solidFill>
                  <a:srgbClr val="FF0000"/>
                </a:solidFill>
              </a:rPr>
              <a:t> a cluster of four </a:t>
            </a:r>
            <a:r>
              <a:rPr lang="fr-FR" sz="2400" dirty="0" err="1" smtClean="0">
                <a:solidFill>
                  <a:srgbClr val="FF0000"/>
                </a:solidFill>
              </a:rPr>
              <a:t>tiles</a:t>
            </a:r>
            <a:r>
              <a:rPr lang="fr-FR" sz="2400" dirty="0" smtClean="0">
                <a:solidFill>
                  <a:srgbClr val="FF0000"/>
                </a:solidFill>
              </a:rPr>
              <a:t> </a:t>
            </a:r>
            <a:r>
              <a:rPr lang="fr-FR" sz="2400" dirty="0" err="1" smtClean="0">
                <a:solidFill>
                  <a:srgbClr val="FF0000"/>
                </a:solidFill>
              </a:rPr>
              <a:t>instead</a:t>
            </a:r>
            <a:r>
              <a:rPr lang="fr-FR" sz="2400" dirty="0" smtClean="0">
                <a:solidFill>
                  <a:srgbClr val="FF0000"/>
                </a:solidFill>
              </a:rPr>
              <a:t> of 3 for </a:t>
            </a:r>
            <a:r>
              <a:rPr lang="fr-FR" sz="2400" dirty="0" err="1" smtClean="0">
                <a:solidFill>
                  <a:srgbClr val="FF0000"/>
                </a:solidFill>
              </a:rPr>
              <a:t>horn</a:t>
            </a:r>
            <a:r>
              <a:rPr lang="fr-FR" sz="2400" dirty="0" smtClean="0">
                <a:solidFill>
                  <a:srgbClr val="FF0000"/>
                </a:solidFill>
              </a:rPr>
              <a:t> in the </a:t>
            </a:r>
            <a:r>
              <a:rPr lang="fr-FR" sz="2400" dirty="0" err="1" smtClean="0">
                <a:solidFill>
                  <a:srgbClr val="FF0000"/>
                </a:solidFill>
              </a:rPr>
              <a:t>anatomy</a:t>
            </a:r>
            <a:r>
              <a:rPr lang="fr-FR" sz="2400" dirty="0" smtClean="0">
                <a:solidFill>
                  <a:srgbClr val="FF0000"/>
                </a:solidFill>
              </a:rPr>
              <a:t> ? (by </a:t>
            </a:r>
            <a:r>
              <a:rPr lang="fr-FR" sz="2400" dirty="0" err="1" smtClean="0">
                <a:solidFill>
                  <a:srgbClr val="FF0000"/>
                </a:solidFill>
              </a:rPr>
              <a:t>adding</a:t>
            </a:r>
            <a:r>
              <a:rPr lang="fr-FR" sz="2400" dirty="0" smtClean="0">
                <a:solidFill>
                  <a:srgbClr val="FF0000"/>
                </a:solidFill>
              </a:rPr>
              <a:t> the \Delta </a:t>
            </a:r>
            <a:r>
              <a:rPr lang="fr-FR" sz="2400" dirty="0" err="1" smtClean="0">
                <a:solidFill>
                  <a:srgbClr val="FF0000"/>
                </a:solidFill>
              </a:rPr>
              <a:t>tile</a:t>
            </a:r>
            <a:r>
              <a:rPr lang="fr-FR" sz="2400" dirty="0" smtClean="0">
                <a:solidFill>
                  <a:srgbClr val="FF0000"/>
                </a:solidFill>
              </a:rPr>
              <a:t>)</a:t>
            </a:r>
            <a:endParaRPr lang="fr-FR" sz="2400" dirty="0">
              <a:solidFill>
                <a:srgbClr val="FF0000"/>
              </a:solidFill>
            </a:endParaRPr>
          </a:p>
          <a:p>
            <a:endParaRPr lang="fr-FR" sz="2400" dirty="0">
              <a:solidFill>
                <a:srgbClr val="FF0000"/>
              </a:solidFill>
            </a:endParaRPr>
          </a:p>
        </p:txBody>
      </p:sp>
      <p:sp>
        <p:nvSpPr>
          <p:cNvPr id="7" name="ZoneTexte 6">
            <a:extLst>
              <a:ext uri="{FF2B5EF4-FFF2-40B4-BE49-F238E27FC236}">
                <a16:creationId xmlns:a16="http://schemas.microsoft.com/office/drawing/2014/main" id="{5C1DF85E-AE3C-4141-B8E3-32FC0D949336}"/>
              </a:ext>
            </a:extLst>
          </p:cNvPr>
          <p:cNvSpPr txBox="1"/>
          <p:nvPr/>
        </p:nvSpPr>
        <p:spPr>
          <a:xfrm>
            <a:off x="6095999" y="2697730"/>
            <a:ext cx="4582661"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Large stars correspond to all \Pi and \Psi </a:t>
            </a:r>
            <a:r>
              <a:rPr lang="fr-FR" sz="2400" dirty="0" err="1" smtClean="0">
                <a:solidFill>
                  <a:srgbClr val="FF0000"/>
                </a:solidFill>
              </a:rPr>
              <a:t>tiles</a:t>
            </a:r>
            <a:endParaRPr lang="fr-FR" sz="2400" dirty="0">
              <a:solidFill>
                <a:srgbClr val="FF0000"/>
              </a:solidFill>
            </a:endParaRPr>
          </a:p>
        </p:txBody>
      </p:sp>
      <p:sp>
        <p:nvSpPr>
          <p:cNvPr id="8" name="ZoneTexte 7">
            <a:extLst>
              <a:ext uri="{FF2B5EF4-FFF2-40B4-BE49-F238E27FC236}">
                <a16:creationId xmlns:a16="http://schemas.microsoft.com/office/drawing/2014/main" id="{5C1DF85E-AE3C-4141-B8E3-32FC0D949336}"/>
              </a:ext>
            </a:extLst>
          </p:cNvPr>
          <p:cNvSpPr txBox="1"/>
          <p:nvPr/>
        </p:nvSpPr>
        <p:spPr>
          <a:xfrm>
            <a:off x="8206729" y="4734817"/>
            <a:ext cx="3985271" cy="1938992"/>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\phi </a:t>
            </a:r>
            <a:r>
              <a:rPr lang="fr-FR" sz="2400" dirty="0" err="1" smtClean="0">
                <a:solidFill>
                  <a:srgbClr val="FF0000"/>
                </a:solidFill>
              </a:rPr>
              <a:t>tiles</a:t>
            </a:r>
            <a:r>
              <a:rPr lang="fr-FR" sz="2400" dirty="0" smtClean="0">
                <a:solidFill>
                  <a:srgbClr val="FF0000"/>
                </a:solidFill>
              </a:rPr>
              <a:t> </a:t>
            </a:r>
            <a:r>
              <a:rPr lang="fr-FR" sz="2400" dirty="0" err="1" smtClean="0">
                <a:solidFill>
                  <a:srgbClr val="FF0000"/>
                </a:solidFill>
              </a:rPr>
              <a:t>give</a:t>
            </a:r>
            <a:r>
              <a:rPr lang="fr-FR" sz="2400" dirty="0" smtClean="0">
                <a:solidFill>
                  <a:srgbClr val="FF0000"/>
                </a:solidFill>
              </a:rPr>
              <a:t> all </a:t>
            </a:r>
            <a:r>
              <a:rPr lang="fr-FR" sz="2400" dirty="0" err="1" smtClean="0">
                <a:solidFill>
                  <a:srgbClr val="FF0000"/>
                </a:solidFill>
              </a:rPr>
              <a:t>small</a:t>
            </a:r>
            <a:r>
              <a:rPr lang="fr-FR" sz="2400" dirty="0" smtClean="0">
                <a:solidFill>
                  <a:srgbClr val="FF0000"/>
                </a:solidFill>
              </a:rPr>
              <a:t> stars plus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Look at the position of the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a:t>
            </a:r>
            <a:r>
              <a:rPr lang="fr-FR" sz="2400" dirty="0" err="1" smtClean="0">
                <a:solidFill>
                  <a:srgbClr val="FF0000"/>
                </a:solidFill>
              </a:rPr>
              <a:t>called</a:t>
            </a:r>
            <a:r>
              <a:rPr lang="fr-FR" sz="2400" dirty="0" smtClean="0">
                <a:solidFill>
                  <a:srgbClr val="FF0000"/>
                </a:solidFill>
              </a:rPr>
              <a:t> </a:t>
            </a:r>
            <a:r>
              <a:rPr lang="fr-FR" sz="2400" dirty="0" err="1" smtClean="0">
                <a:solidFill>
                  <a:srgbClr val="FF0000"/>
                </a:solidFill>
              </a:rPr>
              <a:t>here</a:t>
            </a:r>
            <a:r>
              <a:rPr lang="fr-FR" sz="2400" dirty="0" smtClean="0">
                <a:solidFill>
                  <a:srgbClr val="FF0000"/>
                </a:solidFill>
              </a:rPr>
              <a:t> \</a:t>
            </a:r>
            <a:r>
              <a:rPr lang="fr-FR" sz="2400" dirty="0" err="1" smtClean="0">
                <a:solidFill>
                  <a:srgbClr val="FF0000"/>
                </a:solidFill>
              </a:rPr>
              <a:t>phi_bis</a:t>
            </a:r>
            <a:r>
              <a:rPr lang="fr-FR" sz="2400" dirty="0" smtClean="0">
                <a:solidFill>
                  <a:srgbClr val="FF0000"/>
                </a:solidFill>
              </a:rPr>
              <a:t>) ?</a:t>
            </a:r>
            <a:endParaRPr lang="fr-FR" sz="2400" dirty="0">
              <a:solidFill>
                <a:srgbClr val="FF0000"/>
              </a:solidFill>
            </a:endParaRPr>
          </a:p>
        </p:txBody>
      </p:sp>
      <p:sp>
        <p:nvSpPr>
          <p:cNvPr id="9" name="ZoneTexte 8">
            <a:extLst>
              <a:ext uri="{FF2B5EF4-FFF2-40B4-BE49-F238E27FC236}">
                <a16:creationId xmlns:a16="http://schemas.microsoft.com/office/drawing/2014/main" id="{5C1DF85E-AE3C-4141-B8E3-32FC0D949336}"/>
              </a:ext>
            </a:extLst>
          </p:cNvPr>
          <p:cNvSpPr txBox="1"/>
          <p:nvPr/>
        </p:nvSpPr>
        <p:spPr>
          <a:xfrm>
            <a:off x="71516" y="6123413"/>
            <a:ext cx="6024483"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All \chi </a:t>
            </a:r>
            <a:r>
              <a:rPr lang="fr-FR" sz="2400" dirty="0" err="1" smtClean="0">
                <a:solidFill>
                  <a:srgbClr val="FF0000"/>
                </a:solidFill>
              </a:rPr>
              <a:t>tiles</a:t>
            </a:r>
            <a:r>
              <a:rPr lang="fr-FR" sz="2400" dirty="0" smtClean="0">
                <a:solidFill>
                  <a:srgbClr val="FF0000"/>
                </a:solidFill>
              </a:rPr>
              <a:t> are </a:t>
            </a:r>
            <a:r>
              <a:rPr lang="fr-FR" sz="2400" dirty="0" err="1" smtClean="0">
                <a:solidFill>
                  <a:srgbClr val="FF0000"/>
                </a:solidFill>
              </a:rPr>
              <a:t>linked</a:t>
            </a:r>
            <a:r>
              <a:rPr lang="fr-FR" sz="2400" dirty="0" smtClean="0">
                <a:solidFill>
                  <a:srgbClr val="FF0000"/>
                </a:solidFill>
              </a:rPr>
              <a:t> to a \pi </a:t>
            </a:r>
            <a:r>
              <a:rPr lang="fr-FR" sz="2400" dirty="0" err="1" smtClean="0">
                <a:solidFill>
                  <a:srgbClr val="FF0000"/>
                </a:solidFill>
              </a:rPr>
              <a:t>tile</a:t>
            </a:r>
            <a:r>
              <a:rPr lang="fr-FR" sz="2400" dirty="0" smtClean="0">
                <a:solidFill>
                  <a:srgbClr val="FF0000"/>
                </a:solidFill>
              </a:rPr>
              <a:t> and </a:t>
            </a:r>
            <a:r>
              <a:rPr lang="fr-FR" sz="2400" dirty="0" err="1" smtClean="0">
                <a:solidFill>
                  <a:srgbClr val="FF0000"/>
                </a:solidFill>
              </a:rPr>
              <a:t>consequently</a:t>
            </a:r>
            <a:r>
              <a:rPr lang="fr-FR" sz="2400" dirty="0" smtClean="0">
                <a:solidFill>
                  <a:srgbClr val="FF0000"/>
                </a:solidFill>
              </a:rPr>
              <a:t> to a large star.</a:t>
            </a:r>
            <a:endParaRPr lang="fr-FR" sz="2400" dirty="0">
              <a:solidFill>
                <a:srgbClr val="FF0000"/>
              </a:solidFill>
            </a:endParaRPr>
          </a:p>
        </p:txBody>
      </p:sp>
      <p:sp>
        <p:nvSpPr>
          <p:cNvPr id="10" name="ZoneTexte 9">
            <a:extLst>
              <a:ext uri="{FF2B5EF4-FFF2-40B4-BE49-F238E27FC236}">
                <a16:creationId xmlns:a16="http://schemas.microsoft.com/office/drawing/2014/main" id="{5C1DF85E-AE3C-4141-B8E3-32FC0D949336}"/>
              </a:ext>
            </a:extLst>
          </p:cNvPr>
          <p:cNvSpPr txBox="1"/>
          <p:nvPr/>
        </p:nvSpPr>
        <p:spPr>
          <a:xfrm>
            <a:off x="-61064" y="3026062"/>
            <a:ext cx="6024483"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t>
            </a:r>
            <a:r>
              <a:rPr lang="fr-FR" sz="2400" dirty="0" err="1" smtClean="0">
                <a:solidFill>
                  <a:srgbClr val="FF0000"/>
                </a:solidFill>
              </a:rPr>
              <a:t>theta</a:t>
            </a:r>
            <a:r>
              <a:rPr lang="fr-FR" sz="2400" dirty="0" smtClean="0">
                <a:solidFill>
                  <a:srgbClr val="FF0000"/>
                </a:solidFill>
              </a:rPr>
              <a:t> and \lambda </a:t>
            </a:r>
            <a:r>
              <a:rPr lang="fr-FR" sz="2400" dirty="0" err="1" smtClean="0">
                <a:solidFill>
                  <a:srgbClr val="FF0000"/>
                </a:solidFill>
              </a:rPr>
              <a:t>always</a:t>
            </a:r>
            <a:r>
              <a:rPr lang="fr-FR" sz="2400" dirty="0" smtClean="0">
                <a:solidFill>
                  <a:srgbClr val="FF0000"/>
                </a:solidFill>
              </a:rPr>
              <a:t> in couple</a:t>
            </a:r>
            <a:endParaRPr lang="fr-FR" sz="2400" dirty="0">
              <a:solidFill>
                <a:srgbClr val="FF0000"/>
              </a:solidFill>
            </a:endParaRPr>
          </a:p>
        </p:txBody>
      </p:sp>
    </p:spTree>
    <p:extLst>
      <p:ext uri="{BB962C8B-B14F-4D97-AF65-F5344CB8AC3E}">
        <p14:creationId xmlns:p14="http://schemas.microsoft.com/office/powerpoint/2010/main" val="1207191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8</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Third inflation with color code from </a:t>
            </a:r>
            <a:r>
              <a:rPr lang="en-US" b="1" dirty="0" err="1" smtClean="0">
                <a:solidFill>
                  <a:srgbClr val="C85350"/>
                </a:solidFill>
              </a:rPr>
              <a:t>greek</a:t>
            </a:r>
            <a:r>
              <a:rPr lang="en-US" b="1" dirty="0" smtClean="0">
                <a:solidFill>
                  <a:srgbClr val="C85350"/>
                </a:solidFill>
              </a:rPr>
              <a:t> letters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1589421" y="1479550"/>
            <a:ext cx="4200525" cy="4876800"/>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6253109" y="1479550"/>
            <a:ext cx="6024483"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t>
            </a:r>
            <a:r>
              <a:rPr lang="fr-FR" sz="2400" dirty="0" err="1" smtClean="0">
                <a:solidFill>
                  <a:srgbClr val="FF0000"/>
                </a:solidFill>
              </a:rPr>
              <a:t>theta</a:t>
            </a:r>
            <a:r>
              <a:rPr lang="fr-FR" sz="2400" dirty="0" smtClean="0">
                <a:solidFill>
                  <a:srgbClr val="FF0000"/>
                </a:solidFill>
              </a:rPr>
              <a:t> and \lambda </a:t>
            </a:r>
            <a:r>
              <a:rPr lang="fr-FR" sz="2400" dirty="0" err="1" smtClean="0">
                <a:solidFill>
                  <a:srgbClr val="FF0000"/>
                </a:solidFill>
              </a:rPr>
              <a:t>always</a:t>
            </a:r>
            <a:r>
              <a:rPr lang="fr-FR" sz="2400" dirty="0" smtClean="0">
                <a:solidFill>
                  <a:srgbClr val="FF0000"/>
                </a:solidFill>
              </a:rPr>
              <a:t> in couple -&gt; part of a </a:t>
            </a:r>
            <a:r>
              <a:rPr lang="fr-FR" sz="2400" dirty="0" err="1" smtClean="0">
                <a:solidFill>
                  <a:srgbClr val="FF0000"/>
                </a:solidFill>
              </a:rPr>
              <a:t>propeller</a:t>
            </a:r>
            <a:endParaRPr lang="fr-FR" sz="2400" dirty="0">
              <a:solidFill>
                <a:srgbClr val="FF0000"/>
              </a:solidFill>
            </a:endParaRPr>
          </a:p>
        </p:txBody>
      </p:sp>
      <p:sp>
        <p:nvSpPr>
          <p:cNvPr id="7" name="ZoneTexte 6">
            <a:extLst>
              <a:ext uri="{FF2B5EF4-FFF2-40B4-BE49-F238E27FC236}">
                <a16:creationId xmlns:a16="http://schemas.microsoft.com/office/drawing/2014/main" id="{5C1DF85E-AE3C-4141-B8E3-32FC0D949336}"/>
              </a:ext>
            </a:extLst>
          </p:cNvPr>
          <p:cNvSpPr txBox="1"/>
          <p:nvPr/>
        </p:nvSpPr>
        <p:spPr>
          <a:xfrm>
            <a:off x="6253109" y="2505611"/>
            <a:ext cx="4582661"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Large stars correspond to all \Pi and \Psi </a:t>
            </a:r>
            <a:r>
              <a:rPr lang="fr-FR" sz="2400" dirty="0" err="1" smtClean="0">
                <a:solidFill>
                  <a:srgbClr val="FF0000"/>
                </a:solidFill>
              </a:rPr>
              <a:t>tiles</a:t>
            </a:r>
            <a:endParaRPr lang="fr-FR" sz="2400" dirty="0">
              <a:solidFill>
                <a:srgbClr val="FF0000"/>
              </a:solidFill>
            </a:endParaRPr>
          </a:p>
        </p:txBody>
      </p:sp>
      <p:sp>
        <p:nvSpPr>
          <p:cNvPr id="8" name="ZoneTexte 7">
            <a:extLst>
              <a:ext uri="{FF2B5EF4-FFF2-40B4-BE49-F238E27FC236}">
                <a16:creationId xmlns:a16="http://schemas.microsoft.com/office/drawing/2014/main" id="{5C1DF85E-AE3C-4141-B8E3-32FC0D949336}"/>
              </a:ext>
            </a:extLst>
          </p:cNvPr>
          <p:cNvSpPr txBox="1"/>
          <p:nvPr/>
        </p:nvSpPr>
        <p:spPr>
          <a:xfrm>
            <a:off x="6253109" y="3695289"/>
            <a:ext cx="3985271" cy="1938992"/>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\phi </a:t>
            </a:r>
            <a:r>
              <a:rPr lang="fr-FR" sz="2400" dirty="0" err="1" smtClean="0">
                <a:solidFill>
                  <a:srgbClr val="FF0000"/>
                </a:solidFill>
              </a:rPr>
              <a:t>tiles</a:t>
            </a:r>
            <a:r>
              <a:rPr lang="fr-FR" sz="2400" dirty="0" smtClean="0">
                <a:solidFill>
                  <a:srgbClr val="FF0000"/>
                </a:solidFill>
              </a:rPr>
              <a:t> </a:t>
            </a:r>
            <a:r>
              <a:rPr lang="fr-FR" sz="2400" dirty="0" err="1" smtClean="0">
                <a:solidFill>
                  <a:srgbClr val="FF0000"/>
                </a:solidFill>
              </a:rPr>
              <a:t>give</a:t>
            </a:r>
            <a:r>
              <a:rPr lang="fr-FR" sz="2400" dirty="0" smtClean="0">
                <a:solidFill>
                  <a:srgbClr val="FF0000"/>
                </a:solidFill>
              </a:rPr>
              <a:t> all </a:t>
            </a:r>
            <a:r>
              <a:rPr lang="fr-FR" sz="2400" dirty="0" err="1" smtClean="0">
                <a:solidFill>
                  <a:srgbClr val="FF0000"/>
                </a:solidFill>
              </a:rPr>
              <a:t>small</a:t>
            </a:r>
            <a:r>
              <a:rPr lang="fr-FR" sz="2400" dirty="0" smtClean="0">
                <a:solidFill>
                  <a:srgbClr val="FF0000"/>
                </a:solidFill>
              </a:rPr>
              <a:t> stars plus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Look at the position of the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a:t>
            </a:r>
            <a:r>
              <a:rPr lang="fr-FR" sz="2400" dirty="0" err="1" smtClean="0">
                <a:solidFill>
                  <a:srgbClr val="FF0000"/>
                </a:solidFill>
              </a:rPr>
              <a:t>called</a:t>
            </a:r>
            <a:r>
              <a:rPr lang="fr-FR" sz="2400" dirty="0" smtClean="0">
                <a:solidFill>
                  <a:srgbClr val="FF0000"/>
                </a:solidFill>
              </a:rPr>
              <a:t> </a:t>
            </a:r>
            <a:r>
              <a:rPr lang="fr-FR" sz="2400" dirty="0" err="1" smtClean="0">
                <a:solidFill>
                  <a:srgbClr val="FF0000"/>
                </a:solidFill>
              </a:rPr>
              <a:t>here</a:t>
            </a:r>
            <a:r>
              <a:rPr lang="fr-FR" sz="2400" dirty="0" smtClean="0">
                <a:solidFill>
                  <a:srgbClr val="FF0000"/>
                </a:solidFill>
              </a:rPr>
              <a:t> \</a:t>
            </a:r>
            <a:r>
              <a:rPr lang="fr-FR" sz="2400" dirty="0" err="1" smtClean="0">
                <a:solidFill>
                  <a:srgbClr val="FF0000"/>
                </a:solidFill>
              </a:rPr>
              <a:t>phi_bis</a:t>
            </a:r>
            <a:r>
              <a:rPr lang="fr-FR" sz="2400" dirty="0" smtClean="0">
                <a:solidFill>
                  <a:srgbClr val="FF0000"/>
                </a:solidFill>
              </a:rPr>
              <a:t>) ?</a:t>
            </a:r>
            <a:endParaRPr lang="fr-FR" sz="2400" dirty="0">
              <a:solidFill>
                <a:srgbClr val="FF0000"/>
              </a:solidFill>
            </a:endParaRPr>
          </a:p>
        </p:txBody>
      </p:sp>
    </p:spTree>
    <p:extLst>
      <p:ext uri="{BB962C8B-B14F-4D97-AF65-F5344CB8AC3E}">
        <p14:creationId xmlns:p14="http://schemas.microsoft.com/office/powerpoint/2010/main" val="1861415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9</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Another version with less colors …</a:t>
            </a:r>
            <a:endParaRPr lang="fr-FR" b="1" dirty="0">
              <a:solidFill>
                <a:srgbClr val="C85350"/>
              </a:solidFill>
            </a:endParaRPr>
          </a:p>
        </p:txBody>
      </p:sp>
      <p:sp>
        <p:nvSpPr>
          <p:cNvPr id="6" name="ZoneTexte 5">
            <a:extLst>
              <a:ext uri="{FF2B5EF4-FFF2-40B4-BE49-F238E27FC236}">
                <a16:creationId xmlns:a16="http://schemas.microsoft.com/office/drawing/2014/main" id="{5C1DF85E-AE3C-4141-B8E3-32FC0D949336}"/>
              </a:ext>
            </a:extLst>
          </p:cNvPr>
          <p:cNvSpPr txBox="1"/>
          <p:nvPr/>
        </p:nvSpPr>
        <p:spPr>
          <a:xfrm>
            <a:off x="6253109" y="1256889"/>
            <a:ext cx="6024483"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t>
            </a:r>
            <a:r>
              <a:rPr lang="fr-FR" sz="2400" dirty="0" err="1" smtClean="0">
                <a:solidFill>
                  <a:srgbClr val="FF0000"/>
                </a:solidFill>
              </a:rPr>
              <a:t>theta</a:t>
            </a:r>
            <a:r>
              <a:rPr lang="fr-FR" sz="2400" dirty="0" smtClean="0">
                <a:solidFill>
                  <a:srgbClr val="FF0000"/>
                </a:solidFill>
              </a:rPr>
              <a:t> and \lambda </a:t>
            </a:r>
            <a:r>
              <a:rPr lang="fr-FR" sz="2400" dirty="0" err="1" smtClean="0">
                <a:solidFill>
                  <a:srgbClr val="FF0000"/>
                </a:solidFill>
              </a:rPr>
              <a:t>always</a:t>
            </a:r>
            <a:r>
              <a:rPr lang="fr-FR" sz="2400" dirty="0" smtClean="0">
                <a:solidFill>
                  <a:srgbClr val="FF0000"/>
                </a:solidFill>
              </a:rPr>
              <a:t> in couple -&gt; part of a </a:t>
            </a:r>
            <a:r>
              <a:rPr lang="fr-FR" sz="2400" dirty="0" err="1" smtClean="0">
                <a:solidFill>
                  <a:srgbClr val="FF0000"/>
                </a:solidFill>
              </a:rPr>
              <a:t>propeller</a:t>
            </a:r>
            <a:endParaRPr lang="fr-FR" sz="2400" dirty="0">
              <a:solidFill>
                <a:srgbClr val="FF0000"/>
              </a:solidFill>
            </a:endParaRPr>
          </a:p>
        </p:txBody>
      </p:sp>
      <p:sp>
        <p:nvSpPr>
          <p:cNvPr id="7" name="ZoneTexte 6">
            <a:extLst>
              <a:ext uri="{FF2B5EF4-FFF2-40B4-BE49-F238E27FC236}">
                <a16:creationId xmlns:a16="http://schemas.microsoft.com/office/drawing/2014/main" id="{5C1DF85E-AE3C-4141-B8E3-32FC0D949336}"/>
              </a:ext>
            </a:extLst>
          </p:cNvPr>
          <p:cNvSpPr txBox="1"/>
          <p:nvPr/>
        </p:nvSpPr>
        <p:spPr>
          <a:xfrm>
            <a:off x="6253109" y="2505611"/>
            <a:ext cx="4582661"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Large stars correspond to all \Pi and \Psi </a:t>
            </a:r>
            <a:r>
              <a:rPr lang="fr-FR" sz="2400" dirty="0" err="1" smtClean="0">
                <a:solidFill>
                  <a:srgbClr val="FF0000"/>
                </a:solidFill>
              </a:rPr>
              <a:t>tiles</a:t>
            </a:r>
            <a:endParaRPr lang="fr-FR" sz="2400" dirty="0">
              <a:solidFill>
                <a:srgbClr val="FF0000"/>
              </a:solidFill>
            </a:endParaRPr>
          </a:p>
        </p:txBody>
      </p:sp>
      <p:sp>
        <p:nvSpPr>
          <p:cNvPr id="8" name="ZoneTexte 7">
            <a:extLst>
              <a:ext uri="{FF2B5EF4-FFF2-40B4-BE49-F238E27FC236}">
                <a16:creationId xmlns:a16="http://schemas.microsoft.com/office/drawing/2014/main" id="{5C1DF85E-AE3C-4141-B8E3-32FC0D949336}"/>
              </a:ext>
            </a:extLst>
          </p:cNvPr>
          <p:cNvSpPr txBox="1"/>
          <p:nvPr/>
        </p:nvSpPr>
        <p:spPr>
          <a:xfrm>
            <a:off x="6253109" y="3695289"/>
            <a:ext cx="3985271" cy="1938992"/>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\phi </a:t>
            </a:r>
            <a:r>
              <a:rPr lang="fr-FR" sz="2400" dirty="0" err="1" smtClean="0">
                <a:solidFill>
                  <a:srgbClr val="FF0000"/>
                </a:solidFill>
              </a:rPr>
              <a:t>tiles</a:t>
            </a:r>
            <a:r>
              <a:rPr lang="fr-FR" sz="2400" dirty="0" smtClean="0">
                <a:solidFill>
                  <a:srgbClr val="FF0000"/>
                </a:solidFill>
              </a:rPr>
              <a:t> </a:t>
            </a:r>
            <a:r>
              <a:rPr lang="fr-FR" sz="2400" dirty="0" err="1" smtClean="0">
                <a:solidFill>
                  <a:srgbClr val="FF0000"/>
                </a:solidFill>
              </a:rPr>
              <a:t>give</a:t>
            </a:r>
            <a:r>
              <a:rPr lang="fr-FR" sz="2400" dirty="0" smtClean="0">
                <a:solidFill>
                  <a:srgbClr val="FF0000"/>
                </a:solidFill>
              </a:rPr>
              <a:t> all </a:t>
            </a:r>
            <a:r>
              <a:rPr lang="fr-FR" sz="2400" dirty="0" err="1" smtClean="0">
                <a:solidFill>
                  <a:srgbClr val="FF0000"/>
                </a:solidFill>
              </a:rPr>
              <a:t>small</a:t>
            </a:r>
            <a:r>
              <a:rPr lang="fr-FR" sz="2400" dirty="0" smtClean="0">
                <a:solidFill>
                  <a:srgbClr val="FF0000"/>
                </a:solidFill>
              </a:rPr>
              <a:t> stars plus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Look at the position of the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a:t>
            </a:r>
            <a:r>
              <a:rPr lang="fr-FR" sz="2400" dirty="0" err="1" smtClean="0">
                <a:solidFill>
                  <a:srgbClr val="FF0000"/>
                </a:solidFill>
              </a:rPr>
              <a:t>called</a:t>
            </a:r>
            <a:r>
              <a:rPr lang="fr-FR" sz="2400" dirty="0" smtClean="0">
                <a:solidFill>
                  <a:srgbClr val="FF0000"/>
                </a:solidFill>
              </a:rPr>
              <a:t> </a:t>
            </a:r>
            <a:r>
              <a:rPr lang="fr-FR" sz="2400" dirty="0" err="1" smtClean="0">
                <a:solidFill>
                  <a:srgbClr val="FF0000"/>
                </a:solidFill>
              </a:rPr>
              <a:t>here</a:t>
            </a:r>
            <a:r>
              <a:rPr lang="fr-FR" sz="2400" dirty="0" smtClean="0">
                <a:solidFill>
                  <a:srgbClr val="FF0000"/>
                </a:solidFill>
              </a:rPr>
              <a:t> \</a:t>
            </a:r>
            <a:r>
              <a:rPr lang="fr-FR" sz="2400" dirty="0" err="1" smtClean="0">
                <a:solidFill>
                  <a:srgbClr val="FF0000"/>
                </a:solidFill>
              </a:rPr>
              <a:t>phi_bis</a:t>
            </a:r>
            <a:r>
              <a:rPr lang="fr-FR" sz="2400" dirty="0" smtClean="0">
                <a:solidFill>
                  <a:srgbClr val="FF0000"/>
                </a:solidFill>
              </a:rPr>
              <a:t>) ?</a:t>
            </a:r>
            <a:endParaRPr lang="fr-FR" sz="2400" dirty="0">
              <a:solidFill>
                <a:srgbClr val="FF0000"/>
              </a:solidFill>
            </a:endParaRPr>
          </a:p>
        </p:txBody>
      </p:sp>
      <p:pic>
        <p:nvPicPr>
          <p:cNvPr id="9" name="Image 8"/>
          <p:cNvPicPr>
            <a:picLocks noChangeAspect="1"/>
          </p:cNvPicPr>
          <p:nvPr/>
        </p:nvPicPr>
        <p:blipFill>
          <a:blip r:embed="rId2"/>
          <a:stretch>
            <a:fillRect/>
          </a:stretch>
        </p:blipFill>
        <p:spPr>
          <a:xfrm>
            <a:off x="1205514" y="918751"/>
            <a:ext cx="4410075" cy="5553075"/>
          </a:xfrm>
          <a:prstGeom prst="rect">
            <a:avLst/>
          </a:prstGeom>
        </p:spPr>
      </p:pic>
    </p:spTree>
    <p:extLst>
      <p:ext uri="{BB962C8B-B14F-4D97-AF65-F5344CB8AC3E}">
        <p14:creationId xmlns:p14="http://schemas.microsoft.com/office/powerpoint/2010/main" val="3586044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10</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Link with anatomy by Boris </a:t>
            </a:r>
            <a:r>
              <a:rPr lang="en-US" b="1" dirty="0" err="1" smtClean="0">
                <a:solidFill>
                  <a:srgbClr val="C85350"/>
                </a:solidFill>
              </a:rPr>
              <a:t>Horvat</a:t>
            </a:r>
            <a:r>
              <a:rPr lang="en-US" b="1" dirty="0" smtClean="0">
                <a:solidFill>
                  <a:srgbClr val="C85350"/>
                </a:solidFill>
              </a:rPr>
              <a:t> ?</a:t>
            </a:r>
            <a:endParaRPr lang="fr-FR" b="1" dirty="0">
              <a:solidFill>
                <a:srgbClr val="C85350"/>
              </a:solidFill>
            </a:endParaRPr>
          </a:p>
        </p:txBody>
      </p:sp>
      <p:pic>
        <p:nvPicPr>
          <p:cNvPr id="10" name="Image 9"/>
          <p:cNvPicPr>
            <a:picLocks noChangeAspect="1"/>
          </p:cNvPicPr>
          <p:nvPr/>
        </p:nvPicPr>
        <p:blipFill>
          <a:blip r:embed="rId2"/>
          <a:stretch>
            <a:fillRect/>
          </a:stretch>
        </p:blipFill>
        <p:spPr>
          <a:xfrm>
            <a:off x="1214436" y="1313707"/>
            <a:ext cx="9763125" cy="5114925"/>
          </a:xfrm>
          <a:prstGeom prst="rect">
            <a:avLst/>
          </a:prstGeom>
        </p:spPr>
      </p:pic>
    </p:spTree>
    <p:extLst>
      <p:ext uri="{BB962C8B-B14F-4D97-AF65-F5344CB8AC3E}">
        <p14:creationId xmlns:p14="http://schemas.microsoft.com/office/powerpoint/2010/main" val="1395652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11</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Third inflation: identification of the 2-arms, 3-arms and </a:t>
            </a:r>
            <a:r>
              <a:rPr lang="en-US" b="1" dirty="0" err="1" smtClean="0">
                <a:solidFill>
                  <a:srgbClr val="C85350"/>
                </a:solidFill>
              </a:rPr>
              <a:t>diabolos</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482289" y="1313707"/>
            <a:ext cx="8958313" cy="5325219"/>
          </a:xfrm>
          <a:prstGeom prst="rect">
            <a:avLst/>
          </a:prstGeom>
        </p:spPr>
      </p:pic>
    </p:spTree>
    <p:extLst>
      <p:ext uri="{BB962C8B-B14F-4D97-AF65-F5344CB8AC3E}">
        <p14:creationId xmlns:p14="http://schemas.microsoft.com/office/powerpoint/2010/main" val="938256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12</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Another version with less colors …</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220508" y="977529"/>
            <a:ext cx="9458325" cy="5715000"/>
          </a:xfrm>
          <a:prstGeom prst="rect">
            <a:avLst/>
          </a:prstGeom>
        </p:spPr>
      </p:pic>
      <p:sp>
        <p:nvSpPr>
          <p:cNvPr id="10" name="ZoneTexte 9">
            <a:extLst>
              <a:ext uri="{FF2B5EF4-FFF2-40B4-BE49-F238E27FC236}">
                <a16:creationId xmlns:a16="http://schemas.microsoft.com/office/drawing/2014/main" id="{5C1DF85E-AE3C-4141-B8E3-32FC0D949336}"/>
              </a:ext>
            </a:extLst>
          </p:cNvPr>
          <p:cNvSpPr txBox="1"/>
          <p:nvPr/>
        </p:nvSpPr>
        <p:spPr>
          <a:xfrm>
            <a:off x="9481587" y="2126868"/>
            <a:ext cx="2590800" cy="3416320"/>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t>
            </a:r>
            <a:r>
              <a:rPr lang="fr-FR" sz="2400" dirty="0" err="1" smtClean="0">
                <a:solidFill>
                  <a:srgbClr val="FF0000"/>
                </a:solidFill>
              </a:rPr>
              <a:t>theta</a:t>
            </a:r>
            <a:r>
              <a:rPr lang="fr-FR" sz="2400" dirty="0" smtClean="0">
                <a:solidFill>
                  <a:srgbClr val="FF0000"/>
                </a:solidFill>
              </a:rPr>
              <a:t> and \lambda couple -&gt; part of a </a:t>
            </a:r>
            <a:r>
              <a:rPr lang="fr-FR" sz="2400" dirty="0" err="1" smtClean="0">
                <a:solidFill>
                  <a:srgbClr val="FF0000"/>
                </a:solidFill>
              </a:rPr>
              <a:t>propeller</a:t>
            </a:r>
            <a:r>
              <a:rPr lang="fr-FR" sz="2400" dirty="0" smtClean="0">
                <a:solidFill>
                  <a:srgbClr val="FF0000"/>
                </a:solidFill>
              </a:rPr>
              <a:t> -&gt; </a:t>
            </a:r>
            <a:r>
              <a:rPr lang="fr-FR" sz="2400" dirty="0" err="1" smtClean="0">
                <a:solidFill>
                  <a:srgbClr val="FF0000"/>
                </a:solidFill>
              </a:rPr>
              <a:t>highlight</a:t>
            </a:r>
            <a:r>
              <a:rPr lang="fr-FR" sz="2400" dirty="0" smtClean="0">
                <a:solidFill>
                  <a:srgbClr val="FF0000"/>
                </a:solidFill>
              </a:rPr>
              <a:t> a </a:t>
            </a:r>
            <a:r>
              <a:rPr lang="fr-FR" sz="2400" dirty="0" err="1" smtClean="0">
                <a:solidFill>
                  <a:srgbClr val="FF0000"/>
                </a:solidFill>
              </a:rPr>
              <a:t>specific</a:t>
            </a:r>
            <a:r>
              <a:rPr lang="fr-FR" sz="2400" dirty="0" smtClean="0">
                <a:solidFill>
                  <a:srgbClr val="FF0000"/>
                </a:solidFill>
              </a:rPr>
              <a:t> configuration of </a:t>
            </a:r>
            <a:r>
              <a:rPr lang="fr-FR" sz="2400" dirty="0" err="1" smtClean="0">
                <a:solidFill>
                  <a:srgbClr val="FF0000"/>
                </a:solidFill>
              </a:rPr>
              <a:t>two</a:t>
            </a:r>
            <a:r>
              <a:rPr lang="fr-FR" sz="2400" dirty="0" smtClean="0">
                <a:solidFill>
                  <a:srgbClr val="FF0000"/>
                </a:solidFill>
              </a:rPr>
              <a:t> full clusters !</a:t>
            </a:r>
            <a:endParaRPr lang="fr-FR" sz="2400" dirty="0">
              <a:solidFill>
                <a:srgbClr val="FF0000"/>
              </a:solidFill>
            </a:endParaRPr>
          </a:p>
        </p:txBody>
      </p:sp>
    </p:spTree>
    <p:extLst>
      <p:ext uri="{BB962C8B-B14F-4D97-AF65-F5344CB8AC3E}">
        <p14:creationId xmlns:p14="http://schemas.microsoft.com/office/powerpoint/2010/main" val="149429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13</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Third to fifth inflation: identification of the 2-arms, 3-arms and </a:t>
            </a:r>
            <a:r>
              <a:rPr lang="en-US" b="1" dirty="0" err="1" smtClean="0">
                <a:solidFill>
                  <a:srgbClr val="C85350"/>
                </a:solidFill>
              </a:rPr>
              <a:t>diabolos</a:t>
            </a:r>
            <a:r>
              <a:rPr lang="en-US" b="1" dirty="0" smtClean="0">
                <a:solidFill>
                  <a:srgbClr val="C85350"/>
                </a:solidFill>
              </a:rPr>
              <a:t> … </a:t>
            </a:r>
            <a:endParaRPr lang="fr-FR" b="1" dirty="0">
              <a:solidFill>
                <a:srgbClr val="C85350"/>
              </a:solidFill>
            </a:endParaRPr>
          </a:p>
        </p:txBody>
      </p:sp>
      <p:pic>
        <p:nvPicPr>
          <p:cNvPr id="5" name="Image 4"/>
          <p:cNvPicPr>
            <a:picLocks noChangeAspect="1"/>
          </p:cNvPicPr>
          <p:nvPr/>
        </p:nvPicPr>
        <p:blipFill rotWithShape="1">
          <a:blip r:embed="rId2"/>
          <a:srcRect b="1770"/>
          <a:stretch/>
        </p:blipFill>
        <p:spPr>
          <a:xfrm>
            <a:off x="566386" y="1210565"/>
            <a:ext cx="4591050" cy="5248927"/>
          </a:xfrm>
          <a:prstGeom prst="rect">
            <a:avLst/>
          </a:prstGeom>
        </p:spPr>
      </p:pic>
      <p:pic>
        <p:nvPicPr>
          <p:cNvPr id="6" name="Image 5"/>
          <p:cNvPicPr>
            <a:picLocks noChangeAspect="1"/>
          </p:cNvPicPr>
          <p:nvPr/>
        </p:nvPicPr>
        <p:blipFill>
          <a:blip r:embed="rId3"/>
          <a:stretch>
            <a:fillRect/>
          </a:stretch>
        </p:blipFill>
        <p:spPr>
          <a:xfrm>
            <a:off x="6339499" y="1659446"/>
            <a:ext cx="4353577" cy="4070627"/>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6339499" y="5812379"/>
            <a:ext cx="6024483"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Very</a:t>
            </a:r>
            <a:r>
              <a:rPr lang="fr-FR" sz="2400" dirty="0" smtClean="0">
                <a:solidFill>
                  <a:srgbClr val="FF0000"/>
                </a:solidFill>
              </a:rPr>
              <a:t> long to do by hand !!!</a:t>
            </a:r>
            <a:endParaRPr lang="fr-FR" sz="2400" dirty="0">
              <a:solidFill>
                <a:srgbClr val="FF0000"/>
              </a:solidFill>
            </a:endParaRPr>
          </a:p>
        </p:txBody>
      </p:sp>
    </p:spTree>
    <p:extLst>
      <p:ext uri="{BB962C8B-B14F-4D97-AF65-F5344CB8AC3E}">
        <p14:creationId xmlns:p14="http://schemas.microsoft.com/office/powerpoint/2010/main" val="4027683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14</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New puzzle</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798761" y="1187450"/>
            <a:ext cx="7362825" cy="5534025"/>
          </a:xfrm>
          <a:prstGeom prst="rect">
            <a:avLst/>
          </a:prstGeom>
        </p:spPr>
      </p:pic>
    </p:spTree>
    <p:extLst>
      <p:ext uri="{BB962C8B-B14F-4D97-AF65-F5344CB8AC3E}">
        <p14:creationId xmlns:p14="http://schemas.microsoft.com/office/powerpoint/2010/main" val="1657175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15</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New puzzle</a:t>
            </a:r>
            <a:endParaRPr lang="fr-FR" b="1" dirty="0">
              <a:solidFill>
                <a:srgbClr val="C85350"/>
              </a:solidFill>
            </a:endParaRPr>
          </a:p>
        </p:txBody>
      </p:sp>
      <p:pic>
        <p:nvPicPr>
          <p:cNvPr id="6" name="Image 5"/>
          <p:cNvPicPr>
            <a:picLocks noChangeAspect="1"/>
          </p:cNvPicPr>
          <p:nvPr/>
        </p:nvPicPr>
        <p:blipFill>
          <a:blip r:embed="rId2"/>
          <a:stretch>
            <a:fillRect/>
          </a:stretch>
        </p:blipFill>
        <p:spPr>
          <a:xfrm>
            <a:off x="2462211" y="1050827"/>
            <a:ext cx="7456489" cy="5807173"/>
          </a:xfrm>
          <a:prstGeom prst="rect">
            <a:avLst/>
          </a:prstGeom>
        </p:spPr>
      </p:pic>
    </p:spTree>
    <p:extLst>
      <p:ext uri="{BB962C8B-B14F-4D97-AF65-F5344CB8AC3E}">
        <p14:creationId xmlns:p14="http://schemas.microsoft.com/office/powerpoint/2010/main" val="1012887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16</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err="1" smtClean="0">
                <a:solidFill>
                  <a:srgbClr val="C85350"/>
                </a:solidFill>
              </a:rPr>
              <a:t>Homochiral</a:t>
            </a:r>
            <a:r>
              <a:rPr lang="fr-FR" b="1" dirty="0" smtClean="0">
                <a:solidFill>
                  <a:srgbClr val="C85350"/>
                </a:solidFill>
              </a:rPr>
              <a:t> </a:t>
            </a:r>
            <a:r>
              <a:rPr lang="fr-FR" b="1" dirty="0" err="1" smtClean="0">
                <a:solidFill>
                  <a:srgbClr val="C85350"/>
                </a:solidFill>
              </a:rPr>
              <a:t>assembly</a:t>
            </a:r>
            <a:r>
              <a:rPr lang="fr-FR" b="1" dirty="0" smtClean="0">
                <a:solidFill>
                  <a:srgbClr val="C85350"/>
                </a:solidFill>
              </a:rPr>
              <a:t> </a:t>
            </a:r>
            <a:r>
              <a:rPr lang="fr-FR" b="1" dirty="0" err="1" smtClean="0">
                <a:solidFill>
                  <a:srgbClr val="C85350"/>
                </a:solidFill>
              </a:rPr>
              <a:t>rule</a:t>
            </a:r>
            <a:r>
              <a:rPr lang="fr-FR" b="1" dirty="0" smtClean="0">
                <a:solidFill>
                  <a:srgbClr val="C85350"/>
                </a:solidFill>
              </a:rPr>
              <a:t> </a:t>
            </a:r>
            <a:r>
              <a:rPr lang="fr-FR" b="1" dirty="0" err="1" smtClean="0">
                <a:solidFill>
                  <a:srgbClr val="C85350"/>
                </a:solidFill>
              </a:rPr>
              <a:t>from</a:t>
            </a:r>
            <a:r>
              <a:rPr lang="fr-FR" b="1" dirty="0" smtClean="0">
                <a:solidFill>
                  <a:srgbClr val="C85350"/>
                </a:solidFill>
              </a:rPr>
              <a:t> </a:t>
            </a:r>
            <a:r>
              <a:rPr lang="fr-FR" b="1" dirty="0" err="1" smtClean="0">
                <a:solidFill>
                  <a:srgbClr val="C85350"/>
                </a:solidFill>
              </a:rPr>
              <a:t>these</a:t>
            </a:r>
            <a:r>
              <a:rPr lang="fr-FR" b="1" dirty="0" smtClean="0">
                <a:solidFill>
                  <a:srgbClr val="C85350"/>
                </a:solidFill>
              </a:rPr>
              <a:t> </a:t>
            </a:r>
            <a:r>
              <a:rPr lang="fr-FR" b="1" dirty="0" err="1" smtClean="0">
                <a:solidFill>
                  <a:srgbClr val="C85350"/>
                </a:solidFill>
              </a:rPr>
              <a:t>pieces</a:t>
            </a:r>
            <a:r>
              <a:rPr lang="fr-FR" b="1" dirty="0" smtClean="0">
                <a:solidFill>
                  <a:srgbClr val="C85350"/>
                </a:solidFill>
              </a:rPr>
              <a:t> ???</a:t>
            </a:r>
            <a:endParaRPr lang="fr-FR" b="1" dirty="0">
              <a:solidFill>
                <a:srgbClr val="C85350"/>
              </a:solidFill>
            </a:endParaRPr>
          </a:p>
        </p:txBody>
      </p:sp>
      <p:pic>
        <p:nvPicPr>
          <p:cNvPr id="6" name="Image 5"/>
          <p:cNvPicPr>
            <a:picLocks noChangeAspect="1"/>
          </p:cNvPicPr>
          <p:nvPr/>
        </p:nvPicPr>
        <p:blipFill>
          <a:blip r:embed="rId2"/>
          <a:stretch>
            <a:fillRect/>
          </a:stretch>
        </p:blipFill>
        <p:spPr>
          <a:xfrm>
            <a:off x="2462211" y="1050827"/>
            <a:ext cx="7456489" cy="5807173"/>
          </a:xfrm>
          <a:prstGeom prst="rect">
            <a:avLst/>
          </a:prstGeom>
        </p:spPr>
      </p:pic>
    </p:spTree>
    <p:extLst>
      <p:ext uri="{BB962C8B-B14F-4D97-AF65-F5344CB8AC3E}">
        <p14:creationId xmlns:p14="http://schemas.microsoft.com/office/powerpoint/2010/main" val="1307358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17</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Possible candidate for a </a:t>
            </a:r>
            <a:r>
              <a:rPr lang="fr-FR" b="1" dirty="0" err="1" smtClean="0">
                <a:solidFill>
                  <a:srgbClr val="C85350"/>
                </a:solidFill>
              </a:rPr>
              <a:t>seed</a:t>
            </a:r>
            <a:r>
              <a:rPr lang="fr-FR" b="1" dirty="0" smtClean="0">
                <a:solidFill>
                  <a:srgbClr val="C85350"/>
                </a:solidFill>
              </a:rPr>
              <a:t> ?</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3636939" y="1296234"/>
            <a:ext cx="6024483"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Three</a:t>
            </a:r>
            <a:r>
              <a:rPr lang="fr-FR" sz="2400" dirty="0" smtClean="0">
                <a:solidFill>
                  <a:srgbClr val="FF0000"/>
                </a:solidFill>
              </a:rPr>
              <a:t> 2-arms </a:t>
            </a:r>
            <a:r>
              <a:rPr lang="fr-FR" sz="2400" dirty="0" err="1" smtClean="0">
                <a:solidFill>
                  <a:srgbClr val="FF0000"/>
                </a:solidFill>
              </a:rPr>
              <a:t>combined</a:t>
            </a:r>
            <a:r>
              <a:rPr lang="fr-FR" sz="2400" dirty="0" smtClean="0">
                <a:solidFill>
                  <a:srgbClr val="FF0000"/>
                </a:solidFill>
              </a:rPr>
              <a:t> in </a:t>
            </a:r>
            <a:r>
              <a:rPr lang="fr-FR" sz="2400" dirty="0" err="1" smtClean="0">
                <a:solidFill>
                  <a:srgbClr val="FF0000"/>
                </a:solidFill>
              </a:rPr>
              <a:t>this</a:t>
            </a:r>
            <a:r>
              <a:rPr lang="fr-FR" sz="2400" dirty="0" smtClean="0">
                <a:solidFill>
                  <a:srgbClr val="FF0000"/>
                </a:solidFill>
              </a:rPr>
              <a:t> </a:t>
            </a:r>
            <a:r>
              <a:rPr lang="fr-FR" sz="2400" dirty="0" err="1" smtClean="0">
                <a:solidFill>
                  <a:srgbClr val="FF0000"/>
                </a:solidFill>
              </a:rPr>
              <a:t>way</a:t>
            </a:r>
            <a:r>
              <a:rPr lang="fr-FR" sz="2400" dirty="0">
                <a:solidFill>
                  <a:srgbClr val="FF0000"/>
                </a:solidFill>
              </a:rPr>
              <a:t>:</a:t>
            </a:r>
            <a:endParaRPr lang="fr-FR" sz="2400" dirty="0" smtClean="0">
              <a:solidFill>
                <a:srgbClr val="FF0000"/>
              </a:solidFill>
            </a:endParaRPr>
          </a:p>
        </p:txBody>
      </p:sp>
      <p:pic>
        <p:nvPicPr>
          <p:cNvPr id="4" name="Image 3"/>
          <p:cNvPicPr>
            <a:picLocks noChangeAspect="1"/>
          </p:cNvPicPr>
          <p:nvPr/>
        </p:nvPicPr>
        <p:blipFill>
          <a:blip r:embed="rId2"/>
          <a:stretch>
            <a:fillRect/>
          </a:stretch>
        </p:blipFill>
        <p:spPr>
          <a:xfrm>
            <a:off x="1584960" y="1846730"/>
            <a:ext cx="9094152" cy="4390557"/>
          </a:xfrm>
          <a:prstGeom prst="rect">
            <a:avLst/>
          </a:prstGeom>
        </p:spPr>
      </p:pic>
    </p:spTree>
    <p:extLst>
      <p:ext uri="{BB962C8B-B14F-4D97-AF65-F5344CB8AC3E}">
        <p14:creationId xmlns:p14="http://schemas.microsoft.com/office/powerpoint/2010/main" val="2171851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18</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Possible candidate for 3-fold </a:t>
            </a:r>
            <a:r>
              <a:rPr lang="fr-FR" b="1" dirty="0" err="1" smtClean="0">
                <a:solidFill>
                  <a:srgbClr val="C85350"/>
                </a:solidFill>
              </a:rPr>
              <a:t>symmetry</a:t>
            </a:r>
            <a:r>
              <a:rPr lang="fr-FR" b="1" dirty="0" smtClean="0">
                <a:solidFill>
                  <a:srgbClr val="C85350"/>
                </a:solidFill>
              </a:rPr>
              <a:t> center</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2214880" y="1256276"/>
            <a:ext cx="8686799"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Compare </a:t>
            </a:r>
            <a:r>
              <a:rPr lang="fr-FR" sz="2400" dirty="0" err="1" smtClean="0">
                <a:solidFill>
                  <a:srgbClr val="FF0000"/>
                </a:solidFill>
              </a:rPr>
              <a:t>with</a:t>
            </a:r>
            <a:r>
              <a:rPr lang="fr-FR" sz="2400" dirty="0" smtClean="0">
                <a:solidFill>
                  <a:srgbClr val="FF0000"/>
                </a:solidFill>
              </a:rPr>
              <a:t> center of </a:t>
            </a:r>
            <a:r>
              <a:rPr lang="fr-FR" sz="2400" dirty="0" err="1" smtClean="0">
                <a:solidFill>
                  <a:srgbClr val="FF0000"/>
                </a:solidFill>
              </a:rPr>
              <a:t>giant</a:t>
            </a:r>
            <a:r>
              <a:rPr lang="fr-FR" sz="2400" dirty="0" smtClean="0">
                <a:solidFill>
                  <a:srgbClr val="FF0000"/>
                </a:solidFill>
              </a:rPr>
              <a:t> star cluster by Boris </a:t>
            </a:r>
            <a:r>
              <a:rPr lang="fr-FR" sz="2400" dirty="0" err="1" smtClean="0">
                <a:solidFill>
                  <a:srgbClr val="FF0000"/>
                </a:solidFill>
              </a:rPr>
              <a:t>Horvat</a:t>
            </a:r>
            <a:r>
              <a:rPr lang="fr-FR" sz="2400" dirty="0" smtClean="0">
                <a:solidFill>
                  <a:srgbClr val="FF0000"/>
                </a:solidFill>
              </a:rPr>
              <a:t> ???</a:t>
            </a:r>
            <a:endParaRPr lang="fr-FR" sz="2400" dirty="0">
              <a:solidFill>
                <a:srgbClr val="FF0000"/>
              </a:solidFill>
            </a:endParaRPr>
          </a:p>
        </p:txBody>
      </p:sp>
      <p:pic>
        <p:nvPicPr>
          <p:cNvPr id="7" name="Image 6"/>
          <p:cNvPicPr>
            <a:picLocks noChangeAspect="1"/>
          </p:cNvPicPr>
          <p:nvPr/>
        </p:nvPicPr>
        <p:blipFill>
          <a:blip r:embed="rId2"/>
          <a:stretch>
            <a:fillRect/>
          </a:stretch>
        </p:blipFill>
        <p:spPr>
          <a:xfrm>
            <a:off x="5922645" y="1867372"/>
            <a:ext cx="5741670" cy="4786950"/>
          </a:xfrm>
          <a:prstGeom prst="rect">
            <a:avLst/>
          </a:prstGeom>
        </p:spPr>
      </p:pic>
      <p:pic>
        <p:nvPicPr>
          <p:cNvPr id="8" name="Image 7"/>
          <p:cNvPicPr>
            <a:picLocks noChangeAspect="1"/>
          </p:cNvPicPr>
          <p:nvPr/>
        </p:nvPicPr>
        <p:blipFill>
          <a:blip r:embed="rId3"/>
          <a:stretch>
            <a:fillRect/>
          </a:stretch>
        </p:blipFill>
        <p:spPr>
          <a:xfrm>
            <a:off x="418459" y="1903129"/>
            <a:ext cx="5193671" cy="4635783"/>
          </a:xfrm>
          <a:prstGeom prst="rect">
            <a:avLst/>
          </a:prstGeom>
        </p:spPr>
      </p:pic>
      <p:sp>
        <p:nvSpPr>
          <p:cNvPr id="9" name="ZoneTexte 8">
            <a:extLst>
              <a:ext uri="{FF2B5EF4-FFF2-40B4-BE49-F238E27FC236}">
                <a16:creationId xmlns:a16="http://schemas.microsoft.com/office/drawing/2014/main" id="{5C1DF85E-AE3C-4141-B8E3-32FC0D949336}"/>
              </a:ext>
            </a:extLst>
          </p:cNvPr>
          <p:cNvSpPr txBox="1"/>
          <p:nvPr/>
        </p:nvSpPr>
        <p:spPr>
          <a:xfrm>
            <a:off x="2832414" y="6302130"/>
            <a:ext cx="6880546"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True</a:t>
            </a:r>
            <a:r>
              <a:rPr lang="fr-FR" sz="2400" dirty="0" smtClean="0">
                <a:solidFill>
                  <a:srgbClr val="FF0000"/>
                </a:solidFill>
              </a:rPr>
              <a:t> </a:t>
            </a:r>
            <a:r>
              <a:rPr lang="fr-FR" sz="2400" dirty="0" err="1" smtClean="0">
                <a:solidFill>
                  <a:srgbClr val="FF0000"/>
                </a:solidFill>
              </a:rPr>
              <a:t>three</a:t>
            </a:r>
            <a:r>
              <a:rPr lang="fr-FR" sz="2400" dirty="0" smtClean="0">
                <a:solidFill>
                  <a:srgbClr val="FF0000"/>
                </a:solidFill>
              </a:rPr>
              <a:t> </a:t>
            </a:r>
            <a:r>
              <a:rPr lang="fr-FR" sz="2400" dirty="0" err="1" smtClean="0">
                <a:solidFill>
                  <a:srgbClr val="FF0000"/>
                </a:solidFill>
              </a:rPr>
              <a:t>fold</a:t>
            </a:r>
            <a:r>
              <a:rPr lang="fr-FR" sz="2400" dirty="0">
                <a:solidFill>
                  <a:srgbClr val="FF0000"/>
                </a:solidFill>
              </a:rPr>
              <a:t> </a:t>
            </a:r>
            <a:r>
              <a:rPr lang="fr-FR" sz="2400" dirty="0" err="1" smtClean="0">
                <a:solidFill>
                  <a:srgbClr val="FF0000"/>
                </a:solidFill>
              </a:rPr>
              <a:t>symmetry</a:t>
            </a:r>
            <a:r>
              <a:rPr lang="fr-FR" sz="2400" dirty="0" smtClean="0">
                <a:solidFill>
                  <a:srgbClr val="FF0000"/>
                </a:solidFill>
              </a:rPr>
              <a:t> point at center ???</a:t>
            </a:r>
            <a:endParaRPr lang="fr-FR" sz="2400" dirty="0">
              <a:solidFill>
                <a:srgbClr val="FF0000"/>
              </a:solidFill>
            </a:endParaRPr>
          </a:p>
        </p:txBody>
      </p:sp>
    </p:spTree>
    <p:extLst>
      <p:ext uri="{BB962C8B-B14F-4D97-AF65-F5344CB8AC3E}">
        <p14:creationId xmlns:p14="http://schemas.microsoft.com/office/powerpoint/2010/main" val="2545180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19</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840195" y="1166024"/>
            <a:ext cx="6714807" cy="5190326"/>
          </a:xfrm>
          <a:prstGeom prst="rect">
            <a:avLst/>
          </a:prstGeom>
        </p:spPr>
      </p:pic>
    </p:spTree>
    <p:extLst>
      <p:ext uri="{BB962C8B-B14F-4D97-AF65-F5344CB8AC3E}">
        <p14:creationId xmlns:p14="http://schemas.microsoft.com/office/powerpoint/2010/main" val="2098613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20</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2863849" y="1002778"/>
            <a:ext cx="6667500" cy="5067300"/>
          </a:xfrm>
          <a:prstGeom prst="rect">
            <a:avLst/>
          </a:prstGeom>
        </p:spPr>
      </p:pic>
    </p:spTree>
    <p:extLst>
      <p:ext uri="{BB962C8B-B14F-4D97-AF65-F5344CB8AC3E}">
        <p14:creationId xmlns:p14="http://schemas.microsoft.com/office/powerpoint/2010/main" val="1183256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21</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/2-arms/3-arms at level 2 by Boris </a:t>
            </a:r>
            <a:r>
              <a:rPr lang="en-US" b="1" dirty="0" err="1" smtClean="0">
                <a:solidFill>
                  <a:srgbClr val="C85350"/>
                </a:solidFill>
              </a:rPr>
              <a:t>Horvat</a:t>
            </a:r>
            <a:endParaRPr lang="fr-FR" b="1" dirty="0">
              <a:solidFill>
                <a:srgbClr val="C85350"/>
              </a:solidFill>
            </a:endParaRPr>
          </a:p>
        </p:txBody>
      </p:sp>
      <p:pic>
        <p:nvPicPr>
          <p:cNvPr id="6" name="Image 5"/>
          <p:cNvPicPr>
            <a:picLocks noChangeAspect="1"/>
          </p:cNvPicPr>
          <p:nvPr/>
        </p:nvPicPr>
        <p:blipFill>
          <a:blip r:embed="rId2"/>
          <a:stretch>
            <a:fillRect/>
          </a:stretch>
        </p:blipFill>
        <p:spPr>
          <a:xfrm>
            <a:off x="5626100" y="1458066"/>
            <a:ext cx="4800598" cy="4814885"/>
          </a:xfrm>
          <a:prstGeom prst="rect">
            <a:avLst/>
          </a:prstGeom>
        </p:spPr>
      </p:pic>
      <p:pic>
        <p:nvPicPr>
          <p:cNvPr id="7" name="Image 6"/>
          <p:cNvPicPr>
            <a:picLocks noChangeAspect="1"/>
          </p:cNvPicPr>
          <p:nvPr/>
        </p:nvPicPr>
        <p:blipFill>
          <a:blip r:embed="rId3"/>
          <a:stretch>
            <a:fillRect/>
          </a:stretch>
        </p:blipFill>
        <p:spPr>
          <a:xfrm>
            <a:off x="418459" y="1369959"/>
            <a:ext cx="4953000" cy="4991100"/>
          </a:xfrm>
          <a:prstGeom prst="rect">
            <a:avLst/>
          </a:prstGeom>
        </p:spPr>
      </p:pic>
    </p:spTree>
    <p:extLst>
      <p:ext uri="{BB962C8B-B14F-4D97-AF65-F5344CB8AC3E}">
        <p14:creationId xmlns:p14="http://schemas.microsoft.com/office/powerpoint/2010/main" val="4076484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22</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/2-arms/3-arms at level 2 by Boris </a:t>
            </a:r>
            <a:r>
              <a:rPr lang="en-US" b="1" dirty="0" err="1" smtClean="0">
                <a:solidFill>
                  <a:srgbClr val="C85350"/>
                </a:solidFill>
              </a:rPr>
              <a:t>Horvat</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1142999" y="1486290"/>
            <a:ext cx="5248275" cy="4758436"/>
          </a:xfrm>
          <a:prstGeom prst="rect">
            <a:avLst/>
          </a:prstGeom>
        </p:spPr>
      </p:pic>
      <p:pic>
        <p:nvPicPr>
          <p:cNvPr id="5" name="Image 4"/>
          <p:cNvPicPr>
            <a:picLocks noChangeAspect="1"/>
          </p:cNvPicPr>
          <p:nvPr/>
        </p:nvPicPr>
        <p:blipFill>
          <a:blip r:embed="rId3"/>
          <a:stretch>
            <a:fillRect/>
          </a:stretch>
        </p:blipFill>
        <p:spPr>
          <a:xfrm>
            <a:off x="6650775" y="1486290"/>
            <a:ext cx="4703025" cy="4758436"/>
          </a:xfrm>
          <a:prstGeom prst="rect">
            <a:avLst/>
          </a:prstGeom>
        </p:spPr>
      </p:pic>
      <p:sp>
        <p:nvSpPr>
          <p:cNvPr id="8" name="Étoile à 5 branches 7"/>
          <p:cNvSpPr/>
          <p:nvPr/>
        </p:nvSpPr>
        <p:spPr>
          <a:xfrm>
            <a:off x="3035299" y="3275541"/>
            <a:ext cx="249768" cy="276226"/>
          </a:xfrm>
          <a:prstGeom prst="star5">
            <a:avLst/>
          </a:prstGeom>
          <a:solidFill>
            <a:srgbClr val="FFC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Étoile à 5 branches 9"/>
          <p:cNvSpPr/>
          <p:nvPr/>
        </p:nvSpPr>
        <p:spPr>
          <a:xfrm>
            <a:off x="8625519" y="3742267"/>
            <a:ext cx="249768" cy="276226"/>
          </a:xfrm>
          <a:prstGeom prst="star5">
            <a:avLst/>
          </a:prstGeom>
          <a:solidFill>
            <a:srgbClr val="FFC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26756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23</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/2-arms/3-arms at level 2 by Boris </a:t>
            </a:r>
            <a:r>
              <a:rPr lang="en-US" b="1" dirty="0" err="1" smtClean="0">
                <a:solidFill>
                  <a:srgbClr val="C85350"/>
                </a:solidFill>
              </a:rPr>
              <a:t>Horvat</a:t>
            </a:r>
            <a:endParaRPr lang="fr-FR" b="1" dirty="0">
              <a:solidFill>
                <a:srgbClr val="C85350"/>
              </a:solidFill>
            </a:endParaRPr>
          </a:p>
        </p:txBody>
      </p:sp>
      <p:pic>
        <p:nvPicPr>
          <p:cNvPr id="8" name="Image 7"/>
          <p:cNvPicPr>
            <a:picLocks noChangeAspect="1"/>
          </p:cNvPicPr>
          <p:nvPr/>
        </p:nvPicPr>
        <p:blipFill>
          <a:blip r:embed="rId2"/>
          <a:stretch>
            <a:fillRect/>
          </a:stretch>
        </p:blipFill>
        <p:spPr>
          <a:xfrm>
            <a:off x="933450" y="1462432"/>
            <a:ext cx="4972050" cy="4893918"/>
          </a:xfrm>
          <a:prstGeom prst="rect">
            <a:avLst/>
          </a:prstGeom>
        </p:spPr>
      </p:pic>
      <p:pic>
        <p:nvPicPr>
          <p:cNvPr id="4" name="Image 3"/>
          <p:cNvPicPr>
            <a:picLocks noChangeAspect="1"/>
          </p:cNvPicPr>
          <p:nvPr/>
        </p:nvPicPr>
        <p:blipFill>
          <a:blip r:embed="rId3"/>
          <a:stretch>
            <a:fillRect/>
          </a:stretch>
        </p:blipFill>
        <p:spPr>
          <a:xfrm>
            <a:off x="6537079" y="1417638"/>
            <a:ext cx="3445121" cy="4938712"/>
          </a:xfrm>
          <a:prstGeom prst="rect">
            <a:avLst/>
          </a:prstGeom>
        </p:spPr>
      </p:pic>
      <p:pic>
        <p:nvPicPr>
          <p:cNvPr id="9" name="Image 8"/>
          <p:cNvPicPr>
            <a:picLocks noChangeAspect="1"/>
          </p:cNvPicPr>
          <p:nvPr/>
        </p:nvPicPr>
        <p:blipFill>
          <a:blip r:embed="rId4"/>
          <a:stretch>
            <a:fillRect/>
          </a:stretch>
        </p:blipFill>
        <p:spPr>
          <a:xfrm rot="2570187" flipH="1">
            <a:off x="10171135" y="3297056"/>
            <a:ext cx="1591044" cy="1179875"/>
          </a:xfrm>
          <a:prstGeom prst="rect">
            <a:avLst/>
          </a:prstGeom>
        </p:spPr>
      </p:pic>
    </p:spTree>
    <p:extLst>
      <p:ext uri="{BB962C8B-B14F-4D97-AF65-F5344CB8AC3E}">
        <p14:creationId xmlns:p14="http://schemas.microsoft.com/office/powerpoint/2010/main" val="2601052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1524000" y="1122363"/>
            <a:ext cx="9567860" cy="5576134"/>
          </a:xfrm>
          <a:prstGeom prst="rect">
            <a:avLst/>
          </a:prstGeom>
        </p:spPr>
      </p:pic>
      <p:sp>
        <p:nvSpPr>
          <p:cNvPr id="2" name="Titre 1"/>
          <p:cNvSpPr>
            <a:spLocks noGrp="1"/>
          </p:cNvSpPr>
          <p:nvPr>
            <p:ph type="ctrTitle"/>
          </p:nvPr>
        </p:nvSpPr>
        <p:spPr>
          <a:xfrm>
            <a:off x="1524000" y="213360"/>
            <a:ext cx="9144000" cy="909003"/>
          </a:xfrm>
        </p:spPr>
        <p:txBody>
          <a:bodyPr>
            <a:normAutofit fontScale="90000"/>
          </a:bodyPr>
          <a:lstStyle/>
          <a:p>
            <a:r>
              <a:rPr lang="en-US" dirty="0" smtClean="0"/>
              <a:t>SMALL AND LARGE STARS</a:t>
            </a:r>
            <a:endParaRPr lang="en-US" dirty="0"/>
          </a:p>
        </p:txBody>
      </p:sp>
    </p:spTree>
    <p:extLst>
      <p:ext uri="{BB962C8B-B14F-4D97-AF65-F5344CB8AC3E}">
        <p14:creationId xmlns:p14="http://schemas.microsoft.com/office/powerpoint/2010/main" val="10812499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950720" y="1093952"/>
            <a:ext cx="8717530" cy="4910608"/>
          </a:xfrm>
          <a:prstGeom prst="rect">
            <a:avLst/>
          </a:prstGeom>
        </p:spPr>
      </p:pic>
    </p:spTree>
    <p:extLst>
      <p:ext uri="{BB962C8B-B14F-4D97-AF65-F5344CB8AC3E}">
        <p14:creationId xmlns:p14="http://schemas.microsoft.com/office/powerpoint/2010/main" val="7813719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91910" y="750861"/>
            <a:ext cx="1675459" cy="369332"/>
          </a:xfrm>
          <a:prstGeom prst="rect">
            <a:avLst/>
          </a:prstGeom>
          <a:noFill/>
        </p:spPr>
        <p:txBody>
          <a:bodyPr wrap="none" rtlCol="0">
            <a:spAutoFit/>
          </a:bodyPr>
          <a:lstStyle/>
          <a:p>
            <a:r>
              <a:rPr lang="en-US" dirty="0" err="1" smtClean="0"/>
              <a:t>Parallelogrames</a:t>
            </a:r>
            <a:endParaRPr lang="en-US" dirty="0"/>
          </a:p>
        </p:txBody>
      </p:sp>
      <p:sp>
        <p:nvSpPr>
          <p:cNvPr id="12" name="ZoneTexte 11"/>
          <p:cNvSpPr txBox="1"/>
          <p:nvPr/>
        </p:nvSpPr>
        <p:spPr>
          <a:xfrm>
            <a:off x="929640" y="3555720"/>
            <a:ext cx="939873" cy="369332"/>
          </a:xfrm>
          <a:prstGeom prst="rect">
            <a:avLst/>
          </a:prstGeom>
          <a:noFill/>
        </p:spPr>
        <p:txBody>
          <a:bodyPr wrap="none" rtlCol="0">
            <a:spAutoFit/>
          </a:bodyPr>
          <a:lstStyle/>
          <a:p>
            <a:r>
              <a:rPr lang="en-US" dirty="0" smtClean="0"/>
              <a:t>Bateaux</a:t>
            </a:r>
            <a:endParaRPr lang="en-US" dirty="0"/>
          </a:p>
        </p:txBody>
      </p:sp>
      <p:pic>
        <p:nvPicPr>
          <p:cNvPr id="13" name="Image 12"/>
          <p:cNvPicPr>
            <a:picLocks noChangeAspect="1"/>
          </p:cNvPicPr>
          <p:nvPr/>
        </p:nvPicPr>
        <p:blipFill>
          <a:blip r:embed="rId2"/>
          <a:stretch>
            <a:fillRect/>
          </a:stretch>
        </p:blipFill>
        <p:spPr>
          <a:xfrm>
            <a:off x="3444832" y="5544168"/>
            <a:ext cx="1047896" cy="533474"/>
          </a:xfrm>
          <a:prstGeom prst="rect">
            <a:avLst/>
          </a:prstGeom>
        </p:spPr>
      </p:pic>
      <p:pic>
        <p:nvPicPr>
          <p:cNvPr id="14" name="Image 13"/>
          <p:cNvPicPr>
            <a:picLocks noChangeAspect="1"/>
          </p:cNvPicPr>
          <p:nvPr/>
        </p:nvPicPr>
        <p:blipFill>
          <a:blip r:embed="rId3"/>
          <a:stretch>
            <a:fillRect/>
          </a:stretch>
        </p:blipFill>
        <p:spPr>
          <a:xfrm>
            <a:off x="5532969" y="5667820"/>
            <a:ext cx="695422" cy="857370"/>
          </a:xfrm>
          <a:prstGeom prst="rect">
            <a:avLst/>
          </a:prstGeom>
        </p:spPr>
      </p:pic>
      <p:pic>
        <p:nvPicPr>
          <p:cNvPr id="15" name="Image 14"/>
          <p:cNvPicPr>
            <a:picLocks noChangeAspect="1"/>
          </p:cNvPicPr>
          <p:nvPr/>
        </p:nvPicPr>
        <p:blipFill>
          <a:blip r:embed="rId4"/>
          <a:stretch>
            <a:fillRect/>
          </a:stretch>
        </p:blipFill>
        <p:spPr>
          <a:xfrm>
            <a:off x="7882434" y="5686873"/>
            <a:ext cx="1000265" cy="838317"/>
          </a:xfrm>
          <a:prstGeom prst="rect">
            <a:avLst/>
          </a:prstGeom>
        </p:spPr>
      </p:pic>
      <p:sp>
        <p:nvSpPr>
          <p:cNvPr id="16" name="ZoneTexte 15"/>
          <p:cNvSpPr txBox="1"/>
          <p:nvPr/>
        </p:nvSpPr>
        <p:spPr>
          <a:xfrm flipH="1">
            <a:off x="717736" y="5956388"/>
            <a:ext cx="2331721" cy="646331"/>
          </a:xfrm>
          <a:prstGeom prst="rect">
            <a:avLst/>
          </a:prstGeom>
          <a:noFill/>
        </p:spPr>
        <p:txBody>
          <a:bodyPr wrap="square" rtlCol="0">
            <a:spAutoFit/>
          </a:bodyPr>
          <a:lstStyle/>
          <a:p>
            <a:r>
              <a:rPr lang="en-US" dirty="0" err="1" smtClean="0"/>
              <a:t>Petits</a:t>
            </a:r>
            <a:r>
              <a:rPr lang="en-US" dirty="0" smtClean="0"/>
              <a:t> </a:t>
            </a:r>
            <a:r>
              <a:rPr lang="en-US" dirty="0" err="1" smtClean="0"/>
              <a:t>parallelogrames</a:t>
            </a:r>
            <a:endParaRPr lang="en-US" dirty="0" smtClean="0"/>
          </a:p>
          <a:p>
            <a:r>
              <a:rPr lang="en-US" dirty="0" smtClean="0"/>
              <a:t>2 orientations de </a:t>
            </a:r>
            <a:r>
              <a:rPr lang="en-US" dirty="0" err="1" smtClean="0"/>
              <a:t>tuiles</a:t>
            </a:r>
            <a:endParaRPr lang="en-US" dirty="0"/>
          </a:p>
        </p:txBody>
      </p:sp>
      <p:pic>
        <p:nvPicPr>
          <p:cNvPr id="17" name="Image 16"/>
          <p:cNvPicPr>
            <a:picLocks noChangeAspect="1"/>
          </p:cNvPicPr>
          <p:nvPr/>
        </p:nvPicPr>
        <p:blipFill>
          <a:blip r:embed="rId5"/>
          <a:stretch>
            <a:fillRect/>
          </a:stretch>
        </p:blipFill>
        <p:spPr>
          <a:xfrm>
            <a:off x="3559148" y="6229874"/>
            <a:ext cx="933580" cy="590632"/>
          </a:xfrm>
          <a:prstGeom prst="rect">
            <a:avLst/>
          </a:prstGeom>
        </p:spPr>
      </p:pic>
      <p:pic>
        <p:nvPicPr>
          <p:cNvPr id="18" name="Image 17"/>
          <p:cNvPicPr>
            <a:picLocks noChangeAspect="1"/>
          </p:cNvPicPr>
          <p:nvPr/>
        </p:nvPicPr>
        <p:blipFill>
          <a:blip r:embed="rId6"/>
          <a:stretch>
            <a:fillRect/>
          </a:stretch>
        </p:blipFill>
        <p:spPr>
          <a:xfrm>
            <a:off x="9095070" y="5686873"/>
            <a:ext cx="1000265" cy="838317"/>
          </a:xfrm>
          <a:prstGeom prst="rect">
            <a:avLst/>
          </a:prstGeom>
        </p:spPr>
      </p:pic>
      <p:pic>
        <p:nvPicPr>
          <p:cNvPr id="19" name="Image 18"/>
          <p:cNvPicPr>
            <a:picLocks noChangeAspect="1"/>
          </p:cNvPicPr>
          <p:nvPr/>
        </p:nvPicPr>
        <p:blipFill>
          <a:blip r:embed="rId7"/>
          <a:stretch>
            <a:fillRect/>
          </a:stretch>
        </p:blipFill>
        <p:spPr>
          <a:xfrm>
            <a:off x="6446188" y="5664702"/>
            <a:ext cx="695422" cy="924054"/>
          </a:xfrm>
          <a:prstGeom prst="rect">
            <a:avLst/>
          </a:prstGeom>
        </p:spPr>
      </p:pic>
      <p:sp>
        <p:nvSpPr>
          <p:cNvPr id="20" name="ZoneTexte 19"/>
          <p:cNvSpPr txBox="1"/>
          <p:nvPr/>
        </p:nvSpPr>
        <p:spPr>
          <a:xfrm>
            <a:off x="10622280" y="533400"/>
            <a:ext cx="1173480" cy="369332"/>
          </a:xfrm>
          <a:prstGeom prst="rect">
            <a:avLst/>
          </a:prstGeom>
          <a:noFill/>
        </p:spPr>
        <p:txBody>
          <a:bodyPr wrap="square" rtlCol="0">
            <a:spAutoFit/>
          </a:bodyPr>
          <a:lstStyle/>
          <a:p>
            <a:r>
              <a:rPr lang="en-US" dirty="0" smtClean="0"/>
              <a:t>Triangles</a:t>
            </a:r>
            <a:endParaRPr lang="en-US" dirty="0"/>
          </a:p>
        </p:txBody>
      </p:sp>
      <p:sp>
        <p:nvSpPr>
          <p:cNvPr id="21" name="Flèche vers le bas 20"/>
          <p:cNvSpPr/>
          <p:nvPr/>
        </p:nvSpPr>
        <p:spPr>
          <a:xfrm>
            <a:off x="10256520" y="533400"/>
            <a:ext cx="184928" cy="30223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Image 21"/>
          <p:cNvPicPr>
            <a:picLocks noChangeAspect="1"/>
          </p:cNvPicPr>
          <p:nvPr/>
        </p:nvPicPr>
        <p:blipFill>
          <a:blip r:embed="rId8"/>
          <a:stretch>
            <a:fillRect/>
          </a:stretch>
        </p:blipFill>
        <p:spPr>
          <a:xfrm>
            <a:off x="10622280" y="1284992"/>
            <a:ext cx="935778" cy="827804"/>
          </a:xfrm>
          <a:prstGeom prst="rect">
            <a:avLst/>
          </a:prstGeom>
        </p:spPr>
      </p:pic>
      <p:pic>
        <p:nvPicPr>
          <p:cNvPr id="23" name="Image 22"/>
          <p:cNvPicPr>
            <a:picLocks noChangeAspect="1"/>
          </p:cNvPicPr>
          <p:nvPr/>
        </p:nvPicPr>
        <p:blipFill>
          <a:blip r:embed="rId9"/>
          <a:stretch>
            <a:fillRect/>
          </a:stretch>
        </p:blipFill>
        <p:spPr>
          <a:xfrm>
            <a:off x="10631684" y="2514109"/>
            <a:ext cx="935016" cy="872681"/>
          </a:xfrm>
          <a:prstGeom prst="rect">
            <a:avLst/>
          </a:prstGeom>
        </p:spPr>
      </p:pic>
      <p:sp>
        <p:nvSpPr>
          <p:cNvPr id="24" name="Flèche droite 23"/>
          <p:cNvSpPr/>
          <p:nvPr/>
        </p:nvSpPr>
        <p:spPr>
          <a:xfrm>
            <a:off x="741884" y="1708134"/>
            <a:ext cx="8884241" cy="2121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èche droite 24"/>
          <p:cNvSpPr/>
          <p:nvPr/>
        </p:nvSpPr>
        <p:spPr>
          <a:xfrm>
            <a:off x="1031550" y="5248911"/>
            <a:ext cx="8783009" cy="2383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ZoneTexte 25"/>
          <p:cNvSpPr txBox="1"/>
          <p:nvPr/>
        </p:nvSpPr>
        <p:spPr>
          <a:xfrm>
            <a:off x="198120" y="57671"/>
            <a:ext cx="4293667" cy="461665"/>
          </a:xfrm>
          <a:prstGeom prst="rect">
            <a:avLst/>
          </a:prstGeom>
          <a:noFill/>
        </p:spPr>
        <p:txBody>
          <a:bodyPr wrap="square" rtlCol="0">
            <a:spAutoFit/>
          </a:bodyPr>
          <a:lstStyle/>
          <a:p>
            <a:r>
              <a:rPr lang="en-US" sz="2400" b="1" dirty="0" err="1" smtClean="0">
                <a:solidFill>
                  <a:srgbClr val="FF0000"/>
                </a:solidFill>
              </a:rPr>
              <a:t>Espaces</a:t>
            </a:r>
            <a:r>
              <a:rPr lang="en-US" sz="2400" b="1" dirty="0" smtClean="0">
                <a:solidFill>
                  <a:srgbClr val="FF0000"/>
                </a:solidFill>
              </a:rPr>
              <a:t> entre triangles oranges</a:t>
            </a:r>
            <a:endParaRPr lang="en-US" sz="2400" b="1" dirty="0">
              <a:solidFill>
                <a:srgbClr val="FF0000"/>
              </a:solidFill>
            </a:endParaRPr>
          </a:p>
        </p:txBody>
      </p:sp>
      <p:pic>
        <p:nvPicPr>
          <p:cNvPr id="27" name="Image 26"/>
          <p:cNvPicPr>
            <a:picLocks noChangeAspect="1"/>
          </p:cNvPicPr>
          <p:nvPr/>
        </p:nvPicPr>
        <p:blipFill>
          <a:blip r:embed="rId10"/>
          <a:stretch>
            <a:fillRect/>
          </a:stretch>
        </p:blipFill>
        <p:spPr>
          <a:xfrm>
            <a:off x="1877308" y="648298"/>
            <a:ext cx="1203604" cy="729457"/>
          </a:xfrm>
          <a:prstGeom prst="rect">
            <a:avLst/>
          </a:prstGeom>
        </p:spPr>
      </p:pic>
      <p:pic>
        <p:nvPicPr>
          <p:cNvPr id="28" name="Image 27"/>
          <p:cNvPicPr>
            <a:picLocks noChangeAspect="1"/>
          </p:cNvPicPr>
          <p:nvPr/>
        </p:nvPicPr>
        <p:blipFill>
          <a:blip r:embed="rId11"/>
          <a:stretch>
            <a:fillRect/>
          </a:stretch>
        </p:blipFill>
        <p:spPr>
          <a:xfrm>
            <a:off x="3202361" y="671568"/>
            <a:ext cx="1356678" cy="699318"/>
          </a:xfrm>
          <a:prstGeom prst="rect">
            <a:avLst/>
          </a:prstGeom>
        </p:spPr>
      </p:pic>
      <p:pic>
        <p:nvPicPr>
          <p:cNvPr id="29" name="Image 28"/>
          <p:cNvPicPr>
            <a:picLocks noChangeAspect="1"/>
          </p:cNvPicPr>
          <p:nvPr/>
        </p:nvPicPr>
        <p:blipFill>
          <a:blip r:embed="rId12"/>
          <a:stretch>
            <a:fillRect/>
          </a:stretch>
        </p:blipFill>
        <p:spPr>
          <a:xfrm>
            <a:off x="4763587" y="319082"/>
            <a:ext cx="1127171" cy="1379812"/>
          </a:xfrm>
          <a:prstGeom prst="rect">
            <a:avLst/>
          </a:prstGeom>
        </p:spPr>
      </p:pic>
      <p:pic>
        <p:nvPicPr>
          <p:cNvPr id="30" name="Image 29"/>
          <p:cNvPicPr>
            <a:picLocks noChangeAspect="1"/>
          </p:cNvPicPr>
          <p:nvPr/>
        </p:nvPicPr>
        <p:blipFill>
          <a:blip r:embed="rId13"/>
          <a:stretch>
            <a:fillRect/>
          </a:stretch>
        </p:blipFill>
        <p:spPr>
          <a:xfrm>
            <a:off x="6095306" y="337462"/>
            <a:ext cx="1154616" cy="1313796"/>
          </a:xfrm>
          <a:prstGeom prst="rect">
            <a:avLst/>
          </a:prstGeom>
        </p:spPr>
      </p:pic>
      <p:pic>
        <p:nvPicPr>
          <p:cNvPr id="31" name="Image 30"/>
          <p:cNvPicPr>
            <a:picLocks noChangeAspect="1"/>
          </p:cNvPicPr>
          <p:nvPr/>
        </p:nvPicPr>
        <p:blipFill>
          <a:blip r:embed="rId14"/>
          <a:stretch>
            <a:fillRect/>
          </a:stretch>
        </p:blipFill>
        <p:spPr>
          <a:xfrm>
            <a:off x="7482327" y="337462"/>
            <a:ext cx="1173032" cy="1313796"/>
          </a:xfrm>
          <a:prstGeom prst="rect">
            <a:avLst/>
          </a:prstGeom>
        </p:spPr>
      </p:pic>
      <p:pic>
        <p:nvPicPr>
          <p:cNvPr id="32" name="Image 31"/>
          <p:cNvPicPr>
            <a:picLocks noChangeAspect="1"/>
          </p:cNvPicPr>
          <p:nvPr/>
        </p:nvPicPr>
        <p:blipFill>
          <a:blip r:embed="rId15"/>
          <a:stretch>
            <a:fillRect/>
          </a:stretch>
        </p:blipFill>
        <p:spPr>
          <a:xfrm>
            <a:off x="8823326" y="337463"/>
            <a:ext cx="1087279" cy="1313796"/>
          </a:xfrm>
          <a:prstGeom prst="rect">
            <a:avLst/>
          </a:prstGeom>
        </p:spPr>
      </p:pic>
      <p:pic>
        <p:nvPicPr>
          <p:cNvPr id="33" name="Image 32"/>
          <p:cNvPicPr>
            <a:picLocks noChangeAspect="1"/>
          </p:cNvPicPr>
          <p:nvPr/>
        </p:nvPicPr>
        <p:blipFill>
          <a:blip r:embed="rId16"/>
          <a:stretch>
            <a:fillRect/>
          </a:stretch>
        </p:blipFill>
        <p:spPr>
          <a:xfrm>
            <a:off x="2214356" y="1973047"/>
            <a:ext cx="857408" cy="1194248"/>
          </a:xfrm>
          <a:prstGeom prst="rect">
            <a:avLst/>
          </a:prstGeom>
        </p:spPr>
      </p:pic>
      <p:pic>
        <p:nvPicPr>
          <p:cNvPr id="34" name="Image 33"/>
          <p:cNvPicPr>
            <a:picLocks noChangeAspect="1"/>
          </p:cNvPicPr>
          <p:nvPr/>
        </p:nvPicPr>
        <p:blipFill>
          <a:blip r:embed="rId17"/>
          <a:stretch>
            <a:fillRect/>
          </a:stretch>
        </p:blipFill>
        <p:spPr>
          <a:xfrm>
            <a:off x="2202407" y="3343907"/>
            <a:ext cx="999954" cy="1215329"/>
          </a:xfrm>
          <a:prstGeom prst="rect">
            <a:avLst/>
          </a:prstGeom>
        </p:spPr>
      </p:pic>
      <p:pic>
        <p:nvPicPr>
          <p:cNvPr id="36" name="Image 35"/>
          <p:cNvPicPr>
            <a:picLocks noChangeAspect="1"/>
          </p:cNvPicPr>
          <p:nvPr/>
        </p:nvPicPr>
        <p:blipFill>
          <a:blip r:embed="rId18"/>
          <a:stretch>
            <a:fillRect/>
          </a:stretch>
        </p:blipFill>
        <p:spPr>
          <a:xfrm>
            <a:off x="3305384" y="2072529"/>
            <a:ext cx="1723700" cy="834048"/>
          </a:xfrm>
          <a:prstGeom prst="rect">
            <a:avLst/>
          </a:prstGeom>
        </p:spPr>
      </p:pic>
      <p:pic>
        <p:nvPicPr>
          <p:cNvPr id="37" name="Image 36"/>
          <p:cNvPicPr>
            <a:picLocks noChangeAspect="1"/>
          </p:cNvPicPr>
          <p:nvPr/>
        </p:nvPicPr>
        <p:blipFill>
          <a:blip r:embed="rId19"/>
          <a:stretch>
            <a:fillRect/>
          </a:stretch>
        </p:blipFill>
        <p:spPr>
          <a:xfrm>
            <a:off x="5204208" y="3647412"/>
            <a:ext cx="1754114" cy="1132403"/>
          </a:xfrm>
          <a:prstGeom prst="rect">
            <a:avLst/>
          </a:prstGeom>
        </p:spPr>
      </p:pic>
      <p:pic>
        <p:nvPicPr>
          <p:cNvPr id="38" name="Image 37"/>
          <p:cNvPicPr>
            <a:picLocks noChangeAspect="1"/>
          </p:cNvPicPr>
          <p:nvPr/>
        </p:nvPicPr>
        <p:blipFill>
          <a:blip r:embed="rId20"/>
          <a:stretch>
            <a:fillRect/>
          </a:stretch>
        </p:blipFill>
        <p:spPr>
          <a:xfrm>
            <a:off x="7176391" y="2062200"/>
            <a:ext cx="1220613" cy="1095421"/>
          </a:xfrm>
          <a:prstGeom prst="rect">
            <a:avLst/>
          </a:prstGeom>
        </p:spPr>
      </p:pic>
      <p:pic>
        <p:nvPicPr>
          <p:cNvPr id="39" name="Image 38"/>
          <p:cNvPicPr>
            <a:picLocks noChangeAspect="1"/>
          </p:cNvPicPr>
          <p:nvPr/>
        </p:nvPicPr>
        <p:blipFill>
          <a:blip r:embed="rId21"/>
          <a:stretch>
            <a:fillRect/>
          </a:stretch>
        </p:blipFill>
        <p:spPr>
          <a:xfrm>
            <a:off x="8809720" y="3473189"/>
            <a:ext cx="1369561" cy="1310865"/>
          </a:xfrm>
          <a:prstGeom prst="rect">
            <a:avLst/>
          </a:prstGeom>
        </p:spPr>
      </p:pic>
      <p:pic>
        <p:nvPicPr>
          <p:cNvPr id="40" name="Image 39"/>
          <p:cNvPicPr>
            <a:picLocks noChangeAspect="1"/>
          </p:cNvPicPr>
          <p:nvPr/>
        </p:nvPicPr>
        <p:blipFill>
          <a:blip r:embed="rId22"/>
          <a:stretch>
            <a:fillRect/>
          </a:stretch>
        </p:blipFill>
        <p:spPr>
          <a:xfrm>
            <a:off x="3458438" y="3167295"/>
            <a:ext cx="1555534" cy="962949"/>
          </a:xfrm>
          <a:prstGeom prst="rect">
            <a:avLst/>
          </a:prstGeom>
        </p:spPr>
      </p:pic>
      <p:pic>
        <p:nvPicPr>
          <p:cNvPr id="41" name="Image 40"/>
          <p:cNvPicPr>
            <a:picLocks noChangeAspect="1"/>
          </p:cNvPicPr>
          <p:nvPr/>
        </p:nvPicPr>
        <p:blipFill>
          <a:blip r:embed="rId23"/>
          <a:stretch>
            <a:fillRect/>
          </a:stretch>
        </p:blipFill>
        <p:spPr>
          <a:xfrm>
            <a:off x="8890786" y="2106116"/>
            <a:ext cx="1145080" cy="985638"/>
          </a:xfrm>
          <a:prstGeom prst="rect">
            <a:avLst/>
          </a:prstGeom>
        </p:spPr>
      </p:pic>
      <p:pic>
        <p:nvPicPr>
          <p:cNvPr id="42" name="Image 41"/>
          <p:cNvPicPr>
            <a:picLocks noChangeAspect="1"/>
          </p:cNvPicPr>
          <p:nvPr/>
        </p:nvPicPr>
        <p:blipFill>
          <a:blip r:embed="rId24"/>
          <a:stretch>
            <a:fillRect/>
          </a:stretch>
        </p:blipFill>
        <p:spPr>
          <a:xfrm>
            <a:off x="7189452" y="3560131"/>
            <a:ext cx="1330051" cy="1205912"/>
          </a:xfrm>
          <a:prstGeom prst="rect">
            <a:avLst/>
          </a:prstGeom>
        </p:spPr>
      </p:pic>
      <p:pic>
        <p:nvPicPr>
          <p:cNvPr id="43" name="Image 42"/>
          <p:cNvPicPr>
            <a:picLocks noChangeAspect="1"/>
          </p:cNvPicPr>
          <p:nvPr/>
        </p:nvPicPr>
        <p:blipFill>
          <a:blip r:embed="rId25"/>
          <a:stretch>
            <a:fillRect/>
          </a:stretch>
        </p:blipFill>
        <p:spPr>
          <a:xfrm>
            <a:off x="1289118" y="3935059"/>
            <a:ext cx="812727" cy="1243971"/>
          </a:xfrm>
          <a:prstGeom prst="rect">
            <a:avLst/>
          </a:prstGeom>
        </p:spPr>
      </p:pic>
      <p:pic>
        <p:nvPicPr>
          <p:cNvPr id="44" name="Image 43"/>
          <p:cNvPicPr>
            <a:picLocks noChangeAspect="1"/>
          </p:cNvPicPr>
          <p:nvPr/>
        </p:nvPicPr>
        <p:blipFill>
          <a:blip r:embed="rId26"/>
          <a:stretch>
            <a:fillRect/>
          </a:stretch>
        </p:blipFill>
        <p:spPr>
          <a:xfrm>
            <a:off x="5403121" y="2097646"/>
            <a:ext cx="1539650" cy="964846"/>
          </a:xfrm>
          <a:prstGeom prst="rect">
            <a:avLst/>
          </a:prstGeom>
        </p:spPr>
      </p:pic>
    </p:spTree>
    <p:extLst>
      <p:ext uri="{BB962C8B-B14F-4D97-AF65-F5344CB8AC3E}">
        <p14:creationId xmlns:p14="http://schemas.microsoft.com/office/powerpoint/2010/main" val="20855995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27</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ODD and EVEN orientations for Tile(1,1)</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836680" y="1203325"/>
            <a:ext cx="10829925" cy="5153025"/>
          </a:xfrm>
          <a:prstGeom prst="rect">
            <a:avLst/>
          </a:prstGeom>
        </p:spPr>
      </p:pic>
    </p:spTree>
    <p:extLst>
      <p:ext uri="{BB962C8B-B14F-4D97-AF65-F5344CB8AC3E}">
        <p14:creationId xmlns:p14="http://schemas.microsoft.com/office/powerpoint/2010/main" val="2768893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28</a:t>
            </a:fld>
            <a:endParaRPr lang="fr-FR"/>
          </a:p>
        </p:txBody>
      </p:sp>
      <p:pic>
        <p:nvPicPr>
          <p:cNvPr id="3" name="Image 2"/>
          <p:cNvPicPr>
            <a:picLocks noChangeAspect="1"/>
          </p:cNvPicPr>
          <p:nvPr/>
        </p:nvPicPr>
        <p:blipFill>
          <a:blip r:embed="rId2"/>
          <a:stretch>
            <a:fillRect/>
          </a:stretch>
        </p:blipFill>
        <p:spPr>
          <a:xfrm>
            <a:off x="1741135" y="423862"/>
            <a:ext cx="10344150" cy="4257675"/>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full cluster</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683968" y="4279077"/>
            <a:ext cx="11191172" cy="2677656"/>
          </a:xfrm>
          <a:prstGeom prst="rect">
            <a:avLst/>
          </a:prstGeom>
          <a:noFill/>
        </p:spPr>
        <p:txBody>
          <a:bodyPr wrap="square" rtlCol="0">
            <a:spAutoFit/>
          </a:bodyPr>
          <a:lstStyle/>
          <a:p>
            <a:pPr marL="457200" indent="-457200">
              <a:buFont typeface="Wingdings" panose="05000000000000000000" pitchFamily="2" charset="2"/>
              <a:buChar char="§"/>
            </a:pPr>
            <a:r>
              <a:rPr lang="fr-FR" sz="2800" dirty="0"/>
              <a:t>C cluster: one ODD </a:t>
            </a:r>
            <a:r>
              <a:rPr lang="fr-FR" sz="2800" dirty="0" err="1"/>
              <a:t>tile</a:t>
            </a:r>
            <a:r>
              <a:rPr lang="fr-FR" sz="2800" dirty="0"/>
              <a:t> at the center + 6 EVEN </a:t>
            </a:r>
            <a:r>
              <a:rPr lang="fr-FR" sz="2800" dirty="0" err="1"/>
              <a:t>tiles</a:t>
            </a:r>
            <a:r>
              <a:rPr lang="fr-FR" sz="2800" dirty="0"/>
              <a:t> </a:t>
            </a:r>
            <a:r>
              <a:rPr lang="fr-FR" sz="2800" dirty="0" err="1"/>
              <a:t>around</a:t>
            </a:r>
            <a:endParaRPr lang="fr-FR" sz="2800" dirty="0"/>
          </a:p>
          <a:p>
            <a:pPr marL="457200" indent="-457200">
              <a:buFont typeface="Wingdings" panose="05000000000000000000" pitchFamily="2" charset="2"/>
              <a:buChar char="§"/>
            </a:pPr>
            <a:r>
              <a:rPr lang="fr-FR" sz="2800" dirty="0" err="1"/>
              <a:t>Three</a:t>
            </a:r>
            <a:r>
              <a:rPr lang="fr-FR" sz="2800" dirty="0"/>
              <a:t> glue points (orange </a:t>
            </a:r>
            <a:r>
              <a:rPr lang="fr-FR" sz="2800" dirty="0" err="1"/>
              <a:t>color</a:t>
            </a:r>
            <a:r>
              <a:rPr lang="fr-FR" sz="2800" dirty="0"/>
              <a:t>): </a:t>
            </a:r>
            <a:r>
              <a:rPr lang="fr-FR" sz="2800" dirty="0" err="1"/>
              <a:t>regular</a:t>
            </a:r>
            <a:r>
              <a:rPr lang="fr-FR" sz="2800" dirty="0"/>
              <a:t> triangle </a:t>
            </a:r>
            <a:r>
              <a:rPr lang="fr-FR" sz="2800" dirty="0" err="1"/>
              <a:t>centered</a:t>
            </a:r>
            <a:r>
              <a:rPr lang="fr-FR" sz="2800" dirty="0"/>
              <a:t> on the </a:t>
            </a:r>
            <a:r>
              <a:rPr lang="fr-FR" sz="2800" dirty="0" err="1"/>
              <a:t>trifle</a:t>
            </a:r>
            <a:r>
              <a:rPr lang="fr-FR" sz="2800" dirty="0"/>
              <a:t> </a:t>
            </a:r>
            <a:r>
              <a:rPr lang="fr-FR" sz="2800" dirty="0" err="1"/>
              <a:t>shape</a:t>
            </a:r>
            <a:r>
              <a:rPr lang="fr-FR" sz="2800" dirty="0"/>
              <a:t> of the ODD </a:t>
            </a:r>
            <a:r>
              <a:rPr lang="fr-FR" sz="2800" dirty="0" err="1"/>
              <a:t>tile</a:t>
            </a:r>
            <a:endParaRPr lang="fr-FR" sz="2800" dirty="0"/>
          </a:p>
          <a:p>
            <a:pPr marL="457200" indent="-457200">
              <a:buFont typeface="Wingdings" panose="05000000000000000000" pitchFamily="2" charset="2"/>
              <a:buChar char="§"/>
            </a:pPr>
            <a:r>
              <a:rPr lang="fr-FR" sz="2800" dirty="0"/>
              <a:t>Full cluster: 3 more EVEN </a:t>
            </a:r>
            <a:r>
              <a:rPr lang="fr-FR" sz="2800" dirty="0" err="1"/>
              <a:t>tiles</a:t>
            </a:r>
            <a:r>
              <a:rPr lang="fr-FR" sz="2800" dirty="0"/>
              <a:t> </a:t>
            </a:r>
            <a:r>
              <a:rPr lang="fr-FR" sz="2800" dirty="0" err="1"/>
              <a:t>obtained</a:t>
            </a:r>
            <a:r>
              <a:rPr lang="fr-FR" sz="2800" dirty="0"/>
              <a:t> by translations (</a:t>
            </a:r>
            <a:r>
              <a:rPr lang="fr-FR" sz="2800" dirty="0" err="1"/>
              <a:t>three</a:t>
            </a:r>
            <a:r>
              <a:rPr lang="fr-FR" sz="2800" dirty="0"/>
              <a:t> </a:t>
            </a:r>
            <a:r>
              <a:rPr lang="fr-FR" sz="2800" dirty="0" err="1"/>
              <a:t>dark</a:t>
            </a:r>
            <a:r>
              <a:rPr lang="fr-FR" sz="2800" dirty="0"/>
              <a:t> </a:t>
            </a:r>
            <a:r>
              <a:rPr lang="fr-FR" sz="2800" dirty="0" err="1"/>
              <a:t>blue</a:t>
            </a:r>
            <a:r>
              <a:rPr lang="fr-FR" sz="2800" dirty="0"/>
              <a:t> </a:t>
            </a:r>
            <a:r>
              <a:rPr lang="fr-FR" sz="2800" dirty="0" err="1"/>
              <a:t>lines</a:t>
            </a:r>
            <a:r>
              <a:rPr lang="fr-FR" sz="2800" dirty="0"/>
              <a:t>)</a:t>
            </a:r>
          </a:p>
          <a:p>
            <a:endParaRPr lang="fr-FR" sz="2800" dirty="0"/>
          </a:p>
        </p:txBody>
      </p:sp>
      <p:sp>
        <p:nvSpPr>
          <p:cNvPr id="6" name="ZoneTexte 5">
            <a:extLst>
              <a:ext uri="{FF2B5EF4-FFF2-40B4-BE49-F238E27FC236}">
                <a16:creationId xmlns:a16="http://schemas.microsoft.com/office/drawing/2014/main" id="{5C1DF85E-AE3C-4141-B8E3-32FC0D949336}"/>
              </a:ext>
            </a:extLst>
          </p:cNvPr>
          <p:cNvSpPr txBox="1"/>
          <p:nvPr/>
        </p:nvSpPr>
        <p:spPr>
          <a:xfrm>
            <a:off x="199894" y="540968"/>
            <a:ext cx="2025316"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Tile</a:t>
            </a:r>
            <a:r>
              <a:rPr lang="fr-FR" sz="2800" dirty="0"/>
              <a:t>(1,1)</a:t>
            </a:r>
          </a:p>
          <a:p>
            <a:endParaRPr lang="fr-FR" sz="2800" dirty="0"/>
          </a:p>
        </p:txBody>
      </p:sp>
    </p:spTree>
    <p:extLst>
      <p:ext uri="{BB962C8B-B14F-4D97-AF65-F5344CB8AC3E}">
        <p14:creationId xmlns:p14="http://schemas.microsoft.com/office/powerpoint/2010/main" val="3124794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29</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full cluster with its six rotations: n(2pi/6)</a:t>
            </a:r>
            <a:endParaRPr lang="fr-FR" b="1" dirty="0">
              <a:solidFill>
                <a:srgbClr val="C85350"/>
              </a:solidFill>
            </a:endParaRPr>
          </a:p>
        </p:txBody>
      </p:sp>
      <p:sp>
        <p:nvSpPr>
          <p:cNvPr id="14" name="ZoneTexte 13">
            <a:extLst>
              <a:ext uri="{FF2B5EF4-FFF2-40B4-BE49-F238E27FC236}">
                <a16:creationId xmlns:a16="http://schemas.microsoft.com/office/drawing/2014/main" id="{5C1DF85E-AE3C-4141-B8E3-32FC0D949336}"/>
              </a:ext>
            </a:extLst>
          </p:cNvPr>
          <p:cNvSpPr txBox="1"/>
          <p:nvPr/>
        </p:nvSpPr>
        <p:spPr>
          <a:xfrm>
            <a:off x="162627" y="1150568"/>
            <a:ext cx="2025316"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Tile</a:t>
            </a:r>
            <a:r>
              <a:rPr lang="fr-FR" sz="2800" dirty="0"/>
              <a:t>(1,1)</a:t>
            </a:r>
          </a:p>
          <a:p>
            <a:endParaRPr lang="fr-FR" sz="2800" dirty="0"/>
          </a:p>
        </p:txBody>
      </p:sp>
      <p:sp>
        <p:nvSpPr>
          <p:cNvPr id="15" name="ZoneTexte 14">
            <a:extLst>
              <a:ext uri="{FF2B5EF4-FFF2-40B4-BE49-F238E27FC236}">
                <a16:creationId xmlns:a16="http://schemas.microsoft.com/office/drawing/2014/main" id="{5C1DF85E-AE3C-4141-B8E3-32FC0D949336}"/>
              </a:ext>
            </a:extLst>
          </p:cNvPr>
          <p:cNvSpPr txBox="1"/>
          <p:nvPr/>
        </p:nvSpPr>
        <p:spPr>
          <a:xfrm>
            <a:off x="316858" y="5361812"/>
            <a:ext cx="1119117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t>13 </a:t>
            </a:r>
            <a:r>
              <a:rPr lang="fr-FR" sz="2800" dirty="0" err="1"/>
              <a:t>tiles</a:t>
            </a:r>
            <a:r>
              <a:rPr lang="fr-FR" sz="2800" dirty="0"/>
              <a:t> in a full cluster: one ODD </a:t>
            </a:r>
            <a:r>
              <a:rPr lang="fr-FR" sz="2800" dirty="0" err="1"/>
              <a:t>tile</a:t>
            </a:r>
            <a:r>
              <a:rPr lang="fr-FR" sz="2800" dirty="0"/>
              <a:t> at the center + 9 EVEN </a:t>
            </a:r>
            <a:r>
              <a:rPr lang="fr-FR" sz="2800" dirty="0" err="1"/>
              <a:t>tiles</a:t>
            </a:r>
            <a:r>
              <a:rPr lang="fr-FR" sz="2800" dirty="0"/>
              <a:t> </a:t>
            </a:r>
            <a:r>
              <a:rPr lang="fr-FR" sz="2800" dirty="0" err="1"/>
              <a:t>around</a:t>
            </a:r>
            <a:endParaRPr lang="fr-FR" sz="2800" dirty="0"/>
          </a:p>
          <a:p>
            <a:endParaRPr lang="fr-FR" sz="2800" dirty="0"/>
          </a:p>
        </p:txBody>
      </p:sp>
      <p:sp>
        <p:nvSpPr>
          <p:cNvPr id="16" name="ZoneTexte 15">
            <a:extLst>
              <a:ext uri="{FF2B5EF4-FFF2-40B4-BE49-F238E27FC236}">
                <a16:creationId xmlns:a16="http://schemas.microsoft.com/office/drawing/2014/main" id="{5C1DF85E-AE3C-4141-B8E3-32FC0D949336}"/>
              </a:ext>
            </a:extLst>
          </p:cNvPr>
          <p:cNvSpPr txBox="1"/>
          <p:nvPr/>
        </p:nvSpPr>
        <p:spPr>
          <a:xfrm>
            <a:off x="316858" y="5988166"/>
            <a:ext cx="11374727"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a:t>Blue triangles (EVEN) have one horizontal </a:t>
            </a:r>
            <a:r>
              <a:rPr lang="fr-FR" sz="2400" dirty="0" err="1"/>
              <a:t>edge</a:t>
            </a:r>
            <a:r>
              <a:rPr lang="fr-FR" sz="2400" dirty="0"/>
              <a:t> </a:t>
            </a:r>
            <a:r>
              <a:rPr lang="fr-FR" sz="2400" dirty="0" err="1"/>
              <a:t>when</a:t>
            </a:r>
            <a:r>
              <a:rPr lang="fr-FR" sz="2400" dirty="0"/>
              <a:t> </a:t>
            </a:r>
            <a:r>
              <a:rPr lang="fr-FR" sz="2400" dirty="0" err="1"/>
              <a:t>pink</a:t>
            </a:r>
            <a:r>
              <a:rPr lang="fr-FR" sz="2400" dirty="0"/>
              <a:t> (ODD) have a vertical one</a:t>
            </a:r>
          </a:p>
          <a:p>
            <a:endParaRPr lang="fr-FR" sz="2400" dirty="0"/>
          </a:p>
        </p:txBody>
      </p:sp>
      <p:pic>
        <p:nvPicPr>
          <p:cNvPr id="5" name="Image 4"/>
          <p:cNvPicPr>
            <a:picLocks noChangeAspect="1"/>
          </p:cNvPicPr>
          <p:nvPr/>
        </p:nvPicPr>
        <p:blipFill>
          <a:blip r:embed="rId2"/>
          <a:stretch>
            <a:fillRect/>
          </a:stretch>
        </p:blipFill>
        <p:spPr>
          <a:xfrm>
            <a:off x="619124" y="2038735"/>
            <a:ext cx="10953750" cy="3009900"/>
          </a:xfrm>
          <a:prstGeom prst="rect">
            <a:avLst/>
          </a:prstGeom>
        </p:spPr>
      </p:pic>
    </p:spTree>
    <p:extLst>
      <p:ext uri="{BB962C8B-B14F-4D97-AF65-F5344CB8AC3E}">
        <p14:creationId xmlns:p14="http://schemas.microsoft.com/office/powerpoint/2010/main" val="1811662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30</a:t>
            </a:fld>
            <a:endParaRPr lang="fr-FR"/>
          </a:p>
        </p:txBody>
      </p:sp>
      <p:pic>
        <p:nvPicPr>
          <p:cNvPr id="3" name="Image 2"/>
          <p:cNvPicPr>
            <a:picLocks noChangeAspect="1"/>
          </p:cNvPicPr>
          <p:nvPr/>
        </p:nvPicPr>
        <p:blipFill>
          <a:blip r:embed="rId2"/>
          <a:stretch>
            <a:fillRect/>
          </a:stretch>
        </p:blipFill>
        <p:spPr>
          <a:xfrm>
            <a:off x="3833812" y="1273174"/>
            <a:ext cx="5283822" cy="4670425"/>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Possible configurations at the glue points ?</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2754068" y="5879296"/>
            <a:ext cx="1119117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t>Half-</a:t>
            </a:r>
            <a:r>
              <a:rPr lang="fr-FR" sz="2800" dirty="0" err="1"/>
              <a:t>turned</a:t>
            </a:r>
            <a:r>
              <a:rPr lang="fr-FR" sz="2800" dirty="0"/>
              <a:t> or </a:t>
            </a:r>
            <a:r>
              <a:rPr lang="fr-FR" sz="2800" dirty="0" err="1"/>
              <a:t>translated</a:t>
            </a:r>
            <a:r>
              <a:rPr lang="fr-FR" sz="2800" dirty="0"/>
              <a:t> </a:t>
            </a:r>
            <a:r>
              <a:rPr lang="fr-FR" sz="2800" dirty="0" err="1"/>
              <a:t>monotile</a:t>
            </a:r>
            <a:r>
              <a:rPr lang="fr-FR" sz="2800" dirty="0"/>
              <a:t> (violet line)</a:t>
            </a:r>
          </a:p>
          <a:p>
            <a:endParaRPr lang="fr-FR" sz="2800" dirty="0"/>
          </a:p>
        </p:txBody>
      </p:sp>
    </p:spTree>
    <p:extLst>
      <p:ext uri="{BB962C8B-B14F-4D97-AF65-F5344CB8AC3E}">
        <p14:creationId xmlns:p14="http://schemas.microsoft.com/office/powerpoint/2010/main" val="2737491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31</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Three possible configurations at the glue points</a:t>
            </a:r>
            <a:endParaRPr lang="fr-FR" b="1" dirty="0">
              <a:solidFill>
                <a:srgbClr val="C85350"/>
              </a:solidFill>
            </a:endParaRPr>
          </a:p>
        </p:txBody>
      </p:sp>
      <p:sp>
        <p:nvSpPr>
          <p:cNvPr id="9" name="ZoneTexte 8">
            <a:extLst>
              <a:ext uri="{FF2B5EF4-FFF2-40B4-BE49-F238E27FC236}">
                <a16:creationId xmlns:a16="http://schemas.microsoft.com/office/drawing/2014/main" id="{5C1DF85E-AE3C-4141-B8E3-32FC0D949336}"/>
              </a:ext>
            </a:extLst>
          </p:cNvPr>
          <p:cNvSpPr txBox="1"/>
          <p:nvPr/>
        </p:nvSpPr>
        <p:spPr>
          <a:xfrm>
            <a:off x="765248" y="5473005"/>
            <a:ext cx="11191172" cy="1384995"/>
          </a:xfrm>
          <a:prstGeom prst="rect">
            <a:avLst/>
          </a:prstGeom>
          <a:noFill/>
        </p:spPr>
        <p:txBody>
          <a:bodyPr wrap="square" rtlCol="0">
            <a:spAutoFit/>
          </a:bodyPr>
          <a:lstStyle/>
          <a:p>
            <a:pPr marL="457200" indent="-457200">
              <a:buFont typeface="Wingdings" panose="05000000000000000000" pitchFamily="2" charset="2"/>
              <a:buChar char="§"/>
            </a:pPr>
            <a:r>
              <a:rPr lang="fr-FR" sz="2800" dirty="0"/>
              <a:t>configuration </a:t>
            </a:r>
            <a:r>
              <a:rPr lang="fr-FR" sz="2800" dirty="0" err="1"/>
              <a:t>with</a:t>
            </a:r>
            <a:r>
              <a:rPr lang="fr-FR" sz="2800" dirty="0"/>
              <a:t> </a:t>
            </a:r>
            <a:r>
              <a:rPr lang="fr-FR" sz="2800" dirty="0" err="1"/>
              <a:t>three</a:t>
            </a:r>
            <a:r>
              <a:rPr lang="fr-FR" sz="2800" dirty="0"/>
              <a:t> </a:t>
            </a:r>
            <a:r>
              <a:rPr lang="fr-FR" sz="2800" dirty="0" err="1"/>
              <a:t>half-turned</a:t>
            </a:r>
            <a:r>
              <a:rPr lang="fr-FR" sz="2800" dirty="0"/>
              <a:t> </a:t>
            </a:r>
            <a:r>
              <a:rPr lang="fr-FR" sz="2800" dirty="0" err="1"/>
              <a:t>tiles</a:t>
            </a:r>
            <a:r>
              <a:rPr lang="fr-FR" sz="2800" dirty="0"/>
              <a:t> </a:t>
            </a:r>
            <a:r>
              <a:rPr lang="fr-FR" sz="2800" dirty="0" err="1"/>
              <a:t>is</a:t>
            </a:r>
            <a:r>
              <a:rPr lang="fr-FR" sz="2800" dirty="0"/>
              <a:t> the </a:t>
            </a:r>
            <a:r>
              <a:rPr lang="fr-FR" sz="2800" dirty="0" err="1"/>
              <a:t>most</a:t>
            </a:r>
            <a:r>
              <a:rPr lang="fr-FR" sz="2800" dirty="0"/>
              <a:t> </a:t>
            </a:r>
            <a:r>
              <a:rPr lang="fr-FR" sz="2800" dirty="0" err="1"/>
              <a:t>common</a:t>
            </a:r>
            <a:endParaRPr lang="fr-FR" sz="2800" dirty="0"/>
          </a:p>
          <a:p>
            <a:pPr marL="457200" indent="-457200">
              <a:buFont typeface="Wingdings" panose="05000000000000000000" pitchFamily="2" charset="2"/>
              <a:buChar char="§"/>
            </a:pPr>
            <a:r>
              <a:rPr lang="fr-FR" sz="2800" dirty="0" smtClean="0"/>
              <a:t>The </a:t>
            </a:r>
            <a:r>
              <a:rPr lang="fr-FR" sz="2800" dirty="0" err="1" smtClean="0"/>
              <a:t>other</a:t>
            </a:r>
            <a:r>
              <a:rPr lang="fr-FR" sz="2800" dirty="0" smtClean="0"/>
              <a:t> </a:t>
            </a:r>
            <a:r>
              <a:rPr lang="fr-FR" sz="2800" dirty="0" err="1" smtClean="0"/>
              <a:t>two</a:t>
            </a:r>
            <a:r>
              <a:rPr lang="fr-FR" sz="2800" dirty="0" smtClean="0"/>
              <a:t> are </a:t>
            </a:r>
            <a:r>
              <a:rPr lang="fr-FR" sz="2800" dirty="0" err="1" smtClean="0"/>
              <a:t>always</a:t>
            </a:r>
            <a:r>
              <a:rPr lang="fr-FR" sz="2800" dirty="0" smtClean="0"/>
              <a:t> </a:t>
            </a:r>
            <a:r>
              <a:rPr lang="fr-FR" sz="2800" dirty="0" err="1" smtClean="0"/>
              <a:t>coupled</a:t>
            </a:r>
            <a:r>
              <a:rPr lang="fr-FR" sz="2800" dirty="0" smtClean="0"/>
              <a:t> </a:t>
            </a:r>
            <a:r>
              <a:rPr lang="fr-FR" sz="2800" dirty="0" err="1" smtClean="0"/>
              <a:t>together</a:t>
            </a:r>
            <a:r>
              <a:rPr lang="fr-FR" sz="2800" dirty="0" smtClean="0"/>
              <a:t> in the </a:t>
            </a:r>
            <a:r>
              <a:rPr lang="fr-FR" sz="2800" dirty="0" err="1" smtClean="0"/>
              <a:t>tiling</a:t>
            </a:r>
            <a:endParaRPr lang="fr-FR" sz="2800" dirty="0"/>
          </a:p>
          <a:p>
            <a:endParaRPr lang="fr-FR" sz="2800" dirty="0"/>
          </a:p>
        </p:txBody>
      </p:sp>
      <p:pic>
        <p:nvPicPr>
          <p:cNvPr id="3" name="Image 2"/>
          <p:cNvPicPr>
            <a:picLocks noChangeAspect="1"/>
          </p:cNvPicPr>
          <p:nvPr/>
        </p:nvPicPr>
        <p:blipFill>
          <a:blip r:embed="rId2"/>
          <a:stretch>
            <a:fillRect/>
          </a:stretch>
        </p:blipFill>
        <p:spPr>
          <a:xfrm>
            <a:off x="765248" y="2080413"/>
            <a:ext cx="4166926" cy="2053577"/>
          </a:xfrm>
          <a:prstGeom prst="rect">
            <a:avLst/>
          </a:prstGeom>
        </p:spPr>
      </p:pic>
      <p:pic>
        <p:nvPicPr>
          <p:cNvPr id="10" name="Image 9"/>
          <p:cNvPicPr>
            <a:picLocks noChangeAspect="1"/>
          </p:cNvPicPr>
          <p:nvPr/>
        </p:nvPicPr>
        <p:blipFill>
          <a:blip r:embed="rId3"/>
          <a:stretch>
            <a:fillRect/>
          </a:stretch>
        </p:blipFill>
        <p:spPr>
          <a:xfrm>
            <a:off x="6529000" y="1143842"/>
            <a:ext cx="4427359" cy="2160312"/>
          </a:xfrm>
          <a:prstGeom prst="rect">
            <a:avLst/>
          </a:prstGeom>
        </p:spPr>
      </p:pic>
      <p:pic>
        <p:nvPicPr>
          <p:cNvPr id="11" name="Image 10"/>
          <p:cNvPicPr>
            <a:picLocks noChangeAspect="1"/>
          </p:cNvPicPr>
          <p:nvPr/>
        </p:nvPicPr>
        <p:blipFill>
          <a:blip r:embed="rId4"/>
          <a:stretch>
            <a:fillRect/>
          </a:stretch>
        </p:blipFill>
        <p:spPr>
          <a:xfrm>
            <a:off x="6360834" y="3304154"/>
            <a:ext cx="4410282" cy="2168851"/>
          </a:xfrm>
          <a:prstGeom prst="rect">
            <a:avLst/>
          </a:prstGeom>
        </p:spPr>
      </p:pic>
    </p:spTree>
    <p:extLst>
      <p:ext uri="{BB962C8B-B14F-4D97-AF65-F5344CB8AC3E}">
        <p14:creationId xmlns:p14="http://schemas.microsoft.com/office/powerpoint/2010/main" val="3034793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32</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Orientation of the EVEN tiles in the most frequent configuration</a:t>
            </a:r>
            <a:endParaRPr lang="fr-FR" b="1" dirty="0">
              <a:solidFill>
                <a:srgbClr val="C85350"/>
              </a:solidFill>
            </a:endParaRPr>
          </a:p>
        </p:txBody>
      </p:sp>
      <p:sp>
        <p:nvSpPr>
          <p:cNvPr id="14" name="ZoneTexte 13">
            <a:extLst>
              <a:ext uri="{FF2B5EF4-FFF2-40B4-BE49-F238E27FC236}">
                <a16:creationId xmlns:a16="http://schemas.microsoft.com/office/drawing/2014/main" id="{5C1DF85E-AE3C-4141-B8E3-32FC0D949336}"/>
              </a:ext>
            </a:extLst>
          </p:cNvPr>
          <p:cNvSpPr txBox="1"/>
          <p:nvPr/>
        </p:nvSpPr>
        <p:spPr>
          <a:xfrm>
            <a:off x="162627" y="1150568"/>
            <a:ext cx="2025316"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Tile</a:t>
            </a:r>
            <a:r>
              <a:rPr lang="fr-FR" sz="2800" dirty="0"/>
              <a:t>(1,1)</a:t>
            </a:r>
          </a:p>
          <a:p>
            <a:endParaRPr lang="fr-FR" sz="2800" dirty="0"/>
          </a:p>
        </p:txBody>
      </p:sp>
      <p:sp>
        <p:nvSpPr>
          <p:cNvPr id="8" name="ZoneTexte 7">
            <a:extLst>
              <a:ext uri="{FF2B5EF4-FFF2-40B4-BE49-F238E27FC236}">
                <a16:creationId xmlns:a16="http://schemas.microsoft.com/office/drawing/2014/main" id="{5C1DF85E-AE3C-4141-B8E3-32FC0D949336}"/>
              </a:ext>
            </a:extLst>
          </p:cNvPr>
          <p:cNvSpPr txBox="1"/>
          <p:nvPr/>
        </p:nvSpPr>
        <p:spPr>
          <a:xfrm>
            <a:off x="805213" y="5423163"/>
            <a:ext cx="11191172" cy="1569660"/>
          </a:xfrm>
          <a:prstGeom prst="rect">
            <a:avLst/>
          </a:prstGeom>
          <a:noFill/>
        </p:spPr>
        <p:txBody>
          <a:bodyPr wrap="square" rtlCol="0">
            <a:spAutoFit/>
          </a:bodyPr>
          <a:lstStyle/>
          <a:p>
            <a:pPr marL="457200" indent="-457200">
              <a:buFont typeface="Wingdings" panose="05000000000000000000" pitchFamily="2" charset="2"/>
              <a:buChar char="§"/>
            </a:pPr>
            <a:r>
              <a:rPr lang="fr-FR" sz="2400" dirty="0"/>
              <a:t>6 </a:t>
            </a:r>
            <a:r>
              <a:rPr lang="fr-FR" sz="2400" dirty="0" err="1"/>
              <a:t>tiles</a:t>
            </a:r>
            <a:r>
              <a:rPr lang="fr-FR" sz="2400" dirty="0"/>
              <a:t> in the C-cluster (corona made of M12, M4, M2, M12, M10, M8)</a:t>
            </a:r>
          </a:p>
          <a:p>
            <a:pPr marL="457200" indent="-457200">
              <a:buFont typeface="Wingdings" panose="05000000000000000000" pitchFamily="2" charset="2"/>
              <a:buChar char="§"/>
            </a:pPr>
            <a:r>
              <a:rPr lang="fr-FR" sz="2400" dirty="0"/>
              <a:t>3 </a:t>
            </a:r>
            <a:r>
              <a:rPr lang="fr-FR" sz="2400" dirty="0" err="1"/>
              <a:t>translated</a:t>
            </a:r>
            <a:r>
              <a:rPr lang="fr-FR" sz="2400" dirty="0"/>
              <a:t> (M2, M10, M12) (</a:t>
            </a:r>
            <a:r>
              <a:rPr lang="fr-FR" sz="2400" dirty="0" err="1"/>
              <a:t>along</a:t>
            </a:r>
            <a:r>
              <a:rPr lang="fr-FR" sz="2400" dirty="0"/>
              <a:t> </a:t>
            </a:r>
            <a:r>
              <a:rPr lang="fr-FR" sz="2400" dirty="0" err="1"/>
              <a:t>blue</a:t>
            </a:r>
            <a:r>
              <a:rPr lang="fr-FR" sz="2400" dirty="0"/>
              <a:t> </a:t>
            </a:r>
            <a:r>
              <a:rPr lang="fr-FR" sz="2400" dirty="0" err="1"/>
              <a:t>lines</a:t>
            </a:r>
            <a:r>
              <a:rPr lang="fr-FR" sz="2400" dirty="0"/>
              <a:t>, the </a:t>
            </a:r>
            <a:r>
              <a:rPr lang="fr-FR" sz="2400" dirty="0" err="1"/>
              <a:t>edges</a:t>
            </a:r>
            <a:r>
              <a:rPr lang="fr-FR" sz="2400" dirty="0"/>
              <a:t> of </a:t>
            </a:r>
            <a:r>
              <a:rPr lang="fr-FR" sz="2400" dirty="0" err="1"/>
              <a:t>blue</a:t>
            </a:r>
            <a:r>
              <a:rPr lang="fr-FR" sz="2400" dirty="0"/>
              <a:t> triangles)</a:t>
            </a:r>
          </a:p>
          <a:p>
            <a:pPr marL="457200" indent="-457200">
              <a:buFont typeface="Wingdings" panose="05000000000000000000" pitchFamily="2" charset="2"/>
              <a:buChar char="§"/>
            </a:pPr>
            <a:r>
              <a:rPr lang="fr-FR" sz="2400" dirty="0"/>
              <a:t>3 </a:t>
            </a:r>
            <a:r>
              <a:rPr lang="fr-FR" sz="2400" dirty="0" err="1"/>
              <a:t>half-turned</a:t>
            </a:r>
            <a:r>
              <a:rPr lang="fr-FR" sz="2400" dirty="0"/>
              <a:t> (M4-&gt;M10, M12 -&gt; M6, M8 -&gt; M2)</a:t>
            </a:r>
          </a:p>
          <a:p>
            <a:endParaRPr lang="fr-FR" sz="2400" dirty="0"/>
          </a:p>
        </p:txBody>
      </p:sp>
      <p:pic>
        <p:nvPicPr>
          <p:cNvPr id="9" name="Image 8"/>
          <p:cNvPicPr>
            <a:picLocks noChangeAspect="1"/>
          </p:cNvPicPr>
          <p:nvPr/>
        </p:nvPicPr>
        <p:blipFill>
          <a:blip r:embed="rId2"/>
          <a:stretch>
            <a:fillRect/>
          </a:stretch>
        </p:blipFill>
        <p:spPr>
          <a:xfrm>
            <a:off x="2372516" y="1503101"/>
            <a:ext cx="7609684" cy="3750264"/>
          </a:xfrm>
          <a:prstGeom prst="rect">
            <a:avLst/>
          </a:prstGeom>
        </p:spPr>
      </p:pic>
    </p:spTree>
    <p:extLst>
      <p:ext uri="{BB962C8B-B14F-4D97-AF65-F5344CB8AC3E}">
        <p14:creationId xmlns:p14="http://schemas.microsoft.com/office/powerpoint/2010/main" val="2322636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33</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71121" y="197485"/>
            <a:ext cx="11905620"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Construction for the whole tiling ???</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1159831" y="1113239"/>
            <a:ext cx="9728200" cy="5504540"/>
          </a:xfrm>
          <a:prstGeom prst="rect">
            <a:avLst/>
          </a:prstGeom>
        </p:spPr>
      </p:pic>
    </p:spTree>
    <p:extLst>
      <p:ext uri="{BB962C8B-B14F-4D97-AF65-F5344CB8AC3E}">
        <p14:creationId xmlns:p14="http://schemas.microsoft.com/office/powerpoint/2010/main" val="3137669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34</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71121" y="197485"/>
            <a:ext cx="11905620"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Three patterns in the whole tiling </a:t>
            </a:r>
            <a:r>
              <a:rPr lang="en-US" b="1" dirty="0">
                <a:solidFill>
                  <a:srgbClr val="C85350"/>
                </a:solidFill>
                <a:sym typeface="Wingdings" panose="05000000000000000000" pitchFamily="2" charset="2"/>
              </a:rPr>
              <a:t></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520965" y="1270090"/>
            <a:ext cx="3598915" cy="5086260"/>
          </a:xfrm>
          <a:prstGeom prst="rect">
            <a:avLst/>
          </a:prstGeom>
        </p:spPr>
      </p:pic>
      <p:pic>
        <p:nvPicPr>
          <p:cNvPr id="5" name="Image 4"/>
          <p:cNvPicPr>
            <a:picLocks noChangeAspect="1"/>
          </p:cNvPicPr>
          <p:nvPr/>
        </p:nvPicPr>
        <p:blipFill>
          <a:blip r:embed="rId3"/>
          <a:stretch>
            <a:fillRect/>
          </a:stretch>
        </p:blipFill>
        <p:spPr>
          <a:xfrm>
            <a:off x="4590364" y="1043748"/>
            <a:ext cx="7233920" cy="5695810"/>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2636168" y="6015692"/>
            <a:ext cx="2025316" cy="523220"/>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t>diabolo</a:t>
            </a:r>
            <a:endParaRPr lang="fr-FR" sz="2800" dirty="0"/>
          </a:p>
        </p:txBody>
      </p:sp>
      <p:sp>
        <p:nvSpPr>
          <p:cNvPr id="7" name="ZoneTexte 6">
            <a:extLst>
              <a:ext uri="{FF2B5EF4-FFF2-40B4-BE49-F238E27FC236}">
                <a16:creationId xmlns:a16="http://schemas.microsoft.com/office/drawing/2014/main" id="{5C1DF85E-AE3C-4141-B8E3-32FC0D949336}"/>
              </a:ext>
            </a:extLst>
          </p:cNvPr>
          <p:cNvSpPr txBox="1"/>
          <p:nvPr/>
        </p:nvSpPr>
        <p:spPr>
          <a:xfrm>
            <a:off x="140368" y="6277302"/>
            <a:ext cx="2025316" cy="523220"/>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t>2-arms</a:t>
            </a:r>
            <a:endParaRPr lang="fr-FR" sz="2800" dirty="0"/>
          </a:p>
        </p:txBody>
      </p:sp>
      <p:sp>
        <p:nvSpPr>
          <p:cNvPr id="8" name="ZoneTexte 7">
            <a:extLst>
              <a:ext uri="{FF2B5EF4-FFF2-40B4-BE49-F238E27FC236}">
                <a16:creationId xmlns:a16="http://schemas.microsoft.com/office/drawing/2014/main" id="{5C1DF85E-AE3C-4141-B8E3-32FC0D949336}"/>
              </a:ext>
            </a:extLst>
          </p:cNvPr>
          <p:cNvSpPr txBox="1"/>
          <p:nvPr/>
        </p:nvSpPr>
        <p:spPr>
          <a:xfrm>
            <a:off x="340050" y="1593542"/>
            <a:ext cx="2025316" cy="523220"/>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t>3-arms</a:t>
            </a:r>
            <a:endParaRPr lang="fr-FR" sz="2800" dirty="0"/>
          </a:p>
        </p:txBody>
      </p:sp>
    </p:spTree>
    <p:extLst>
      <p:ext uri="{BB962C8B-B14F-4D97-AF65-F5344CB8AC3E}">
        <p14:creationId xmlns:p14="http://schemas.microsoft.com/office/powerpoint/2010/main" val="3195974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35</a:t>
            </a:fld>
            <a:endParaRPr lang="fr-FR"/>
          </a:p>
        </p:txBody>
      </p:sp>
      <p:sp>
        <p:nvSpPr>
          <p:cNvPr id="7" name="Titre 1">
            <a:extLst>
              <a:ext uri="{FF2B5EF4-FFF2-40B4-BE49-F238E27FC236}">
                <a16:creationId xmlns:a16="http://schemas.microsoft.com/office/drawing/2014/main" id="{B3907A0E-9D07-4747-8DBA-D983A43A3D95}"/>
              </a:ext>
            </a:extLst>
          </p:cNvPr>
          <p:cNvSpPr txBox="1">
            <a:spLocks/>
          </p:cNvSpPr>
          <p:nvPr/>
        </p:nvSpPr>
        <p:spPr>
          <a:xfrm>
            <a:off x="215259" y="143018"/>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 pattern</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3451224" y="1725355"/>
            <a:ext cx="5086350" cy="3771900"/>
          </a:xfrm>
          <a:prstGeom prst="rect">
            <a:avLst/>
          </a:prstGeom>
        </p:spPr>
      </p:pic>
    </p:spTree>
    <p:extLst>
      <p:ext uri="{BB962C8B-B14F-4D97-AF65-F5344CB8AC3E}">
        <p14:creationId xmlns:p14="http://schemas.microsoft.com/office/powerpoint/2010/main" val="32283131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36</a:t>
            </a:fld>
            <a:endParaRPr lang="fr-FR"/>
          </a:p>
        </p:txBody>
      </p:sp>
      <p:pic>
        <p:nvPicPr>
          <p:cNvPr id="4" name="Image 3"/>
          <p:cNvPicPr>
            <a:picLocks noChangeAspect="1"/>
          </p:cNvPicPr>
          <p:nvPr/>
        </p:nvPicPr>
        <p:blipFill>
          <a:blip r:embed="rId2"/>
          <a:stretch>
            <a:fillRect/>
          </a:stretch>
        </p:blipFill>
        <p:spPr>
          <a:xfrm>
            <a:off x="0" y="143018"/>
            <a:ext cx="4572000" cy="6715125"/>
          </a:xfrm>
          <a:prstGeom prst="rect">
            <a:avLst/>
          </a:prstGeom>
        </p:spPr>
      </p:pic>
      <p:sp>
        <p:nvSpPr>
          <p:cNvPr id="6" name="Titre 1">
            <a:extLst>
              <a:ext uri="{FF2B5EF4-FFF2-40B4-BE49-F238E27FC236}">
                <a16:creationId xmlns:a16="http://schemas.microsoft.com/office/drawing/2014/main" id="{B3907A0E-9D07-4747-8DBA-D983A43A3D95}"/>
              </a:ext>
            </a:extLst>
          </p:cNvPr>
          <p:cNvSpPr txBox="1">
            <a:spLocks/>
          </p:cNvSpPr>
          <p:nvPr/>
        </p:nvSpPr>
        <p:spPr>
          <a:xfrm>
            <a:off x="313786" y="143018"/>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 pattern</a:t>
            </a:r>
            <a:endParaRPr lang="fr-FR" b="1" dirty="0">
              <a:solidFill>
                <a:srgbClr val="C85350"/>
              </a:solidFill>
            </a:endParaRPr>
          </a:p>
        </p:txBody>
      </p:sp>
      <p:pic>
        <p:nvPicPr>
          <p:cNvPr id="5" name="Image 4"/>
          <p:cNvPicPr>
            <a:picLocks noChangeAspect="1"/>
          </p:cNvPicPr>
          <p:nvPr/>
        </p:nvPicPr>
        <p:blipFill>
          <a:blip r:embed="rId3"/>
          <a:stretch>
            <a:fillRect/>
          </a:stretch>
        </p:blipFill>
        <p:spPr>
          <a:xfrm>
            <a:off x="4489653" y="984250"/>
            <a:ext cx="7696200" cy="5372100"/>
          </a:xfrm>
          <a:prstGeom prst="rect">
            <a:avLst/>
          </a:prstGeom>
        </p:spPr>
      </p:pic>
    </p:spTree>
    <p:extLst>
      <p:ext uri="{BB962C8B-B14F-4D97-AF65-F5344CB8AC3E}">
        <p14:creationId xmlns:p14="http://schemas.microsoft.com/office/powerpoint/2010/main" val="27696389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37</a:t>
            </a:fld>
            <a:endParaRPr lang="fr-FR"/>
          </a:p>
        </p:txBody>
      </p:sp>
      <p:sp>
        <p:nvSpPr>
          <p:cNvPr id="7" name="Titre 1">
            <a:extLst>
              <a:ext uri="{FF2B5EF4-FFF2-40B4-BE49-F238E27FC236}">
                <a16:creationId xmlns:a16="http://schemas.microsoft.com/office/drawing/2014/main" id="{B3907A0E-9D07-4747-8DBA-D983A43A3D95}"/>
              </a:ext>
            </a:extLst>
          </p:cNvPr>
          <p:cNvSpPr txBox="1">
            <a:spLocks/>
          </p:cNvSpPr>
          <p:nvPr/>
        </p:nvSpPr>
        <p:spPr>
          <a:xfrm>
            <a:off x="215259" y="143018"/>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 pattern</a:t>
            </a:r>
            <a:endParaRPr lang="fr-FR" b="1" dirty="0">
              <a:solidFill>
                <a:srgbClr val="C85350"/>
              </a:solidFill>
            </a:endParaRPr>
          </a:p>
        </p:txBody>
      </p:sp>
      <p:sp>
        <p:nvSpPr>
          <p:cNvPr id="6" name="ZoneTexte 5">
            <a:extLst>
              <a:ext uri="{FF2B5EF4-FFF2-40B4-BE49-F238E27FC236}">
                <a16:creationId xmlns:a16="http://schemas.microsoft.com/office/drawing/2014/main" id="{5C1DF85E-AE3C-4141-B8E3-32FC0D949336}"/>
              </a:ext>
            </a:extLst>
          </p:cNvPr>
          <p:cNvSpPr txBox="1"/>
          <p:nvPr/>
        </p:nvSpPr>
        <p:spPr>
          <a:xfrm>
            <a:off x="1233229" y="6027003"/>
            <a:ext cx="8747349"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t>Three</a:t>
            </a:r>
            <a:r>
              <a:rPr lang="fr-FR" sz="2400" dirty="0" smtClean="0"/>
              <a:t> orientations of the </a:t>
            </a:r>
            <a:r>
              <a:rPr lang="fr-FR" sz="2400" dirty="0" err="1" smtClean="0"/>
              <a:t>same</a:t>
            </a:r>
            <a:r>
              <a:rPr lang="fr-FR" sz="2400" dirty="0" smtClean="0"/>
              <a:t> diabolo pattern</a:t>
            </a:r>
            <a:endParaRPr lang="fr-FR" sz="2400" dirty="0"/>
          </a:p>
          <a:p>
            <a:endParaRPr lang="fr-FR" sz="2400" dirty="0"/>
          </a:p>
        </p:txBody>
      </p:sp>
      <p:pic>
        <p:nvPicPr>
          <p:cNvPr id="3" name="Image 2"/>
          <p:cNvPicPr>
            <a:picLocks noChangeAspect="1"/>
          </p:cNvPicPr>
          <p:nvPr/>
        </p:nvPicPr>
        <p:blipFill>
          <a:blip r:embed="rId2"/>
          <a:stretch>
            <a:fillRect/>
          </a:stretch>
        </p:blipFill>
        <p:spPr>
          <a:xfrm>
            <a:off x="551976" y="979449"/>
            <a:ext cx="11221564" cy="5047554"/>
          </a:xfrm>
          <a:prstGeom prst="rect">
            <a:avLst/>
          </a:prstGeom>
        </p:spPr>
      </p:pic>
    </p:spTree>
    <p:extLst>
      <p:ext uri="{BB962C8B-B14F-4D97-AF65-F5344CB8AC3E}">
        <p14:creationId xmlns:p14="http://schemas.microsoft.com/office/powerpoint/2010/main" val="1620455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38</a:t>
            </a:fld>
            <a:endParaRPr lang="fr-FR"/>
          </a:p>
        </p:txBody>
      </p:sp>
      <p:pic>
        <p:nvPicPr>
          <p:cNvPr id="4" name="Image 3"/>
          <p:cNvPicPr>
            <a:picLocks noChangeAspect="1"/>
          </p:cNvPicPr>
          <p:nvPr/>
        </p:nvPicPr>
        <p:blipFill>
          <a:blip r:embed="rId2"/>
          <a:stretch>
            <a:fillRect/>
          </a:stretch>
        </p:blipFill>
        <p:spPr>
          <a:xfrm>
            <a:off x="237977" y="236515"/>
            <a:ext cx="3797617" cy="5095208"/>
          </a:xfrm>
          <a:prstGeom prst="rect">
            <a:avLst/>
          </a:prstGeom>
        </p:spPr>
      </p:pic>
      <p:pic>
        <p:nvPicPr>
          <p:cNvPr id="5" name="Image 4"/>
          <p:cNvPicPr>
            <a:picLocks noChangeAspect="1"/>
          </p:cNvPicPr>
          <p:nvPr/>
        </p:nvPicPr>
        <p:blipFill>
          <a:blip r:embed="rId3"/>
          <a:stretch>
            <a:fillRect/>
          </a:stretch>
        </p:blipFill>
        <p:spPr>
          <a:xfrm>
            <a:off x="5994399" y="323532"/>
            <a:ext cx="4957277" cy="5099631"/>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805213" y="5423163"/>
            <a:ext cx="11191172" cy="1569660"/>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a:t>Two</a:t>
            </a:r>
            <a:r>
              <a:rPr lang="fr-FR" sz="2400" dirty="0"/>
              <a:t> ‘croissants’ of 4 clusters</a:t>
            </a:r>
          </a:p>
          <a:p>
            <a:pPr marL="457200" indent="-457200">
              <a:buFont typeface="Wingdings" panose="05000000000000000000" pitchFamily="2" charset="2"/>
              <a:buChar char="§"/>
            </a:pPr>
            <a:r>
              <a:rPr lang="fr-FR" sz="2400" dirty="0" err="1"/>
              <a:t>Two</a:t>
            </a:r>
            <a:r>
              <a:rPr lang="fr-FR" sz="2400" dirty="0"/>
              <a:t> </a:t>
            </a:r>
            <a:r>
              <a:rPr lang="fr-FR" sz="2400" dirty="0" err="1"/>
              <a:t>translated</a:t>
            </a:r>
            <a:r>
              <a:rPr lang="fr-FR" sz="2400" dirty="0"/>
              <a:t> </a:t>
            </a:r>
            <a:r>
              <a:rPr lang="fr-FR" sz="2400" dirty="0" err="1"/>
              <a:t>monotiles</a:t>
            </a:r>
            <a:r>
              <a:rPr lang="fr-FR" sz="2400" dirty="0"/>
              <a:t> in the middle + superposition of glue points</a:t>
            </a:r>
          </a:p>
          <a:p>
            <a:pPr marL="457200" indent="-457200">
              <a:buFont typeface="Wingdings" panose="05000000000000000000" pitchFamily="2" charset="2"/>
              <a:buChar char="§"/>
            </a:pPr>
            <a:r>
              <a:rPr lang="fr-FR" sz="2400" dirty="0" err="1"/>
              <a:t>Easy</a:t>
            </a:r>
            <a:r>
              <a:rPr lang="fr-FR" sz="2400" dirty="0"/>
              <a:t> to code ! </a:t>
            </a:r>
            <a:r>
              <a:rPr lang="fr-FR" sz="2400" dirty="0">
                <a:sym typeface="Wingdings" panose="05000000000000000000" pitchFamily="2" charset="2"/>
              </a:rPr>
              <a:t></a:t>
            </a:r>
            <a:endParaRPr lang="fr-FR" sz="2400" dirty="0"/>
          </a:p>
          <a:p>
            <a:endParaRPr lang="fr-FR" sz="2400" dirty="0"/>
          </a:p>
        </p:txBody>
      </p:sp>
      <p:sp>
        <p:nvSpPr>
          <p:cNvPr id="7" name="Titre 1">
            <a:extLst>
              <a:ext uri="{FF2B5EF4-FFF2-40B4-BE49-F238E27FC236}">
                <a16:creationId xmlns:a16="http://schemas.microsoft.com/office/drawing/2014/main" id="{B3907A0E-9D07-4747-8DBA-D983A43A3D95}"/>
              </a:ext>
            </a:extLst>
          </p:cNvPr>
          <p:cNvSpPr txBox="1">
            <a:spLocks/>
          </p:cNvSpPr>
          <p:nvPr/>
        </p:nvSpPr>
        <p:spPr>
          <a:xfrm>
            <a:off x="215259" y="143018"/>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Two-arms chiral </a:t>
            </a:r>
            <a:r>
              <a:rPr lang="en-US" b="1" dirty="0">
                <a:solidFill>
                  <a:srgbClr val="C85350"/>
                </a:solidFill>
              </a:rPr>
              <a:t>pattern</a:t>
            </a:r>
            <a:endParaRPr lang="fr-FR" b="1" dirty="0">
              <a:solidFill>
                <a:srgbClr val="C85350"/>
              </a:solidFill>
            </a:endParaRPr>
          </a:p>
        </p:txBody>
      </p:sp>
    </p:spTree>
    <p:extLst>
      <p:ext uri="{BB962C8B-B14F-4D97-AF65-F5344CB8AC3E}">
        <p14:creationId xmlns:p14="http://schemas.microsoft.com/office/powerpoint/2010/main" val="1249301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39</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Link with triangular pattern</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646527" y="1269999"/>
            <a:ext cx="4804630" cy="4996815"/>
          </a:xfrm>
          <a:prstGeom prst="rect">
            <a:avLst/>
          </a:prstGeom>
        </p:spPr>
      </p:pic>
      <p:pic>
        <p:nvPicPr>
          <p:cNvPr id="6" name="Image 5"/>
          <p:cNvPicPr>
            <a:picLocks noChangeAspect="1"/>
          </p:cNvPicPr>
          <p:nvPr/>
        </p:nvPicPr>
        <p:blipFill>
          <a:blip r:embed="rId3"/>
          <a:stretch>
            <a:fillRect/>
          </a:stretch>
        </p:blipFill>
        <p:spPr>
          <a:xfrm>
            <a:off x="5953760" y="1035840"/>
            <a:ext cx="4946091" cy="5024600"/>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785568" y="6027003"/>
            <a:ext cx="11191172"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t>The </a:t>
            </a:r>
            <a:r>
              <a:rPr lang="fr-FR" sz="2400" dirty="0" err="1" smtClean="0"/>
              <a:t>two</a:t>
            </a:r>
            <a:r>
              <a:rPr lang="fr-FR" sz="2400" dirty="0" smtClean="0"/>
              <a:t> </a:t>
            </a:r>
            <a:r>
              <a:rPr lang="fr-FR" sz="2400" dirty="0" err="1" smtClean="0"/>
              <a:t>other</a:t>
            </a:r>
            <a:r>
              <a:rPr lang="fr-FR" sz="2400" dirty="0" smtClean="0"/>
              <a:t> environnements </a:t>
            </a:r>
            <a:r>
              <a:rPr lang="fr-FR" sz="2400" dirty="0" err="1" smtClean="0"/>
              <a:t>with</a:t>
            </a:r>
            <a:r>
              <a:rPr lang="fr-FR" sz="2400" dirty="0" smtClean="0"/>
              <a:t> a violet </a:t>
            </a:r>
            <a:r>
              <a:rPr lang="fr-FR" sz="2400" dirty="0" err="1" smtClean="0"/>
              <a:t>lines</a:t>
            </a:r>
            <a:r>
              <a:rPr lang="fr-FR" sz="2400" dirty="0" smtClean="0"/>
              <a:t> are </a:t>
            </a:r>
            <a:r>
              <a:rPr lang="fr-FR" sz="2400" dirty="0" err="1" smtClean="0"/>
              <a:t>always</a:t>
            </a:r>
            <a:r>
              <a:rPr lang="fr-FR" sz="2400" dirty="0" smtClean="0"/>
              <a:t> </a:t>
            </a:r>
            <a:r>
              <a:rPr lang="fr-FR" sz="2400" dirty="0" err="1" smtClean="0"/>
              <a:t>coupled</a:t>
            </a:r>
            <a:r>
              <a:rPr lang="fr-FR" sz="2400" dirty="0" smtClean="0"/>
              <a:t> </a:t>
            </a:r>
            <a:r>
              <a:rPr lang="fr-FR" sz="2400" dirty="0" err="1" smtClean="0"/>
              <a:t>together</a:t>
            </a:r>
            <a:endParaRPr lang="fr-FR" sz="2400" dirty="0"/>
          </a:p>
          <a:p>
            <a:endParaRPr lang="fr-FR" sz="2400" dirty="0"/>
          </a:p>
        </p:txBody>
      </p:sp>
    </p:spTree>
    <p:extLst>
      <p:ext uri="{BB962C8B-B14F-4D97-AF65-F5344CB8AC3E}">
        <p14:creationId xmlns:p14="http://schemas.microsoft.com/office/powerpoint/2010/main" val="2616834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40</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840195" y="1166024"/>
            <a:ext cx="6714807" cy="5190326"/>
          </a:xfrm>
          <a:prstGeom prst="rect">
            <a:avLst/>
          </a:prstGeom>
        </p:spPr>
      </p:pic>
    </p:spTree>
    <p:extLst>
      <p:ext uri="{BB962C8B-B14F-4D97-AF65-F5344CB8AC3E}">
        <p14:creationId xmlns:p14="http://schemas.microsoft.com/office/powerpoint/2010/main" val="2868838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41</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2863849" y="1002778"/>
            <a:ext cx="6667500" cy="5067300"/>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1313213" y="6061858"/>
            <a:ext cx="1119117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solidFill>
                  <a:srgbClr val="FF0000"/>
                </a:solidFill>
              </a:rPr>
              <a:t>8 </a:t>
            </a:r>
            <a:r>
              <a:rPr lang="fr-FR" sz="2800" dirty="0" err="1">
                <a:solidFill>
                  <a:srgbClr val="FF0000"/>
                </a:solidFill>
              </a:rPr>
              <a:t>combinations</a:t>
            </a:r>
            <a:r>
              <a:rPr lang="fr-FR" sz="2800" dirty="0">
                <a:solidFill>
                  <a:srgbClr val="FF0000"/>
                </a:solidFill>
              </a:rPr>
              <a:t> for a </a:t>
            </a:r>
            <a:r>
              <a:rPr lang="fr-FR" sz="2800" dirty="0" err="1">
                <a:solidFill>
                  <a:srgbClr val="FF0000"/>
                </a:solidFill>
              </a:rPr>
              <a:t>given</a:t>
            </a:r>
            <a:r>
              <a:rPr lang="fr-FR" sz="2800" dirty="0">
                <a:solidFill>
                  <a:srgbClr val="FF0000"/>
                </a:solidFill>
              </a:rPr>
              <a:t> cluster orientation (green crosses)</a:t>
            </a:r>
          </a:p>
          <a:p>
            <a:endParaRPr lang="fr-FR" sz="2800" dirty="0">
              <a:solidFill>
                <a:srgbClr val="FF0000"/>
              </a:solidFill>
            </a:endParaRPr>
          </a:p>
        </p:txBody>
      </p:sp>
    </p:spTree>
    <p:extLst>
      <p:ext uri="{BB962C8B-B14F-4D97-AF65-F5344CB8AC3E}">
        <p14:creationId xmlns:p14="http://schemas.microsoft.com/office/powerpoint/2010/main" val="24224261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42</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2692400" y="1505801"/>
            <a:ext cx="6561137" cy="4719414"/>
          </a:xfrm>
          <a:prstGeom prst="rect">
            <a:avLst/>
          </a:prstGeom>
        </p:spPr>
      </p:pic>
    </p:spTree>
    <p:extLst>
      <p:ext uri="{BB962C8B-B14F-4D97-AF65-F5344CB8AC3E}">
        <p14:creationId xmlns:p14="http://schemas.microsoft.com/office/powerpoint/2010/main" val="24732874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43</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four </a:t>
            </a:r>
            <a:r>
              <a:rPr lang="en-US" b="1" dirty="0">
                <a:solidFill>
                  <a:srgbClr val="C85350"/>
                </a:solidFill>
              </a:rPr>
              <a:t>orientations of the </a:t>
            </a:r>
            <a:r>
              <a:rPr lang="en-US" b="1" dirty="0" smtClean="0">
                <a:solidFill>
                  <a:srgbClr val="C85350"/>
                </a:solidFill>
              </a:rPr>
              <a:t>3-arms</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3721099" y="1230924"/>
            <a:ext cx="5368925" cy="5490551"/>
          </a:xfrm>
          <a:prstGeom prst="rect">
            <a:avLst/>
          </a:prstGeom>
        </p:spPr>
      </p:pic>
    </p:spTree>
    <p:extLst>
      <p:ext uri="{BB962C8B-B14F-4D97-AF65-F5344CB8AC3E}">
        <p14:creationId xmlns:p14="http://schemas.microsoft.com/office/powerpoint/2010/main" val="10228588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44</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New puzzle</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798761" y="1187450"/>
            <a:ext cx="7362825" cy="5534025"/>
          </a:xfrm>
          <a:prstGeom prst="rect">
            <a:avLst/>
          </a:prstGeom>
        </p:spPr>
      </p:pic>
    </p:spTree>
    <p:extLst>
      <p:ext uri="{BB962C8B-B14F-4D97-AF65-F5344CB8AC3E}">
        <p14:creationId xmlns:p14="http://schemas.microsoft.com/office/powerpoint/2010/main" val="18865246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45</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New puzzle</a:t>
            </a:r>
            <a:endParaRPr lang="fr-FR" b="1" dirty="0">
              <a:solidFill>
                <a:srgbClr val="C85350"/>
              </a:solidFill>
            </a:endParaRPr>
          </a:p>
        </p:txBody>
      </p:sp>
      <p:pic>
        <p:nvPicPr>
          <p:cNvPr id="6" name="Image 5"/>
          <p:cNvPicPr>
            <a:picLocks noChangeAspect="1"/>
          </p:cNvPicPr>
          <p:nvPr/>
        </p:nvPicPr>
        <p:blipFill>
          <a:blip r:embed="rId2"/>
          <a:stretch>
            <a:fillRect/>
          </a:stretch>
        </p:blipFill>
        <p:spPr>
          <a:xfrm>
            <a:off x="2462211" y="1050827"/>
            <a:ext cx="7456489" cy="5807173"/>
          </a:xfrm>
          <a:prstGeom prst="rect">
            <a:avLst/>
          </a:prstGeom>
        </p:spPr>
      </p:pic>
    </p:spTree>
    <p:extLst>
      <p:ext uri="{BB962C8B-B14F-4D97-AF65-F5344CB8AC3E}">
        <p14:creationId xmlns:p14="http://schemas.microsoft.com/office/powerpoint/2010/main" val="37905677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46</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stars</a:t>
            </a:r>
            <a:endParaRPr lang="fr-FR" b="1" dirty="0">
              <a:solidFill>
                <a:srgbClr val="C85350"/>
              </a:solidFill>
            </a:endParaRPr>
          </a:p>
        </p:txBody>
      </p:sp>
      <p:sp>
        <p:nvSpPr>
          <p:cNvPr id="6" name="ZoneTexte 5">
            <a:extLst>
              <a:ext uri="{FF2B5EF4-FFF2-40B4-BE49-F238E27FC236}">
                <a16:creationId xmlns:a16="http://schemas.microsoft.com/office/drawing/2014/main" id="{5C1DF85E-AE3C-4141-B8E3-32FC0D949336}"/>
              </a:ext>
            </a:extLst>
          </p:cNvPr>
          <p:cNvSpPr txBox="1"/>
          <p:nvPr/>
        </p:nvSpPr>
        <p:spPr>
          <a:xfrm>
            <a:off x="2253013" y="6061858"/>
            <a:ext cx="1119117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solidFill>
                  <a:srgbClr val="FF0000"/>
                </a:solidFill>
              </a:rPr>
              <a:t>Small and large stars </a:t>
            </a:r>
            <a:r>
              <a:rPr lang="fr-FR" sz="2800" dirty="0" err="1" smtClean="0">
                <a:solidFill>
                  <a:srgbClr val="FF0000"/>
                </a:solidFill>
              </a:rPr>
              <a:t>with</a:t>
            </a:r>
            <a:r>
              <a:rPr lang="fr-FR" sz="2800" dirty="0" smtClean="0">
                <a:solidFill>
                  <a:srgbClr val="FF0000"/>
                </a:solidFill>
              </a:rPr>
              <a:t> </a:t>
            </a:r>
            <a:r>
              <a:rPr lang="fr-FR" sz="2800" dirty="0" err="1" smtClean="0">
                <a:solidFill>
                  <a:srgbClr val="FF0000"/>
                </a:solidFill>
              </a:rPr>
              <a:t>two</a:t>
            </a:r>
            <a:r>
              <a:rPr lang="fr-FR" sz="2800" dirty="0" smtClean="0">
                <a:solidFill>
                  <a:srgbClr val="FF0000"/>
                </a:solidFill>
              </a:rPr>
              <a:t> possible orientations</a:t>
            </a:r>
            <a:endParaRPr lang="fr-FR" sz="2800" dirty="0">
              <a:solidFill>
                <a:srgbClr val="FF0000"/>
              </a:solidFill>
            </a:endParaRPr>
          </a:p>
          <a:p>
            <a:endParaRPr lang="fr-FR" sz="2800" dirty="0">
              <a:solidFill>
                <a:srgbClr val="FF0000"/>
              </a:solidFill>
            </a:endParaRPr>
          </a:p>
        </p:txBody>
      </p:sp>
      <p:pic>
        <p:nvPicPr>
          <p:cNvPr id="5" name="Image 4"/>
          <p:cNvPicPr>
            <a:picLocks noChangeAspect="1"/>
          </p:cNvPicPr>
          <p:nvPr/>
        </p:nvPicPr>
        <p:blipFill>
          <a:blip r:embed="rId2"/>
          <a:stretch>
            <a:fillRect/>
          </a:stretch>
        </p:blipFill>
        <p:spPr>
          <a:xfrm>
            <a:off x="3467893" y="1021863"/>
            <a:ext cx="5459412" cy="5039995"/>
          </a:xfrm>
          <a:prstGeom prst="rect">
            <a:avLst/>
          </a:prstGeom>
        </p:spPr>
      </p:pic>
    </p:spTree>
    <p:extLst>
      <p:ext uri="{BB962C8B-B14F-4D97-AF65-F5344CB8AC3E}">
        <p14:creationId xmlns:p14="http://schemas.microsoft.com/office/powerpoint/2010/main" val="15936797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47</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Small stars connect the orange triangles </a:t>
            </a:r>
            <a:endParaRPr lang="fr-FR" b="1" dirty="0">
              <a:solidFill>
                <a:srgbClr val="C85350"/>
              </a:solidFill>
            </a:endParaRPr>
          </a:p>
        </p:txBody>
      </p:sp>
      <p:pic>
        <p:nvPicPr>
          <p:cNvPr id="7" name="Image 6"/>
          <p:cNvPicPr>
            <a:picLocks noChangeAspect="1"/>
          </p:cNvPicPr>
          <p:nvPr/>
        </p:nvPicPr>
        <p:blipFill>
          <a:blip r:embed="rId2"/>
          <a:stretch>
            <a:fillRect/>
          </a:stretch>
        </p:blipFill>
        <p:spPr>
          <a:xfrm>
            <a:off x="1412874" y="1168079"/>
            <a:ext cx="9569450" cy="4893779"/>
          </a:xfrm>
          <a:prstGeom prst="rect">
            <a:avLst/>
          </a:prstGeom>
        </p:spPr>
      </p:pic>
      <p:sp>
        <p:nvSpPr>
          <p:cNvPr id="8" name="ZoneTexte 7">
            <a:extLst>
              <a:ext uri="{FF2B5EF4-FFF2-40B4-BE49-F238E27FC236}">
                <a16:creationId xmlns:a16="http://schemas.microsoft.com/office/drawing/2014/main" id="{5C1DF85E-AE3C-4141-B8E3-32FC0D949336}"/>
              </a:ext>
            </a:extLst>
          </p:cNvPr>
          <p:cNvSpPr txBox="1"/>
          <p:nvPr/>
        </p:nvSpPr>
        <p:spPr>
          <a:xfrm>
            <a:off x="793749" y="6201455"/>
            <a:ext cx="10807699"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Possibility</a:t>
            </a:r>
            <a:r>
              <a:rPr lang="fr-FR" sz="2400" dirty="0" smtClean="0">
                <a:solidFill>
                  <a:srgbClr val="FF0000"/>
                </a:solidFill>
              </a:rPr>
              <a:t> to </a:t>
            </a:r>
            <a:r>
              <a:rPr lang="fr-FR" sz="2400" dirty="0" err="1" smtClean="0">
                <a:solidFill>
                  <a:srgbClr val="FF0000"/>
                </a:solidFill>
              </a:rPr>
              <a:t>obtain</a:t>
            </a:r>
            <a:r>
              <a:rPr lang="fr-FR" sz="2400" dirty="0" smtClean="0">
                <a:solidFill>
                  <a:srgbClr val="FF0000"/>
                </a:solidFill>
              </a:rPr>
              <a:t> the relative positions </a:t>
            </a:r>
            <a:r>
              <a:rPr lang="fr-FR" sz="2400" dirty="0" err="1" smtClean="0">
                <a:solidFill>
                  <a:srgbClr val="FF0000"/>
                </a:solidFill>
              </a:rPr>
              <a:t>between</a:t>
            </a:r>
            <a:r>
              <a:rPr lang="fr-FR" sz="2400" dirty="0" smtClean="0">
                <a:solidFill>
                  <a:srgbClr val="FF0000"/>
                </a:solidFill>
              </a:rPr>
              <a:t> diabolo, 2-arms and 3-arms</a:t>
            </a:r>
            <a:endParaRPr lang="fr-FR" sz="2400" dirty="0">
              <a:solidFill>
                <a:srgbClr val="FF0000"/>
              </a:solidFill>
            </a:endParaRPr>
          </a:p>
          <a:p>
            <a:endParaRPr lang="fr-FR" sz="2400" dirty="0">
              <a:solidFill>
                <a:srgbClr val="FF0000"/>
              </a:solidFill>
            </a:endParaRPr>
          </a:p>
        </p:txBody>
      </p:sp>
    </p:spTree>
    <p:extLst>
      <p:ext uri="{BB962C8B-B14F-4D97-AF65-F5344CB8AC3E}">
        <p14:creationId xmlns:p14="http://schemas.microsoft.com/office/powerpoint/2010/main" val="25032453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48</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10 environments (C1 orientation)</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194560" y="1098319"/>
            <a:ext cx="8036877" cy="4970826"/>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2623853" y="6123413"/>
            <a:ext cx="11191172"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a:t>Left</a:t>
            </a:r>
            <a:r>
              <a:rPr lang="fr-FR" sz="2400" dirty="0"/>
              <a:t> </a:t>
            </a:r>
            <a:r>
              <a:rPr lang="fr-FR" sz="2400" dirty="0" err="1"/>
              <a:t>handed</a:t>
            </a:r>
            <a:r>
              <a:rPr lang="fr-FR" sz="2400" dirty="0"/>
              <a:t> version of the figure in </a:t>
            </a:r>
            <a:r>
              <a:rPr lang="fr-FR" sz="2400" dirty="0" err="1"/>
              <a:t>Arnaud’s</a:t>
            </a:r>
            <a:r>
              <a:rPr lang="fr-FR" sz="2400" dirty="0"/>
              <a:t> </a:t>
            </a:r>
            <a:r>
              <a:rPr lang="fr-FR" sz="2400" dirty="0" err="1"/>
              <a:t>paper</a:t>
            </a:r>
            <a:r>
              <a:rPr lang="fr-FR" sz="2400" dirty="0"/>
              <a:t>.</a:t>
            </a:r>
          </a:p>
          <a:p>
            <a:endParaRPr lang="fr-FR" sz="2400" dirty="0"/>
          </a:p>
        </p:txBody>
      </p:sp>
      <p:sp>
        <p:nvSpPr>
          <p:cNvPr id="8" name="Rectangle 7"/>
          <p:cNvSpPr/>
          <p:nvPr/>
        </p:nvSpPr>
        <p:spPr>
          <a:xfrm>
            <a:off x="508497" y="6516880"/>
            <a:ext cx="11875141" cy="369332"/>
          </a:xfrm>
          <a:prstGeom prst="rect">
            <a:avLst/>
          </a:prstGeom>
        </p:spPr>
        <p:txBody>
          <a:bodyPr wrap="square">
            <a:spAutoFit/>
          </a:bodyPr>
          <a:lstStyle/>
          <a:p>
            <a:r>
              <a:rPr lang="en-US" dirty="0" err="1">
                <a:latin typeface="CMR10"/>
              </a:rPr>
              <a:t>Chéritat</a:t>
            </a:r>
            <a:r>
              <a:rPr lang="en-US" dirty="0">
                <a:latin typeface="CMR10"/>
              </a:rPr>
              <a:t>, A., (2024). Observations on the hex clusters of the </a:t>
            </a:r>
            <a:r>
              <a:rPr lang="en-US" dirty="0" err="1">
                <a:latin typeface="CMR10"/>
              </a:rPr>
              <a:t>spectre</a:t>
            </a:r>
            <a:r>
              <a:rPr lang="en-US" dirty="0">
                <a:latin typeface="CMR10"/>
              </a:rPr>
              <a:t> </a:t>
            </a:r>
            <a:r>
              <a:rPr lang="en-US" dirty="0" err="1">
                <a:latin typeface="CMR10"/>
              </a:rPr>
              <a:t>tilings</a:t>
            </a:r>
            <a:r>
              <a:rPr lang="en-US" dirty="0">
                <a:latin typeface="CMR10"/>
              </a:rPr>
              <a:t>. </a:t>
            </a:r>
            <a:r>
              <a:rPr lang="fr-FR" dirty="0">
                <a:latin typeface="CMR10"/>
                <a:hlinkClick r:id="rId3"/>
              </a:rPr>
              <a:t>https://arxiv.org/abs/2407.05359</a:t>
            </a:r>
            <a:endParaRPr lang="fr-FR" dirty="0">
              <a:latin typeface="CMR10"/>
            </a:endParaRPr>
          </a:p>
        </p:txBody>
      </p:sp>
    </p:spTree>
    <p:extLst>
      <p:ext uri="{BB962C8B-B14F-4D97-AF65-F5344CB8AC3E}">
        <p14:creationId xmlns:p14="http://schemas.microsoft.com/office/powerpoint/2010/main" val="32632432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49</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10 environments for C1</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090612" y="977900"/>
            <a:ext cx="10620375" cy="5743575"/>
          </a:xfrm>
          <a:prstGeom prst="rect">
            <a:avLst/>
          </a:prstGeom>
        </p:spPr>
      </p:pic>
    </p:spTree>
    <p:extLst>
      <p:ext uri="{BB962C8B-B14F-4D97-AF65-F5344CB8AC3E}">
        <p14:creationId xmlns:p14="http://schemas.microsoft.com/office/powerpoint/2010/main" val="31696417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50</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10 environments for C1</a:t>
            </a:r>
            <a:endParaRPr lang="fr-FR" b="1" dirty="0">
              <a:solidFill>
                <a:srgbClr val="C85350"/>
              </a:solidFill>
            </a:endParaRPr>
          </a:p>
        </p:txBody>
      </p:sp>
      <p:pic>
        <p:nvPicPr>
          <p:cNvPr id="9" name="Image 8"/>
          <p:cNvPicPr>
            <a:picLocks noChangeAspect="1"/>
          </p:cNvPicPr>
          <p:nvPr/>
        </p:nvPicPr>
        <p:blipFill>
          <a:blip r:embed="rId2"/>
          <a:stretch>
            <a:fillRect/>
          </a:stretch>
        </p:blipFill>
        <p:spPr>
          <a:xfrm>
            <a:off x="136188" y="1133775"/>
            <a:ext cx="11875140" cy="5222575"/>
          </a:xfrm>
          <a:prstGeom prst="rect">
            <a:avLst/>
          </a:prstGeom>
        </p:spPr>
      </p:pic>
    </p:spTree>
    <p:extLst>
      <p:ext uri="{BB962C8B-B14F-4D97-AF65-F5344CB8AC3E}">
        <p14:creationId xmlns:p14="http://schemas.microsoft.com/office/powerpoint/2010/main" val="29774856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51</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8 different locations in the chiral pattern</a:t>
            </a:r>
            <a:endParaRPr lang="fr-FR" b="1" dirty="0">
              <a:solidFill>
                <a:srgbClr val="C85350"/>
              </a:solidFill>
            </a:endParaRPr>
          </a:p>
        </p:txBody>
      </p:sp>
      <p:pic>
        <p:nvPicPr>
          <p:cNvPr id="6" name="Image 5"/>
          <p:cNvPicPr>
            <a:picLocks noChangeAspect="1"/>
          </p:cNvPicPr>
          <p:nvPr/>
        </p:nvPicPr>
        <p:blipFill>
          <a:blip r:embed="rId2"/>
          <a:stretch>
            <a:fillRect/>
          </a:stretch>
        </p:blipFill>
        <p:spPr>
          <a:xfrm>
            <a:off x="2499360" y="1146734"/>
            <a:ext cx="7746047" cy="5574741"/>
          </a:xfrm>
          <a:prstGeom prst="rect">
            <a:avLst/>
          </a:prstGeom>
        </p:spPr>
      </p:pic>
    </p:spTree>
    <p:extLst>
      <p:ext uri="{BB962C8B-B14F-4D97-AF65-F5344CB8AC3E}">
        <p14:creationId xmlns:p14="http://schemas.microsoft.com/office/powerpoint/2010/main" val="10832991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52</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10 environments (capital </a:t>
            </a:r>
            <a:r>
              <a:rPr lang="en-US" b="1" dirty="0" err="1">
                <a:solidFill>
                  <a:srgbClr val="C85350"/>
                </a:solidFill>
              </a:rPr>
              <a:t>greek</a:t>
            </a:r>
            <a:r>
              <a:rPr lang="en-US" b="1" dirty="0">
                <a:solidFill>
                  <a:srgbClr val="C85350"/>
                </a:solidFill>
              </a:rPr>
              <a:t> letters)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292032" y="1175702"/>
            <a:ext cx="7953375" cy="5095875"/>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2623853" y="6123413"/>
            <a:ext cx="11191172"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a:t>Need</a:t>
            </a:r>
            <a:r>
              <a:rPr lang="fr-FR" sz="2400" dirty="0"/>
              <a:t> to </a:t>
            </a:r>
            <a:r>
              <a:rPr lang="fr-FR" sz="2400" dirty="0" err="1"/>
              <a:t>reduce</a:t>
            </a:r>
            <a:r>
              <a:rPr lang="fr-FR" sz="2400" dirty="0"/>
              <a:t> to 8 </a:t>
            </a:r>
            <a:r>
              <a:rPr lang="fr-FR" sz="2400" dirty="0" err="1"/>
              <a:t>environments</a:t>
            </a:r>
            <a:r>
              <a:rPr lang="fr-FR" sz="2400" dirty="0"/>
              <a:t> ?</a:t>
            </a:r>
          </a:p>
          <a:p>
            <a:endParaRPr lang="fr-FR" sz="2400" dirty="0"/>
          </a:p>
        </p:txBody>
      </p:sp>
    </p:spTree>
    <p:extLst>
      <p:ext uri="{BB962C8B-B14F-4D97-AF65-F5344CB8AC3E}">
        <p14:creationId xmlns:p14="http://schemas.microsoft.com/office/powerpoint/2010/main" val="37276516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53</a:t>
            </a:fld>
            <a:endParaRPr lang="fr-FR"/>
          </a:p>
        </p:txBody>
      </p:sp>
      <p:pic>
        <p:nvPicPr>
          <p:cNvPr id="3" name="Image 2"/>
          <p:cNvPicPr>
            <a:picLocks noChangeAspect="1"/>
          </p:cNvPicPr>
          <p:nvPr/>
        </p:nvPicPr>
        <p:blipFill>
          <a:blip r:embed="rId2"/>
          <a:stretch>
            <a:fillRect/>
          </a:stretch>
        </p:blipFill>
        <p:spPr>
          <a:xfrm>
            <a:off x="1403350" y="1037419"/>
            <a:ext cx="5715000" cy="4949598"/>
          </a:xfrm>
          <a:prstGeom prst="rect">
            <a:avLst/>
          </a:prstGeom>
        </p:spPr>
      </p:pic>
      <p:sp>
        <p:nvSpPr>
          <p:cNvPr id="12" name="Rectangle 11"/>
          <p:cNvSpPr/>
          <p:nvPr/>
        </p:nvSpPr>
        <p:spPr>
          <a:xfrm>
            <a:off x="445435" y="6169580"/>
            <a:ext cx="11875141" cy="369332"/>
          </a:xfrm>
          <a:prstGeom prst="rect">
            <a:avLst/>
          </a:prstGeom>
        </p:spPr>
        <p:txBody>
          <a:bodyPr wrap="square">
            <a:spAutoFit/>
          </a:bodyPr>
          <a:lstStyle/>
          <a:p>
            <a:r>
              <a:rPr lang="en-US" dirty="0" err="1">
                <a:latin typeface="CMR10"/>
              </a:rPr>
              <a:t>Chéritat</a:t>
            </a:r>
            <a:r>
              <a:rPr lang="en-US" dirty="0">
                <a:latin typeface="CMR10"/>
              </a:rPr>
              <a:t>, A., (2024). Observations on the hex clusters of the </a:t>
            </a:r>
            <a:r>
              <a:rPr lang="en-US" dirty="0" err="1">
                <a:latin typeface="CMR10"/>
              </a:rPr>
              <a:t>spectre</a:t>
            </a:r>
            <a:r>
              <a:rPr lang="en-US" dirty="0">
                <a:latin typeface="CMR10"/>
              </a:rPr>
              <a:t> </a:t>
            </a:r>
            <a:r>
              <a:rPr lang="en-US" dirty="0" err="1">
                <a:latin typeface="CMR10"/>
              </a:rPr>
              <a:t>tilings</a:t>
            </a:r>
            <a:r>
              <a:rPr lang="en-US" dirty="0">
                <a:latin typeface="CMR10"/>
              </a:rPr>
              <a:t>. </a:t>
            </a:r>
            <a:r>
              <a:rPr lang="fr-FR" dirty="0">
                <a:latin typeface="CMR10"/>
                <a:hlinkClick r:id="rId3"/>
              </a:rPr>
              <a:t>https://arxiv.org/abs/2407.05359</a:t>
            </a:r>
            <a:endParaRPr lang="fr-FR" dirty="0">
              <a:latin typeface="CMR10"/>
            </a:endParaRPr>
          </a:p>
        </p:txBody>
      </p:sp>
      <p:sp>
        <p:nvSpPr>
          <p:cNvPr id="15" name="Titre 1">
            <a:extLst>
              <a:ext uri="{FF2B5EF4-FFF2-40B4-BE49-F238E27FC236}">
                <a16:creationId xmlns:a16="http://schemas.microsoft.com/office/drawing/2014/main" id="{051A3091-2EA5-465A-A4C4-48DDA269330D}"/>
              </a:ext>
            </a:extLst>
          </p:cNvPr>
          <p:cNvSpPr txBox="1">
            <a:spLocks/>
          </p:cNvSpPr>
          <p:nvPr/>
        </p:nvSpPr>
        <p:spPr>
          <a:xfrm>
            <a:off x="7333944" y="2541538"/>
            <a:ext cx="4676752" cy="60679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b="1" dirty="0">
                <a:solidFill>
                  <a:srgbClr val="FF0000"/>
                </a:solidFill>
              </a:rPr>
              <a:t>To do:</a:t>
            </a:r>
          </a:p>
          <a:p>
            <a:r>
              <a:rPr lang="fr-FR" sz="3200" b="1" dirty="0" err="1">
                <a:solidFill>
                  <a:srgbClr val="FF0000"/>
                </a:solidFill>
              </a:rPr>
              <a:t>Locate</a:t>
            </a:r>
            <a:r>
              <a:rPr lang="fr-FR" sz="3200" b="1" dirty="0">
                <a:solidFill>
                  <a:srgbClr val="FF0000"/>
                </a:solidFill>
              </a:rPr>
              <a:t> the 8 hexagonal clusters in the chiral pattern</a:t>
            </a:r>
          </a:p>
        </p:txBody>
      </p:sp>
      <p:sp>
        <p:nvSpPr>
          <p:cNvPr id="16"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8 types of hexagonal clusters</a:t>
            </a:r>
            <a:endParaRPr lang="fr-FR" b="1" dirty="0">
              <a:solidFill>
                <a:srgbClr val="C85350"/>
              </a:solidFill>
            </a:endParaRPr>
          </a:p>
        </p:txBody>
      </p:sp>
      <p:pic>
        <p:nvPicPr>
          <p:cNvPr id="4" name="Image 3"/>
          <p:cNvPicPr>
            <a:picLocks noChangeAspect="1"/>
          </p:cNvPicPr>
          <p:nvPr/>
        </p:nvPicPr>
        <p:blipFill>
          <a:blip r:embed="rId4"/>
          <a:stretch>
            <a:fillRect/>
          </a:stretch>
        </p:blipFill>
        <p:spPr>
          <a:xfrm>
            <a:off x="1957411" y="3247899"/>
            <a:ext cx="640054" cy="528637"/>
          </a:xfrm>
          <a:prstGeom prst="rect">
            <a:avLst/>
          </a:prstGeom>
        </p:spPr>
      </p:pic>
    </p:spTree>
    <p:extLst>
      <p:ext uri="{BB962C8B-B14F-4D97-AF65-F5344CB8AC3E}">
        <p14:creationId xmlns:p14="http://schemas.microsoft.com/office/powerpoint/2010/main" val="10071392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54</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a:solidFill>
                  <a:srgbClr val="C85350"/>
                </a:solidFill>
              </a:rPr>
              <a:t>Homochiral</a:t>
            </a:r>
            <a:r>
              <a:rPr lang="en-US" b="1" dirty="0">
                <a:solidFill>
                  <a:srgbClr val="C85350"/>
                </a:solidFill>
              </a:rPr>
              <a:t> python code on </a:t>
            </a:r>
            <a:r>
              <a:rPr lang="en-US" b="1" dirty="0" err="1">
                <a:solidFill>
                  <a:srgbClr val="C85350"/>
                </a:solidFill>
              </a:rPr>
              <a:t>github</a:t>
            </a:r>
            <a:endParaRPr lang="fr-FR" b="1" dirty="0">
              <a:solidFill>
                <a:srgbClr val="C85350"/>
              </a:solidFill>
            </a:endParaRPr>
          </a:p>
        </p:txBody>
      </p:sp>
      <p:sp>
        <p:nvSpPr>
          <p:cNvPr id="4" name="ZoneTexte 3">
            <a:extLst>
              <a:ext uri="{FF2B5EF4-FFF2-40B4-BE49-F238E27FC236}">
                <a16:creationId xmlns:a16="http://schemas.microsoft.com/office/drawing/2014/main" id="{5C1DF85E-AE3C-4141-B8E3-32FC0D949336}"/>
              </a:ext>
            </a:extLst>
          </p:cNvPr>
          <p:cNvSpPr txBox="1"/>
          <p:nvPr/>
        </p:nvSpPr>
        <p:spPr>
          <a:xfrm>
            <a:off x="441434" y="1447271"/>
            <a:ext cx="11217166" cy="5262979"/>
          </a:xfrm>
          <a:prstGeom prst="rect">
            <a:avLst/>
          </a:prstGeom>
          <a:noFill/>
        </p:spPr>
        <p:txBody>
          <a:bodyPr wrap="square" rtlCol="0">
            <a:spAutoFit/>
          </a:bodyPr>
          <a:lstStyle/>
          <a:p>
            <a:pPr marL="457200" indent="-457200">
              <a:buFont typeface="Wingdings" panose="05000000000000000000" pitchFamily="2" charset="2"/>
              <a:buChar char="§"/>
            </a:pPr>
            <a:r>
              <a:rPr lang="fr-FR" sz="2800" dirty="0"/>
              <a:t>Under construction !</a:t>
            </a:r>
          </a:p>
          <a:p>
            <a:pPr marL="457200" indent="-457200">
              <a:buFont typeface="Wingdings" panose="05000000000000000000" pitchFamily="2" charset="2"/>
              <a:buChar char="§"/>
            </a:pPr>
            <a:r>
              <a:rPr lang="fr-FR" sz="2800" dirty="0">
                <a:hlinkClick r:id="rId2"/>
              </a:rPr>
              <a:t>https://github.com/marimperorclerc/homochiral</a:t>
            </a:r>
            <a:endParaRPr lang="fr-FR" sz="2800" dirty="0"/>
          </a:p>
          <a:p>
            <a:pPr marL="457200" indent="-457200">
              <a:buFont typeface="Wingdings" panose="05000000000000000000" pitchFamily="2" charset="2"/>
              <a:buChar char="§"/>
            </a:pPr>
            <a:endParaRPr lang="fr-FR" sz="2800" dirty="0"/>
          </a:p>
          <a:p>
            <a:r>
              <a:rPr lang="en-US" sz="2800" dirty="0"/>
              <a:t>python code for drawing clusters with Tile(</a:t>
            </a:r>
            <a:r>
              <a:rPr lang="en-US" sz="2800" dirty="0" err="1"/>
              <a:t>a,b</a:t>
            </a:r>
            <a:r>
              <a:rPr lang="en-US" sz="2800" dirty="0"/>
              <a:t>) in </a:t>
            </a:r>
            <a:r>
              <a:rPr lang="en-US" sz="2800" dirty="0" err="1"/>
              <a:t>svg</a:t>
            </a:r>
            <a:r>
              <a:rPr lang="en-US" sz="2800" dirty="0"/>
              <a:t> graphics.</a:t>
            </a:r>
          </a:p>
          <a:p>
            <a:endParaRPr lang="en-US" sz="2800" dirty="0"/>
          </a:p>
          <a:p>
            <a:r>
              <a:rPr lang="en-US" sz="2800" b="1" dirty="0"/>
              <a:t>References</a:t>
            </a:r>
          </a:p>
          <a:p>
            <a:r>
              <a:rPr lang="en-US" sz="2800" dirty="0"/>
              <a:t>Code is based on the </a:t>
            </a:r>
            <a:r>
              <a:rPr lang="en-US" sz="2800" dirty="0" err="1"/>
              <a:t>drawsvg</a:t>
            </a:r>
            <a:r>
              <a:rPr lang="en-US" sz="2800" dirty="0"/>
              <a:t> package: </a:t>
            </a:r>
          </a:p>
          <a:p>
            <a:r>
              <a:rPr lang="en-US" sz="2800" dirty="0">
                <a:hlinkClick r:id="rId3"/>
              </a:rPr>
              <a:t>https://pypi.org/project/drawsvg/</a:t>
            </a:r>
            <a:endParaRPr lang="en-US" sz="2800" dirty="0"/>
          </a:p>
          <a:p>
            <a:r>
              <a:rPr lang="en-US" sz="2800" dirty="0"/>
              <a:t>And the python code with alternate chirality for inflation for </a:t>
            </a:r>
            <a:r>
              <a:rPr lang="en-US" sz="2800" dirty="0" err="1"/>
              <a:t>spectre</a:t>
            </a:r>
            <a:r>
              <a:rPr lang="en-US" sz="2800" dirty="0"/>
              <a:t> tiling: </a:t>
            </a:r>
          </a:p>
          <a:p>
            <a:r>
              <a:rPr lang="en-US" sz="2800" dirty="0">
                <a:hlinkClick r:id="rId4"/>
              </a:rPr>
              <a:t>https://github.com/shrx/spectre/blob/master/spectre.py</a:t>
            </a:r>
            <a:endParaRPr lang="en-US" sz="2800" dirty="0"/>
          </a:p>
          <a:p>
            <a:pPr marL="457200" indent="-457200">
              <a:buFont typeface="Wingdings" panose="05000000000000000000" pitchFamily="2" charset="2"/>
              <a:buChar char="§"/>
            </a:pPr>
            <a:endParaRPr lang="fr-FR" sz="2800" dirty="0"/>
          </a:p>
          <a:p>
            <a:endParaRPr lang="fr-FR" sz="2800" dirty="0"/>
          </a:p>
        </p:txBody>
      </p:sp>
    </p:spTree>
    <p:extLst>
      <p:ext uri="{BB962C8B-B14F-4D97-AF65-F5344CB8AC3E}">
        <p14:creationId xmlns:p14="http://schemas.microsoft.com/office/powerpoint/2010/main" val="18703783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55</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 substitution rule for C1</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395286" y="1696516"/>
            <a:ext cx="11401425" cy="3476625"/>
          </a:xfrm>
          <a:prstGeom prst="rect">
            <a:avLst/>
          </a:prstGeom>
        </p:spPr>
      </p:pic>
      <p:sp>
        <p:nvSpPr>
          <p:cNvPr id="9" name="ZoneTexte 8">
            <a:extLst>
              <a:ext uri="{FF2B5EF4-FFF2-40B4-BE49-F238E27FC236}">
                <a16:creationId xmlns:a16="http://schemas.microsoft.com/office/drawing/2014/main" id="{5C1DF85E-AE3C-4141-B8E3-32FC0D949336}"/>
              </a:ext>
            </a:extLst>
          </p:cNvPr>
          <p:cNvSpPr txBox="1"/>
          <p:nvPr/>
        </p:nvSpPr>
        <p:spPr>
          <a:xfrm>
            <a:off x="865754" y="1099289"/>
            <a:ext cx="2685636" cy="523220"/>
          </a:xfrm>
          <a:prstGeom prst="rect">
            <a:avLst/>
          </a:prstGeom>
          <a:noFill/>
        </p:spPr>
        <p:txBody>
          <a:bodyPr wrap="square" rtlCol="0">
            <a:spAutoFit/>
          </a:bodyPr>
          <a:lstStyle/>
          <a:p>
            <a:r>
              <a:rPr lang="fr-FR" sz="2800" dirty="0"/>
              <a:t>EVEN </a:t>
            </a:r>
            <a:r>
              <a:rPr lang="fr-FR" sz="2800" dirty="0" err="1"/>
              <a:t>tiles</a:t>
            </a:r>
            <a:r>
              <a:rPr lang="fr-FR" sz="2800" dirty="0"/>
              <a:t> in C1</a:t>
            </a:r>
          </a:p>
        </p:txBody>
      </p:sp>
      <p:sp>
        <p:nvSpPr>
          <p:cNvPr id="10" name="ZoneTexte 9">
            <a:extLst>
              <a:ext uri="{FF2B5EF4-FFF2-40B4-BE49-F238E27FC236}">
                <a16:creationId xmlns:a16="http://schemas.microsoft.com/office/drawing/2014/main" id="{5C1DF85E-AE3C-4141-B8E3-32FC0D949336}"/>
              </a:ext>
            </a:extLst>
          </p:cNvPr>
          <p:cNvSpPr txBox="1"/>
          <p:nvPr/>
        </p:nvSpPr>
        <p:spPr>
          <a:xfrm>
            <a:off x="4347279" y="1114011"/>
            <a:ext cx="3497440" cy="523220"/>
          </a:xfrm>
          <a:prstGeom prst="rect">
            <a:avLst/>
          </a:prstGeom>
          <a:noFill/>
        </p:spPr>
        <p:txBody>
          <a:bodyPr wrap="square" rtlCol="0">
            <a:spAutoFit/>
          </a:bodyPr>
          <a:lstStyle/>
          <a:p>
            <a:r>
              <a:rPr lang="fr-FR" sz="2800" dirty="0"/>
              <a:t>ODD </a:t>
            </a:r>
            <a:r>
              <a:rPr lang="fr-FR" sz="2800" dirty="0" err="1"/>
              <a:t>tiles</a:t>
            </a:r>
            <a:r>
              <a:rPr lang="fr-FR" sz="2800" dirty="0"/>
              <a:t> for </a:t>
            </a:r>
            <a:r>
              <a:rPr lang="fr-FR" sz="2800" dirty="0" err="1"/>
              <a:t>step</a:t>
            </a:r>
            <a:r>
              <a:rPr lang="fr-FR" sz="2800" dirty="0"/>
              <a:t> 1</a:t>
            </a:r>
          </a:p>
        </p:txBody>
      </p:sp>
      <p:sp>
        <p:nvSpPr>
          <p:cNvPr id="11" name="ZoneTexte 10">
            <a:extLst>
              <a:ext uri="{FF2B5EF4-FFF2-40B4-BE49-F238E27FC236}">
                <a16:creationId xmlns:a16="http://schemas.microsoft.com/office/drawing/2014/main" id="{5C1DF85E-AE3C-4141-B8E3-32FC0D949336}"/>
              </a:ext>
            </a:extLst>
          </p:cNvPr>
          <p:cNvSpPr txBox="1"/>
          <p:nvPr/>
        </p:nvSpPr>
        <p:spPr>
          <a:xfrm>
            <a:off x="8362096" y="1075919"/>
            <a:ext cx="3685503" cy="523220"/>
          </a:xfrm>
          <a:prstGeom prst="rect">
            <a:avLst/>
          </a:prstGeom>
          <a:noFill/>
        </p:spPr>
        <p:txBody>
          <a:bodyPr wrap="square" rtlCol="0">
            <a:spAutoFit/>
          </a:bodyPr>
          <a:lstStyle/>
          <a:p>
            <a:r>
              <a:rPr lang="fr-FR" sz="2800" dirty="0" err="1"/>
              <a:t>same</a:t>
            </a:r>
            <a:r>
              <a:rPr lang="fr-FR" sz="2800" dirty="0"/>
              <a:t> as full clusters</a:t>
            </a:r>
          </a:p>
        </p:txBody>
      </p:sp>
      <p:sp>
        <p:nvSpPr>
          <p:cNvPr id="12" name="ZoneTexte 11">
            <a:extLst>
              <a:ext uri="{FF2B5EF4-FFF2-40B4-BE49-F238E27FC236}">
                <a16:creationId xmlns:a16="http://schemas.microsoft.com/office/drawing/2014/main" id="{5C1DF85E-AE3C-4141-B8E3-32FC0D949336}"/>
              </a:ext>
            </a:extLst>
          </p:cNvPr>
          <p:cNvSpPr txBox="1"/>
          <p:nvPr/>
        </p:nvSpPr>
        <p:spPr>
          <a:xfrm>
            <a:off x="316859" y="5246570"/>
            <a:ext cx="11654422" cy="1631216"/>
          </a:xfrm>
          <a:prstGeom prst="rect">
            <a:avLst/>
          </a:prstGeom>
          <a:noFill/>
        </p:spPr>
        <p:txBody>
          <a:bodyPr wrap="square" rtlCol="0">
            <a:spAutoFit/>
          </a:bodyPr>
          <a:lstStyle/>
          <a:p>
            <a:pPr marL="457200" indent="-457200">
              <a:buFont typeface="Wingdings" panose="05000000000000000000" pitchFamily="2" charset="2"/>
              <a:buChar char="§"/>
            </a:pPr>
            <a:r>
              <a:rPr lang="fr-FR" sz="2000" dirty="0"/>
              <a:t>ODD </a:t>
            </a:r>
            <a:r>
              <a:rPr lang="fr-FR" sz="2000" dirty="0" err="1"/>
              <a:t>tiles</a:t>
            </a:r>
            <a:r>
              <a:rPr lang="fr-FR" sz="2000" dirty="0"/>
              <a:t> for </a:t>
            </a:r>
            <a:r>
              <a:rPr lang="fr-FR" sz="2000" dirty="0" err="1"/>
              <a:t>step</a:t>
            </a:r>
            <a:r>
              <a:rPr lang="fr-FR" sz="2000" dirty="0"/>
              <a:t> 1 are </a:t>
            </a:r>
            <a:r>
              <a:rPr lang="fr-FR" sz="2000" dirty="0" err="1"/>
              <a:t>obtained</a:t>
            </a:r>
            <a:r>
              <a:rPr lang="fr-FR" sz="2000" dirty="0"/>
              <a:t> by </a:t>
            </a:r>
            <a:r>
              <a:rPr lang="fr-FR" sz="2000" dirty="0" err="1"/>
              <a:t>adding</a:t>
            </a:r>
            <a:r>
              <a:rPr lang="fr-FR" sz="2000" dirty="0"/>
              <a:t> 1 (</a:t>
            </a:r>
            <a:r>
              <a:rPr lang="fr-FR" sz="2000" dirty="0" err="1"/>
              <a:t>mod</a:t>
            </a:r>
            <a:r>
              <a:rPr lang="fr-FR" sz="2000" dirty="0"/>
              <a:t> 12) to all EVEN </a:t>
            </a:r>
            <a:r>
              <a:rPr lang="fr-FR" sz="2000" dirty="0" err="1"/>
              <a:t>tiles</a:t>
            </a:r>
            <a:r>
              <a:rPr lang="fr-FR" sz="2000" dirty="0"/>
              <a:t> in the C cluster (6 </a:t>
            </a:r>
            <a:r>
              <a:rPr lang="fr-FR" sz="2000" dirty="0" err="1"/>
              <a:t>tiles</a:t>
            </a:r>
            <a:r>
              <a:rPr lang="fr-FR" sz="2000" dirty="0"/>
              <a:t>)</a:t>
            </a:r>
          </a:p>
          <a:p>
            <a:pPr marL="457200" indent="-457200">
              <a:buFont typeface="Wingdings" panose="05000000000000000000" pitchFamily="2" charset="2"/>
              <a:buChar char="§"/>
            </a:pPr>
            <a:r>
              <a:rPr lang="fr-FR" sz="2000" dirty="0"/>
              <a:t>Directions of </a:t>
            </a:r>
            <a:r>
              <a:rPr lang="fr-FR" sz="2000" dirty="0" err="1"/>
              <a:t>translated</a:t>
            </a:r>
            <a:r>
              <a:rPr lang="fr-FR" sz="2000" dirty="0"/>
              <a:t> and </a:t>
            </a:r>
            <a:r>
              <a:rPr lang="fr-FR" sz="2000" dirty="0" err="1"/>
              <a:t>half-turned</a:t>
            </a:r>
            <a:r>
              <a:rPr lang="fr-FR" sz="2000" dirty="0"/>
              <a:t> </a:t>
            </a:r>
            <a:r>
              <a:rPr lang="fr-FR" sz="2000" dirty="0" err="1"/>
              <a:t>tiles</a:t>
            </a:r>
            <a:r>
              <a:rPr lang="fr-FR" sz="2000" dirty="0"/>
              <a:t> are </a:t>
            </a:r>
            <a:r>
              <a:rPr lang="fr-FR" sz="2000" dirty="0" err="1"/>
              <a:t>exchanged</a:t>
            </a:r>
            <a:r>
              <a:rPr lang="fr-FR" sz="2000" dirty="0"/>
              <a:t> (</a:t>
            </a:r>
            <a:r>
              <a:rPr lang="fr-FR" sz="2000" b="1" dirty="0" err="1"/>
              <a:t>see</a:t>
            </a:r>
            <a:r>
              <a:rPr lang="fr-FR" sz="2000" b="1" dirty="0"/>
              <a:t> the change of position for green points</a:t>
            </a:r>
            <a:r>
              <a:rPr lang="fr-FR" sz="2000" dirty="0"/>
              <a:t>). </a:t>
            </a:r>
            <a:r>
              <a:rPr lang="fr-FR" sz="2000" dirty="0" err="1"/>
              <a:t>Then</a:t>
            </a:r>
            <a:r>
              <a:rPr lang="fr-FR" sz="2000" dirty="0"/>
              <a:t> </a:t>
            </a:r>
            <a:r>
              <a:rPr lang="fr-FR" sz="2000" dirty="0" err="1"/>
              <a:t>three</a:t>
            </a:r>
            <a:r>
              <a:rPr lang="fr-FR" sz="2000" dirty="0"/>
              <a:t> </a:t>
            </a:r>
            <a:r>
              <a:rPr lang="fr-FR" sz="2000" dirty="0" err="1"/>
              <a:t>tiles</a:t>
            </a:r>
            <a:r>
              <a:rPr lang="fr-FR" sz="2000" dirty="0"/>
              <a:t> are </a:t>
            </a:r>
            <a:r>
              <a:rPr lang="fr-FR" sz="2000" dirty="0" err="1"/>
              <a:t>translated</a:t>
            </a:r>
            <a:r>
              <a:rPr lang="fr-FR" sz="2000" dirty="0"/>
              <a:t> (M1, M3, M11) and </a:t>
            </a:r>
            <a:r>
              <a:rPr lang="fr-FR" sz="2000" dirty="0" err="1"/>
              <a:t>three</a:t>
            </a:r>
            <a:r>
              <a:rPr lang="fr-FR" sz="2000" dirty="0"/>
              <a:t> are </a:t>
            </a:r>
            <a:r>
              <a:rPr lang="fr-FR" sz="2000" dirty="0" err="1"/>
              <a:t>half-turned</a:t>
            </a:r>
            <a:r>
              <a:rPr lang="fr-FR" sz="2000" dirty="0"/>
              <a:t> (M5-&gt;M11, M1 -&gt; M7, M9 -&gt; M3)</a:t>
            </a:r>
          </a:p>
          <a:p>
            <a:pPr marL="457200" indent="-457200">
              <a:buFont typeface="Wingdings" panose="05000000000000000000" pitchFamily="2" charset="2"/>
              <a:buChar char="§"/>
            </a:pPr>
            <a:r>
              <a:rPr lang="fr-FR" sz="2000" dirty="0"/>
              <a:t>ODD </a:t>
            </a:r>
            <a:r>
              <a:rPr lang="fr-FR" sz="2000" dirty="0" err="1"/>
              <a:t>tile</a:t>
            </a:r>
            <a:r>
              <a:rPr lang="fr-FR" sz="2000" dirty="0"/>
              <a:t> index </a:t>
            </a:r>
            <a:r>
              <a:rPr lang="fr-FR" sz="2000" dirty="0" err="1"/>
              <a:t>is</a:t>
            </a:r>
            <a:r>
              <a:rPr lang="fr-FR" sz="2000" dirty="0"/>
              <a:t> </a:t>
            </a:r>
            <a:r>
              <a:rPr lang="fr-FR" sz="2000" dirty="0" err="1"/>
              <a:t>equivalent</a:t>
            </a:r>
            <a:r>
              <a:rPr lang="fr-FR" sz="2000" dirty="0"/>
              <a:t> to the orientation of a full C cluster </a:t>
            </a:r>
            <a:r>
              <a:rPr lang="fr-FR" sz="2000" dirty="0">
                <a:sym typeface="Wingdings" panose="05000000000000000000" pitchFamily="2" charset="2"/>
              </a:rPr>
              <a:t></a:t>
            </a:r>
            <a:endParaRPr lang="fr-FR" sz="2000" dirty="0"/>
          </a:p>
          <a:p>
            <a:endParaRPr lang="fr-FR" sz="2000" dirty="0"/>
          </a:p>
        </p:txBody>
      </p:sp>
    </p:spTree>
    <p:extLst>
      <p:ext uri="{BB962C8B-B14F-4D97-AF65-F5344CB8AC3E}">
        <p14:creationId xmlns:p14="http://schemas.microsoft.com/office/powerpoint/2010/main" val="39864966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56</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a:t>
            </a:r>
            <a:endParaRPr lang="fr-FR" b="1" dirty="0">
              <a:solidFill>
                <a:srgbClr val="C85350"/>
              </a:solidFill>
            </a:endParaRPr>
          </a:p>
        </p:txBody>
      </p:sp>
      <p:pic>
        <p:nvPicPr>
          <p:cNvPr id="5" name="Image 4"/>
          <p:cNvPicPr>
            <a:picLocks noChangeAspect="1"/>
          </p:cNvPicPr>
          <p:nvPr/>
        </p:nvPicPr>
        <p:blipFill>
          <a:blip r:embed="rId3"/>
          <a:stretch>
            <a:fillRect/>
          </a:stretch>
        </p:blipFill>
        <p:spPr>
          <a:xfrm>
            <a:off x="2160434" y="1171070"/>
            <a:ext cx="8300709" cy="4840236"/>
          </a:xfrm>
          <a:prstGeom prst="rect">
            <a:avLst/>
          </a:prstGeom>
        </p:spPr>
      </p:pic>
      <p:pic>
        <p:nvPicPr>
          <p:cNvPr id="6" name="Image 5"/>
          <p:cNvPicPr>
            <a:picLocks noChangeAspect="1"/>
          </p:cNvPicPr>
          <p:nvPr/>
        </p:nvPicPr>
        <p:blipFill>
          <a:blip r:embed="rId4"/>
          <a:stretch>
            <a:fillRect/>
          </a:stretch>
        </p:blipFill>
        <p:spPr>
          <a:xfrm>
            <a:off x="1889760" y="4431578"/>
            <a:ext cx="2111057" cy="2107334"/>
          </a:xfrm>
          <a:prstGeom prst="rect">
            <a:avLst/>
          </a:prstGeom>
        </p:spPr>
      </p:pic>
    </p:spTree>
    <p:extLst>
      <p:ext uri="{BB962C8B-B14F-4D97-AF65-F5344CB8AC3E}">
        <p14:creationId xmlns:p14="http://schemas.microsoft.com/office/powerpoint/2010/main" val="26389791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57</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422400" y="1462626"/>
            <a:ext cx="9478962" cy="3763423"/>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167335" y="5584805"/>
            <a:ext cx="1198909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t>Directions </a:t>
            </a:r>
            <a:r>
              <a:rPr lang="fr-FR" sz="2800" dirty="0" err="1"/>
              <a:t>along</a:t>
            </a:r>
            <a:r>
              <a:rPr lang="fr-FR" sz="2800" dirty="0"/>
              <a:t> the </a:t>
            </a:r>
            <a:r>
              <a:rPr lang="fr-FR" sz="2800" dirty="0" err="1"/>
              <a:t>blue</a:t>
            </a:r>
            <a:r>
              <a:rPr lang="fr-FR" sz="2800" dirty="0"/>
              <a:t> </a:t>
            </a:r>
            <a:r>
              <a:rPr lang="fr-FR" sz="2800" dirty="0" err="1"/>
              <a:t>lines</a:t>
            </a:r>
            <a:r>
              <a:rPr lang="fr-FR" sz="2800" dirty="0"/>
              <a:t> are the </a:t>
            </a:r>
            <a:r>
              <a:rPr lang="fr-FR" sz="2800" dirty="0" err="1"/>
              <a:t>edge</a:t>
            </a:r>
            <a:r>
              <a:rPr lang="fr-FR" sz="2800" dirty="0"/>
              <a:t> directions of the </a:t>
            </a:r>
            <a:r>
              <a:rPr lang="fr-FR" sz="2800" dirty="0" err="1"/>
              <a:t>blue</a:t>
            </a:r>
            <a:r>
              <a:rPr lang="fr-FR" sz="2800" dirty="0"/>
              <a:t> triangles !!!</a:t>
            </a:r>
          </a:p>
          <a:p>
            <a:endParaRPr lang="fr-FR" sz="2800" dirty="0"/>
          </a:p>
        </p:txBody>
      </p:sp>
    </p:spTree>
    <p:extLst>
      <p:ext uri="{BB962C8B-B14F-4D97-AF65-F5344CB8AC3E}">
        <p14:creationId xmlns:p14="http://schemas.microsoft.com/office/powerpoint/2010/main" val="19922704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58</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 for full cluster C1</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1587500" y="1081952"/>
            <a:ext cx="9179890" cy="4685416"/>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202908" y="5442569"/>
            <a:ext cx="11989092" cy="1631216"/>
          </a:xfrm>
          <a:prstGeom prst="rect">
            <a:avLst/>
          </a:prstGeom>
          <a:noFill/>
        </p:spPr>
        <p:txBody>
          <a:bodyPr wrap="square" rtlCol="0">
            <a:spAutoFit/>
          </a:bodyPr>
          <a:lstStyle/>
          <a:p>
            <a:pPr marL="457200" indent="-457200">
              <a:buFont typeface="Wingdings" panose="05000000000000000000" pitchFamily="2" charset="2"/>
              <a:buChar char="§"/>
            </a:pPr>
            <a:r>
              <a:rPr lang="fr-FR" sz="2000" dirty="0" err="1"/>
              <a:t>Assembly</a:t>
            </a:r>
            <a:r>
              <a:rPr lang="fr-FR" sz="2000" dirty="0"/>
              <a:t> of the 12 full clusters </a:t>
            </a:r>
            <a:r>
              <a:rPr lang="fr-FR" sz="2000" dirty="0" err="1"/>
              <a:t>works</a:t>
            </a:r>
            <a:r>
              <a:rPr lang="fr-FR" sz="2000" dirty="0"/>
              <a:t> fine !!! (</a:t>
            </a:r>
            <a:r>
              <a:rPr lang="fr-FR" sz="2000" dirty="0" err="1"/>
              <a:t>done</a:t>
            </a:r>
            <a:r>
              <a:rPr lang="fr-FR" sz="2000" dirty="0"/>
              <a:t> </a:t>
            </a:r>
            <a:r>
              <a:rPr lang="fr-FR" sz="2000" dirty="0" err="1"/>
              <a:t>manually</a:t>
            </a:r>
            <a:r>
              <a:rPr lang="fr-FR" sz="2000" dirty="0"/>
              <a:t> </a:t>
            </a:r>
            <a:r>
              <a:rPr lang="fr-FR" sz="2000" dirty="0" err="1"/>
              <a:t>so</a:t>
            </a:r>
            <a:r>
              <a:rPr lang="fr-FR" sz="2000" dirty="0"/>
              <a:t> far for the relative positions of clusters)</a:t>
            </a:r>
          </a:p>
          <a:p>
            <a:pPr marL="457200" indent="-457200">
              <a:buFont typeface="Wingdings" panose="05000000000000000000" pitchFamily="2" charset="2"/>
              <a:buChar char="§"/>
            </a:pPr>
            <a:r>
              <a:rPr lang="fr-FR" sz="2000" dirty="0" err="1"/>
              <a:t>Some</a:t>
            </a:r>
            <a:r>
              <a:rPr lang="fr-FR" sz="2000" dirty="0"/>
              <a:t> </a:t>
            </a:r>
            <a:r>
              <a:rPr lang="fr-FR" sz="2000" dirty="0" err="1"/>
              <a:t>tiles</a:t>
            </a:r>
            <a:r>
              <a:rPr lang="fr-FR" sz="2000" dirty="0"/>
              <a:t> are </a:t>
            </a:r>
            <a:r>
              <a:rPr lang="fr-FR" sz="2000" dirty="0" err="1"/>
              <a:t>superimposed</a:t>
            </a:r>
            <a:endParaRPr lang="fr-FR" sz="2000" dirty="0"/>
          </a:p>
          <a:p>
            <a:pPr marL="457200" indent="-457200">
              <a:buFont typeface="Wingdings" panose="05000000000000000000" pitchFamily="2" charset="2"/>
              <a:buChar char="§"/>
            </a:pPr>
            <a:r>
              <a:rPr lang="fr-FR" sz="2000" dirty="0" err="1"/>
              <a:t>Some</a:t>
            </a:r>
            <a:r>
              <a:rPr lang="fr-FR" sz="2000" dirty="0"/>
              <a:t> </a:t>
            </a:r>
            <a:r>
              <a:rPr lang="fr-FR" sz="2000" dirty="0" err="1"/>
              <a:t>half-turned</a:t>
            </a:r>
            <a:r>
              <a:rPr lang="fr-FR" sz="2000" dirty="0"/>
              <a:t> </a:t>
            </a:r>
            <a:r>
              <a:rPr lang="fr-FR" sz="2000" dirty="0" err="1"/>
              <a:t>tiles</a:t>
            </a:r>
            <a:r>
              <a:rPr lang="fr-FR" sz="2000" dirty="0"/>
              <a:t> </a:t>
            </a:r>
            <a:r>
              <a:rPr lang="fr-FR" sz="2000" dirty="0" err="1"/>
              <a:t>need</a:t>
            </a:r>
            <a:r>
              <a:rPr lang="fr-FR" sz="2000" dirty="0"/>
              <a:t> to </a:t>
            </a:r>
            <a:r>
              <a:rPr lang="fr-FR" sz="2000" dirty="0" err="1"/>
              <a:t>be</a:t>
            </a:r>
            <a:r>
              <a:rPr lang="fr-FR" sz="2000" dirty="0"/>
              <a:t> </a:t>
            </a:r>
            <a:r>
              <a:rPr lang="fr-FR" sz="2000" dirty="0" err="1"/>
              <a:t>removed</a:t>
            </a:r>
            <a:r>
              <a:rPr lang="fr-FR" sz="2000" dirty="0"/>
              <a:t> </a:t>
            </a:r>
            <a:r>
              <a:rPr lang="fr-FR" sz="2000" dirty="0" err="1"/>
              <a:t>with</a:t>
            </a:r>
            <a:r>
              <a:rPr lang="fr-FR" sz="2000" dirty="0"/>
              <a:t> a simple </a:t>
            </a:r>
            <a:r>
              <a:rPr lang="fr-FR" sz="2000" dirty="0" err="1"/>
              <a:t>rule</a:t>
            </a:r>
            <a:r>
              <a:rPr lang="fr-FR" sz="2000" dirty="0"/>
              <a:t>: </a:t>
            </a:r>
            <a:r>
              <a:rPr lang="fr-FR" sz="2000" b="1" dirty="0"/>
              <a:t>translation </a:t>
            </a:r>
            <a:r>
              <a:rPr lang="fr-FR" sz="2000" b="1" dirty="0" err="1"/>
              <a:t>wins</a:t>
            </a:r>
            <a:r>
              <a:rPr lang="fr-FR" sz="2000" b="1" dirty="0"/>
              <a:t> over </a:t>
            </a:r>
            <a:r>
              <a:rPr lang="fr-FR" sz="2000" b="1" dirty="0" err="1"/>
              <a:t>half-turn</a:t>
            </a:r>
            <a:r>
              <a:rPr lang="fr-FR" sz="2000" b="1" dirty="0"/>
              <a:t> </a:t>
            </a:r>
            <a:r>
              <a:rPr lang="fr-FR" sz="2000" dirty="0"/>
              <a:t>!</a:t>
            </a:r>
          </a:p>
          <a:p>
            <a:pPr marL="457200" indent="-457200">
              <a:buFont typeface="Wingdings" panose="05000000000000000000" pitchFamily="2" charset="2"/>
              <a:buChar char="§"/>
            </a:pPr>
            <a:r>
              <a:rPr lang="fr-FR" sz="2000" dirty="0"/>
              <a:t>A </a:t>
            </a:r>
            <a:r>
              <a:rPr lang="fr-FR" sz="2000" dirty="0" err="1"/>
              <a:t>bigger</a:t>
            </a:r>
            <a:r>
              <a:rPr lang="fr-FR" sz="2000" dirty="0"/>
              <a:t> green triangle </a:t>
            </a:r>
            <a:r>
              <a:rPr lang="fr-FR" sz="2000" dirty="0" err="1"/>
              <a:t>is</a:t>
            </a:r>
            <a:r>
              <a:rPr lang="fr-FR" sz="2000" dirty="0"/>
              <a:t> </a:t>
            </a:r>
            <a:r>
              <a:rPr lang="fr-FR" sz="2000" dirty="0" err="1"/>
              <a:t>identified</a:t>
            </a:r>
            <a:r>
              <a:rPr lang="fr-FR" sz="2000" dirty="0"/>
              <a:t>, </a:t>
            </a:r>
            <a:r>
              <a:rPr lang="fr-FR" sz="2000" dirty="0" err="1"/>
              <a:t>centered</a:t>
            </a:r>
            <a:r>
              <a:rPr lang="fr-FR" sz="2000" dirty="0"/>
              <a:t> on a </a:t>
            </a:r>
            <a:r>
              <a:rPr lang="fr-FR" sz="2000" dirty="0" err="1"/>
              <a:t>trifle</a:t>
            </a:r>
            <a:r>
              <a:rPr lang="fr-FR" sz="2000" dirty="0"/>
              <a:t> at the center of the figure </a:t>
            </a:r>
            <a:r>
              <a:rPr lang="fr-FR" sz="2000" dirty="0">
                <a:sym typeface="Wingdings" panose="05000000000000000000" pitchFamily="2" charset="2"/>
              </a:rPr>
              <a:t></a:t>
            </a:r>
            <a:endParaRPr lang="fr-FR" sz="2000" dirty="0"/>
          </a:p>
          <a:p>
            <a:endParaRPr lang="fr-FR" sz="2000" dirty="0"/>
          </a:p>
        </p:txBody>
      </p:sp>
    </p:spTree>
    <p:extLst>
      <p:ext uri="{BB962C8B-B14F-4D97-AF65-F5344CB8AC3E}">
        <p14:creationId xmlns:p14="http://schemas.microsoft.com/office/powerpoint/2010/main" val="9370407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59</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 for full cluster C1</a:t>
            </a:r>
            <a:endParaRPr lang="fr-FR" b="1" dirty="0">
              <a:solidFill>
                <a:srgbClr val="C85350"/>
              </a:solidFill>
            </a:endParaRPr>
          </a:p>
        </p:txBody>
      </p:sp>
      <p:pic>
        <p:nvPicPr>
          <p:cNvPr id="5" name="Image 4"/>
          <p:cNvPicPr>
            <a:picLocks noChangeAspect="1"/>
          </p:cNvPicPr>
          <p:nvPr/>
        </p:nvPicPr>
        <p:blipFill rotWithShape="1">
          <a:blip r:embed="rId2"/>
          <a:srcRect r="50112"/>
          <a:stretch/>
        </p:blipFill>
        <p:spPr>
          <a:xfrm>
            <a:off x="6320790" y="1035430"/>
            <a:ext cx="4579620" cy="4685416"/>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1351768" y="5376879"/>
            <a:ext cx="9489732" cy="1323439"/>
          </a:xfrm>
          <a:prstGeom prst="rect">
            <a:avLst/>
          </a:prstGeom>
          <a:noFill/>
        </p:spPr>
        <p:txBody>
          <a:bodyPr wrap="square" rtlCol="0">
            <a:spAutoFit/>
          </a:bodyPr>
          <a:lstStyle/>
          <a:p>
            <a:pPr marL="457200" indent="-457200">
              <a:buFont typeface="Wingdings" panose="05000000000000000000" pitchFamily="2" charset="2"/>
              <a:buChar char="§"/>
            </a:pPr>
            <a:r>
              <a:rPr lang="fr-FR" sz="2000" dirty="0"/>
              <a:t>TO DO: </a:t>
            </a:r>
            <a:r>
              <a:rPr lang="fr-FR" sz="2000" dirty="0" err="1"/>
              <a:t>Find</a:t>
            </a:r>
            <a:r>
              <a:rPr lang="fr-FR" sz="2000" dirty="0"/>
              <a:t> a </a:t>
            </a:r>
            <a:r>
              <a:rPr lang="fr-FR" sz="2000" dirty="0" err="1"/>
              <a:t>rule</a:t>
            </a:r>
            <a:r>
              <a:rPr lang="fr-FR" sz="2000" dirty="0"/>
              <a:t> for the relative positions </a:t>
            </a:r>
            <a:r>
              <a:rPr lang="fr-FR" sz="2000" dirty="0" err="1"/>
              <a:t>between</a:t>
            </a:r>
            <a:r>
              <a:rPr lang="fr-FR" sz="2000" dirty="0"/>
              <a:t> clusters in the </a:t>
            </a:r>
            <a:r>
              <a:rPr lang="fr-FR" sz="2000" dirty="0" err="1"/>
              <a:t>assembly</a:t>
            </a:r>
            <a:endParaRPr lang="fr-FR" sz="2000" dirty="0"/>
          </a:p>
          <a:p>
            <a:pPr marL="457200" indent="-457200">
              <a:buFont typeface="Wingdings" panose="05000000000000000000" pitchFamily="2" charset="2"/>
              <a:buChar char="§"/>
            </a:pPr>
            <a:r>
              <a:rPr lang="fr-FR" sz="2000" dirty="0"/>
              <a:t>Clusters are </a:t>
            </a:r>
            <a:r>
              <a:rPr lang="fr-FR" sz="2000" dirty="0" err="1"/>
              <a:t>translated</a:t>
            </a:r>
            <a:r>
              <a:rPr lang="fr-FR" sz="2000" dirty="0"/>
              <a:t> </a:t>
            </a:r>
            <a:r>
              <a:rPr lang="fr-FR" sz="2000" dirty="0" err="1"/>
              <a:t>from</a:t>
            </a:r>
            <a:r>
              <a:rPr lang="fr-FR" sz="2000" dirty="0"/>
              <a:t> </a:t>
            </a:r>
            <a:r>
              <a:rPr lang="fr-FR" sz="2000" dirty="0" err="1"/>
              <a:t>each</a:t>
            </a:r>
            <a:r>
              <a:rPr lang="fr-FR" sz="2000" dirty="0"/>
              <a:t> </a:t>
            </a:r>
            <a:r>
              <a:rPr lang="fr-FR" sz="2000" dirty="0" err="1"/>
              <a:t>other</a:t>
            </a:r>
            <a:r>
              <a:rPr lang="fr-FR" sz="2000" dirty="0"/>
              <a:t> </a:t>
            </a:r>
            <a:r>
              <a:rPr lang="fr-FR" sz="2000" dirty="0" err="1"/>
              <a:t>along</a:t>
            </a:r>
            <a:r>
              <a:rPr lang="fr-FR" sz="2000" dirty="0"/>
              <a:t> the </a:t>
            </a:r>
            <a:r>
              <a:rPr lang="fr-FR" sz="2000" dirty="0" err="1"/>
              <a:t>blue</a:t>
            </a:r>
            <a:r>
              <a:rPr lang="fr-FR" sz="2000" dirty="0"/>
              <a:t> </a:t>
            </a:r>
            <a:r>
              <a:rPr lang="fr-FR" sz="2000" dirty="0" err="1"/>
              <a:t>lines</a:t>
            </a:r>
            <a:r>
              <a:rPr lang="fr-FR" sz="2000" dirty="0"/>
              <a:t> </a:t>
            </a:r>
          </a:p>
          <a:p>
            <a:pPr marL="457200" indent="-457200">
              <a:buFont typeface="Wingdings" panose="05000000000000000000" pitchFamily="2" charset="2"/>
              <a:buChar char="§"/>
            </a:pPr>
            <a:r>
              <a:rPr lang="fr-FR" sz="2000" dirty="0"/>
              <a:t>Use superposition of green points </a:t>
            </a:r>
            <a:r>
              <a:rPr lang="fr-FR" sz="2000" dirty="0" err="1"/>
              <a:t>from</a:t>
            </a:r>
            <a:r>
              <a:rPr lang="fr-FR" sz="2000" dirty="0"/>
              <a:t> </a:t>
            </a:r>
            <a:r>
              <a:rPr lang="fr-FR" sz="2000" dirty="0" err="1"/>
              <a:t>two</a:t>
            </a:r>
            <a:r>
              <a:rPr lang="fr-FR" sz="2000" dirty="0"/>
              <a:t> adjacent clusters ??? </a:t>
            </a:r>
          </a:p>
          <a:p>
            <a:endParaRPr lang="fr-FR" sz="2000" dirty="0"/>
          </a:p>
        </p:txBody>
      </p:sp>
      <p:pic>
        <p:nvPicPr>
          <p:cNvPr id="6" name="Image 5"/>
          <p:cNvPicPr>
            <a:picLocks noChangeAspect="1"/>
          </p:cNvPicPr>
          <p:nvPr/>
        </p:nvPicPr>
        <p:blipFill>
          <a:blip r:embed="rId3"/>
          <a:stretch>
            <a:fillRect/>
          </a:stretch>
        </p:blipFill>
        <p:spPr>
          <a:xfrm>
            <a:off x="1855881" y="1473199"/>
            <a:ext cx="4016597" cy="3430843"/>
          </a:xfrm>
          <a:prstGeom prst="rect">
            <a:avLst/>
          </a:prstGeom>
        </p:spPr>
      </p:pic>
    </p:spTree>
    <p:extLst>
      <p:ext uri="{BB962C8B-B14F-4D97-AF65-F5344CB8AC3E}">
        <p14:creationId xmlns:p14="http://schemas.microsoft.com/office/powerpoint/2010/main" val="10582656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60</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Defect healing</a:t>
            </a:r>
            <a:endParaRPr lang="fr-FR" b="1" dirty="0">
              <a:solidFill>
                <a:srgbClr val="C85350"/>
              </a:solidFill>
            </a:endParaRPr>
          </a:p>
        </p:txBody>
      </p:sp>
      <p:sp>
        <p:nvSpPr>
          <p:cNvPr id="6" name="ZoneTexte 5">
            <a:extLst>
              <a:ext uri="{FF2B5EF4-FFF2-40B4-BE49-F238E27FC236}">
                <a16:creationId xmlns:a16="http://schemas.microsoft.com/office/drawing/2014/main" id="{5C1DF85E-AE3C-4141-B8E3-32FC0D949336}"/>
              </a:ext>
            </a:extLst>
          </p:cNvPr>
          <p:cNvSpPr txBox="1"/>
          <p:nvPr/>
        </p:nvSpPr>
        <p:spPr>
          <a:xfrm>
            <a:off x="951348" y="6061858"/>
            <a:ext cx="5558149"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Starting</a:t>
            </a:r>
            <a:r>
              <a:rPr lang="fr-FR" sz="2800" dirty="0"/>
              <a:t> point for </a:t>
            </a:r>
            <a:r>
              <a:rPr lang="fr-FR" sz="2800" dirty="0" err="1"/>
              <a:t>worms</a:t>
            </a:r>
            <a:r>
              <a:rPr lang="fr-FR" sz="2800" dirty="0"/>
              <a:t> </a:t>
            </a:r>
            <a:r>
              <a:rPr lang="fr-FR" sz="2800" dirty="0">
                <a:sym typeface="Wingdings" panose="05000000000000000000" pitchFamily="2" charset="2"/>
              </a:rPr>
              <a:t></a:t>
            </a:r>
            <a:endParaRPr lang="fr-FR" sz="2800" dirty="0"/>
          </a:p>
          <a:p>
            <a:endParaRPr lang="fr-FR" sz="2800" dirty="0"/>
          </a:p>
        </p:txBody>
      </p:sp>
      <p:pic>
        <p:nvPicPr>
          <p:cNvPr id="7" name="Image 6"/>
          <p:cNvPicPr>
            <a:picLocks noChangeAspect="1"/>
          </p:cNvPicPr>
          <p:nvPr/>
        </p:nvPicPr>
        <p:blipFill>
          <a:blip r:embed="rId2"/>
          <a:stretch>
            <a:fillRect/>
          </a:stretch>
        </p:blipFill>
        <p:spPr>
          <a:xfrm>
            <a:off x="1075293" y="1313707"/>
            <a:ext cx="4675770" cy="4510527"/>
          </a:xfrm>
          <a:prstGeom prst="rect">
            <a:avLst/>
          </a:prstGeom>
        </p:spPr>
      </p:pic>
      <p:pic>
        <p:nvPicPr>
          <p:cNvPr id="8" name="Image 7"/>
          <p:cNvPicPr>
            <a:picLocks noChangeAspect="1"/>
          </p:cNvPicPr>
          <p:nvPr/>
        </p:nvPicPr>
        <p:blipFill>
          <a:blip r:embed="rId3"/>
          <a:stretch>
            <a:fillRect/>
          </a:stretch>
        </p:blipFill>
        <p:spPr>
          <a:xfrm>
            <a:off x="6509497" y="1361301"/>
            <a:ext cx="4901886" cy="4652962"/>
          </a:xfrm>
          <a:prstGeom prst="rect">
            <a:avLst/>
          </a:prstGeom>
        </p:spPr>
      </p:pic>
      <p:sp>
        <p:nvSpPr>
          <p:cNvPr id="9" name="ZoneTexte 8">
            <a:extLst>
              <a:ext uri="{FF2B5EF4-FFF2-40B4-BE49-F238E27FC236}">
                <a16:creationId xmlns:a16="http://schemas.microsoft.com/office/drawing/2014/main" id="{5C1DF85E-AE3C-4141-B8E3-32FC0D949336}"/>
              </a:ext>
            </a:extLst>
          </p:cNvPr>
          <p:cNvSpPr txBox="1"/>
          <p:nvPr/>
        </p:nvSpPr>
        <p:spPr>
          <a:xfrm>
            <a:off x="6076803" y="6069757"/>
            <a:ext cx="6076749"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After</a:t>
            </a:r>
            <a:r>
              <a:rPr lang="fr-FR" sz="2800" dirty="0"/>
              <a:t> </a:t>
            </a:r>
            <a:r>
              <a:rPr lang="fr-FR" sz="2800" dirty="0" err="1"/>
              <a:t>removing</a:t>
            </a:r>
            <a:r>
              <a:rPr lang="fr-FR" sz="2800" dirty="0"/>
              <a:t> </a:t>
            </a:r>
            <a:r>
              <a:rPr lang="fr-FR" sz="2800" dirty="0" err="1"/>
              <a:t>two</a:t>
            </a:r>
            <a:r>
              <a:rPr lang="fr-FR" sz="2800" dirty="0"/>
              <a:t> </a:t>
            </a:r>
            <a:r>
              <a:rPr lang="fr-FR" sz="2800" dirty="0" err="1"/>
              <a:t>half-turned</a:t>
            </a:r>
            <a:r>
              <a:rPr lang="fr-FR" sz="2800" dirty="0"/>
              <a:t> </a:t>
            </a:r>
            <a:r>
              <a:rPr lang="fr-FR" sz="2800" dirty="0" err="1"/>
              <a:t>tiles</a:t>
            </a:r>
            <a:endParaRPr lang="fr-FR" sz="2800" dirty="0"/>
          </a:p>
          <a:p>
            <a:endParaRPr lang="fr-FR" sz="2800" dirty="0"/>
          </a:p>
        </p:txBody>
      </p:sp>
    </p:spTree>
    <p:extLst>
      <p:ext uri="{BB962C8B-B14F-4D97-AF65-F5344CB8AC3E}">
        <p14:creationId xmlns:p14="http://schemas.microsoft.com/office/powerpoint/2010/main" val="1347981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61</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Defect healing</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47991" y="1570221"/>
            <a:ext cx="5630509" cy="4235122"/>
          </a:xfrm>
          <a:prstGeom prst="rect">
            <a:avLst/>
          </a:prstGeom>
        </p:spPr>
      </p:pic>
      <p:pic>
        <p:nvPicPr>
          <p:cNvPr id="5" name="Image 4"/>
          <p:cNvPicPr>
            <a:picLocks noChangeAspect="1"/>
          </p:cNvPicPr>
          <p:nvPr/>
        </p:nvPicPr>
        <p:blipFill>
          <a:blip r:embed="rId3"/>
          <a:stretch>
            <a:fillRect/>
          </a:stretch>
        </p:blipFill>
        <p:spPr>
          <a:xfrm>
            <a:off x="6081680" y="1460010"/>
            <a:ext cx="5779293" cy="4345333"/>
          </a:xfrm>
          <a:prstGeom prst="rect">
            <a:avLst/>
          </a:prstGeom>
        </p:spPr>
      </p:pic>
      <p:sp>
        <p:nvSpPr>
          <p:cNvPr id="8" name="ZoneTexte 7">
            <a:extLst>
              <a:ext uri="{FF2B5EF4-FFF2-40B4-BE49-F238E27FC236}">
                <a16:creationId xmlns:a16="http://schemas.microsoft.com/office/drawing/2014/main" id="{5C1DF85E-AE3C-4141-B8E3-32FC0D949336}"/>
              </a:ext>
            </a:extLst>
          </p:cNvPr>
          <p:cNvSpPr txBox="1"/>
          <p:nvPr/>
        </p:nvSpPr>
        <p:spPr>
          <a:xfrm>
            <a:off x="951348" y="6061858"/>
            <a:ext cx="5558149"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Starting</a:t>
            </a:r>
            <a:r>
              <a:rPr lang="fr-FR" sz="2800" dirty="0"/>
              <a:t> point for </a:t>
            </a:r>
            <a:r>
              <a:rPr lang="fr-FR" sz="2800" dirty="0" err="1"/>
              <a:t>worms</a:t>
            </a:r>
            <a:r>
              <a:rPr lang="fr-FR" sz="2800" dirty="0"/>
              <a:t> </a:t>
            </a:r>
            <a:r>
              <a:rPr lang="fr-FR" sz="2800" dirty="0">
                <a:sym typeface="Wingdings" panose="05000000000000000000" pitchFamily="2" charset="2"/>
              </a:rPr>
              <a:t></a:t>
            </a:r>
            <a:endParaRPr lang="fr-FR" sz="2800" dirty="0"/>
          </a:p>
          <a:p>
            <a:endParaRPr lang="fr-FR" sz="2800" dirty="0"/>
          </a:p>
        </p:txBody>
      </p:sp>
      <p:sp>
        <p:nvSpPr>
          <p:cNvPr id="10" name="ZoneTexte 9">
            <a:extLst>
              <a:ext uri="{FF2B5EF4-FFF2-40B4-BE49-F238E27FC236}">
                <a16:creationId xmlns:a16="http://schemas.microsoft.com/office/drawing/2014/main" id="{5C1DF85E-AE3C-4141-B8E3-32FC0D949336}"/>
              </a:ext>
            </a:extLst>
          </p:cNvPr>
          <p:cNvSpPr txBox="1"/>
          <p:nvPr/>
        </p:nvSpPr>
        <p:spPr>
          <a:xfrm>
            <a:off x="6076803" y="6069757"/>
            <a:ext cx="6076749"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After</a:t>
            </a:r>
            <a:r>
              <a:rPr lang="fr-FR" sz="2800" dirty="0"/>
              <a:t> </a:t>
            </a:r>
            <a:r>
              <a:rPr lang="fr-FR" sz="2800" dirty="0" err="1"/>
              <a:t>removing</a:t>
            </a:r>
            <a:r>
              <a:rPr lang="fr-FR" sz="2800" dirty="0"/>
              <a:t> </a:t>
            </a:r>
            <a:r>
              <a:rPr lang="fr-FR" sz="2800" dirty="0" err="1"/>
              <a:t>two</a:t>
            </a:r>
            <a:r>
              <a:rPr lang="fr-FR" sz="2800" dirty="0"/>
              <a:t> </a:t>
            </a:r>
            <a:r>
              <a:rPr lang="fr-FR" sz="2800" dirty="0" err="1"/>
              <a:t>half-turned</a:t>
            </a:r>
            <a:r>
              <a:rPr lang="fr-FR" sz="2800" dirty="0"/>
              <a:t> </a:t>
            </a:r>
            <a:r>
              <a:rPr lang="fr-FR" sz="2800" dirty="0" err="1"/>
              <a:t>tiles</a:t>
            </a:r>
            <a:endParaRPr lang="fr-FR" sz="2800" dirty="0"/>
          </a:p>
          <a:p>
            <a:endParaRPr lang="fr-FR" sz="2800" dirty="0"/>
          </a:p>
        </p:txBody>
      </p:sp>
    </p:spTree>
    <p:extLst>
      <p:ext uri="{BB962C8B-B14F-4D97-AF65-F5344CB8AC3E}">
        <p14:creationId xmlns:p14="http://schemas.microsoft.com/office/powerpoint/2010/main" val="26085893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62</a:t>
            </a:fld>
            <a:endParaRPr lang="fr-FR"/>
          </a:p>
        </p:txBody>
      </p:sp>
      <p:pic>
        <p:nvPicPr>
          <p:cNvPr id="3" name="Image 2"/>
          <p:cNvPicPr>
            <a:picLocks noChangeAspect="1"/>
          </p:cNvPicPr>
          <p:nvPr/>
        </p:nvPicPr>
        <p:blipFill>
          <a:blip r:embed="rId2"/>
          <a:stretch>
            <a:fillRect/>
          </a:stretch>
        </p:blipFill>
        <p:spPr>
          <a:xfrm>
            <a:off x="3809999" y="1151255"/>
            <a:ext cx="4572000" cy="3905250"/>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TO DO: Step 2 </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316859" y="5402243"/>
            <a:ext cx="1198909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t>Replace all the 12 full clusters in </a:t>
            </a:r>
            <a:r>
              <a:rPr lang="fr-FR" sz="2800" dirty="0" err="1"/>
              <a:t>this</a:t>
            </a:r>
            <a:r>
              <a:rPr lang="fr-FR" sz="2800" dirty="0"/>
              <a:t> pattern </a:t>
            </a:r>
            <a:r>
              <a:rPr lang="fr-FR" sz="2800" dirty="0" err="1"/>
              <a:t>with</a:t>
            </a:r>
            <a:r>
              <a:rPr lang="fr-FR" sz="2800" dirty="0"/>
              <a:t> the </a:t>
            </a:r>
            <a:r>
              <a:rPr lang="fr-FR" sz="2800" dirty="0" err="1"/>
              <a:t>same</a:t>
            </a:r>
            <a:r>
              <a:rPr lang="fr-FR" sz="2800" dirty="0"/>
              <a:t> </a:t>
            </a:r>
            <a:r>
              <a:rPr lang="fr-FR" sz="2800" dirty="0" err="1"/>
              <a:t>rule</a:t>
            </a:r>
            <a:r>
              <a:rPr lang="fr-FR" sz="2800" dirty="0"/>
              <a:t> </a:t>
            </a:r>
            <a:r>
              <a:rPr lang="fr-FR" sz="2800" dirty="0" err="1"/>
              <a:t>used</a:t>
            </a:r>
            <a:r>
              <a:rPr lang="fr-FR" sz="2800" dirty="0"/>
              <a:t> </a:t>
            </a:r>
            <a:r>
              <a:rPr lang="fr-FR" sz="2800" dirty="0" err="1"/>
              <a:t>previously</a:t>
            </a:r>
            <a:r>
              <a:rPr lang="fr-FR" sz="2800" dirty="0"/>
              <a:t> for C1 (</a:t>
            </a:r>
            <a:r>
              <a:rPr lang="fr-FR" sz="2800" dirty="0" err="1"/>
              <a:t>just</a:t>
            </a:r>
            <a:r>
              <a:rPr lang="fr-FR" sz="2800" dirty="0"/>
              <a:t> a rotation of the pattern for C2, C3, C4, C5 and C6)</a:t>
            </a:r>
          </a:p>
        </p:txBody>
      </p:sp>
    </p:spTree>
    <p:extLst>
      <p:ext uri="{BB962C8B-B14F-4D97-AF65-F5344CB8AC3E}">
        <p14:creationId xmlns:p14="http://schemas.microsoft.com/office/powerpoint/2010/main" val="1883897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63</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New reference triangle in Tile(</a:t>
            </a:r>
            <a:r>
              <a:rPr lang="en-US" b="1" dirty="0" err="1">
                <a:solidFill>
                  <a:srgbClr val="C85350"/>
                </a:solidFill>
              </a:rPr>
              <a:t>a,b</a:t>
            </a:r>
            <a:r>
              <a:rPr lang="en-US" b="1" dirty="0">
                <a:solidFill>
                  <a:srgbClr val="C85350"/>
                </a:solidFill>
              </a:rPr>
              <a:t>)</a:t>
            </a:r>
            <a:endParaRPr lang="fr-FR" b="1" dirty="0">
              <a:solidFill>
                <a:srgbClr val="C85350"/>
              </a:solidFill>
            </a:endParaRPr>
          </a:p>
        </p:txBody>
      </p:sp>
      <p:sp>
        <p:nvSpPr>
          <p:cNvPr id="8" name="Rectangle 7"/>
          <p:cNvSpPr/>
          <p:nvPr/>
        </p:nvSpPr>
        <p:spPr>
          <a:xfrm>
            <a:off x="2749670" y="5039163"/>
            <a:ext cx="1339444" cy="830997"/>
          </a:xfrm>
          <a:prstGeom prst="rect">
            <a:avLst/>
          </a:prstGeom>
        </p:spPr>
        <p:txBody>
          <a:bodyPr wrap="square">
            <a:spAutoFit/>
          </a:bodyPr>
          <a:lstStyle/>
          <a:p>
            <a:r>
              <a:rPr lang="fr-FR" sz="2400" dirty="0">
                <a:solidFill>
                  <a:srgbClr val="268BD2"/>
                </a:solidFill>
                <a:latin typeface="Consolas" panose="020B0609020204030204" pitchFamily="49" charset="0"/>
              </a:rPr>
              <a:t>a</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1.6</a:t>
            </a:r>
            <a:endParaRPr lang="fr-FR" sz="2400" dirty="0">
              <a:solidFill>
                <a:srgbClr val="657B83"/>
              </a:solidFill>
              <a:latin typeface="Consolas" panose="020B0609020204030204" pitchFamily="49" charset="0"/>
            </a:endParaRPr>
          </a:p>
          <a:p>
            <a:r>
              <a:rPr lang="fr-FR" sz="2400" dirty="0">
                <a:solidFill>
                  <a:srgbClr val="268BD2"/>
                </a:solidFill>
                <a:latin typeface="Consolas" panose="020B0609020204030204" pitchFamily="49" charset="0"/>
              </a:rPr>
              <a:t>b</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1.2</a:t>
            </a:r>
            <a:endParaRPr lang="fr-FR" sz="2400" b="0" dirty="0">
              <a:solidFill>
                <a:srgbClr val="657B83"/>
              </a:solidFill>
              <a:effectLst/>
              <a:latin typeface="Consolas" panose="020B0609020204030204" pitchFamily="49" charset="0"/>
            </a:endParaRPr>
          </a:p>
        </p:txBody>
      </p:sp>
      <p:pic>
        <p:nvPicPr>
          <p:cNvPr id="4" name="Image 3"/>
          <p:cNvPicPr>
            <a:picLocks noChangeAspect="1"/>
          </p:cNvPicPr>
          <p:nvPr/>
        </p:nvPicPr>
        <p:blipFill>
          <a:blip r:embed="rId2"/>
          <a:stretch>
            <a:fillRect/>
          </a:stretch>
        </p:blipFill>
        <p:spPr>
          <a:xfrm>
            <a:off x="4767209" y="4187851"/>
            <a:ext cx="5051460" cy="2533623"/>
          </a:xfrm>
          <a:prstGeom prst="rect">
            <a:avLst/>
          </a:prstGeom>
        </p:spPr>
      </p:pic>
      <p:pic>
        <p:nvPicPr>
          <p:cNvPr id="9" name="Image 8"/>
          <p:cNvPicPr>
            <a:picLocks noChangeAspect="1"/>
          </p:cNvPicPr>
          <p:nvPr/>
        </p:nvPicPr>
        <p:blipFill>
          <a:blip r:embed="rId3"/>
          <a:stretch>
            <a:fillRect/>
          </a:stretch>
        </p:blipFill>
        <p:spPr>
          <a:xfrm>
            <a:off x="1620124" y="1422041"/>
            <a:ext cx="9229725" cy="2657475"/>
          </a:xfrm>
          <a:prstGeom prst="rect">
            <a:avLst/>
          </a:prstGeom>
        </p:spPr>
      </p:pic>
      <p:sp>
        <p:nvSpPr>
          <p:cNvPr id="10" name="ZoneTexte 9"/>
          <p:cNvSpPr txBox="1"/>
          <p:nvPr/>
        </p:nvSpPr>
        <p:spPr>
          <a:xfrm>
            <a:off x="901425" y="4187850"/>
            <a:ext cx="4145687" cy="523220"/>
          </a:xfrm>
          <a:prstGeom prst="rect">
            <a:avLst/>
          </a:prstGeom>
          <a:noFill/>
        </p:spPr>
        <p:txBody>
          <a:bodyPr wrap="none" rtlCol="0">
            <a:spAutoFit/>
          </a:bodyPr>
          <a:lstStyle/>
          <a:p>
            <a:r>
              <a:rPr lang="fr-FR" sz="2800" dirty="0" err="1"/>
              <a:t>Robust</a:t>
            </a:r>
            <a:r>
              <a:rPr lang="fr-FR" sz="2800" dirty="0"/>
              <a:t> for </a:t>
            </a:r>
            <a:r>
              <a:rPr lang="fr-FR" sz="2800" dirty="0" err="1"/>
              <a:t>any</a:t>
            </a:r>
            <a:r>
              <a:rPr lang="fr-FR" sz="2800" dirty="0"/>
              <a:t> T(</a:t>
            </a:r>
            <a:r>
              <a:rPr lang="fr-FR" sz="2800" dirty="0" err="1"/>
              <a:t>a,b</a:t>
            </a:r>
            <a:r>
              <a:rPr lang="fr-FR" sz="2800" dirty="0"/>
              <a:t>) </a:t>
            </a:r>
            <a:r>
              <a:rPr lang="fr-FR" sz="2800" dirty="0" err="1"/>
              <a:t>tile</a:t>
            </a:r>
            <a:r>
              <a:rPr lang="fr-FR" sz="2800" dirty="0"/>
              <a:t> </a:t>
            </a:r>
            <a:r>
              <a:rPr lang="fr-FR" sz="2800" dirty="0">
                <a:sym typeface="Wingdings" panose="05000000000000000000" pitchFamily="2" charset="2"/>
              </a:rPr>
              <a:t></a:t>
            </a:r>
            <a:endParaRPr lang="fr-FR" sz="2800" dirty="0"/>
          </a:p>
        </p:txBody>
      </p:sp>
    </p:spTree>
    <p:extLst>
      <p:ext uri="{BB962C8B-B14F-4D97-AF65-F5344CB8AC3E}">
        <p14:creationId xmlns:p14="http://schemas.microsoft.com/office/powerpoint/2010/main" val="2211825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64</a:t>
            </a:fld>
            <a:endParaRPr lang="fr-FR"/>
          </a:p>
        </p:txBody>
      </p:sp>
      <p:pic>
        <p:nvPicPr>
          <p:cNvPr id="3" name="Image 2"/>
          <p:cNvPicPr>
            <a:picLocks noChangeAspect="1"/>
          </p:cNvPicPr>
          <p:nvPr/>
        </p:nvPicPr>
        <p:blipFill>
          <a:blip r:embed="rId2"/>
          <a:stretch>
            <a:fillRect/>
          </a:stretch>
        </p:blipFill>
        <p:spPr>
          <a:xfrm>
            <a:off x="672424" y="2228738"/>
            <a:ext cx="10681376" cy="3157244"/>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Link with trifle and bow-tie in Tile(1,1)</a:t>
            </a:r>
            <a:endParaRPr lang="fr-FR" b="1" dirty="0">
              <a:solidFill>
                <a:srgbClr val="C85350"/>
              </a:solidFill>
            </a:endParaRPr>
          </a:p>
        </p:txBody>
      </p:sp>
    </p:spTree>
    <p:extLst>
      <p:ext uri="{BB962C8B-B14F-4D97-AF65-F5344CB8AC3E}">
        <p14:creationId xmlns:p14="http://schemas.microsoft.com/office/powerpoint/2010/main" val="7788248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65</a:t>
            </a:fld>
            <a:endParaRPr lang="fr-FR"/>
          </a:p>
        </p:txBody>
      </p:sp>
      <p:pic>
        <p:nvPicPr>
          <p:cNvPr id="3" name="Image 2"/>
          <p:cNvPicPr>
            <a:picLocks noChangeAspect="1"/>
          </p:cNvPicPr>
          <p:nvPr/>
        </p:nvPicPr>
        <p:blipFill>
          <a:blip r:embed="rId2"/>
          <a:stretch>
            <a:fillRect/>
          </a:stretch>
        </p:blipFill>
        <p:spPr>
          <a:xfrm>
            <a:off x="1287991" y="1193800"/>
            <a:ext cx="9265710" cy="5162550"/>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Comparison with hexagon/square/rhombus decomposition</a:t>
            </a:r>
            <a:endParaRPr lang="fr-FR" b="1" dirty="0">
              <a:solidFill>
                <a:srgbClr val="C85350"/>
              </a:solidFill>
            </a:endParaRPr>
          </a:p>
        </p:txBody>
      </p:sp>
    </p:spTree>
    <p:extLst>
      <p:ext uri="{BB962C8B-B14F-4D97-AF65-F5344CB8AC3E}">
        <p14:creationId xmlns:p14="http://schemas.microsoft.com/office/powerpoint/2010/main" val="40191882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stretch>
            <a:fillRect/>
          </a:stretch>
        </p:blipFill>
        <p:spPr>
          <a:xfrm>
            <a:off x="1391206" y="619760"/>
            <a:ext cx="10483934" cy="5293359"/>
          </a:xfrm>
          <a:prstGeom prst="rect">
            <a:avLst/>
          </a:prstGeom>
        </p:spPr>
      </p:pic>
      <p:sp>
        <p:nvSpPr>
          <p:cNvPr id="2" name="Espace réservé du numéro de diapositive 1"/>
          <p:cNvSpPr>
            <a:spLocks noGrp="1"/>
          </p:cNvSpPr>
          <p:nvPr>
            <p:ph type="sldNum" sz="quarter" idx="12"/>
          </p:nvPr>
        </p:nvSpPr>
        <p:spPr/>
        <p:txBody>
          <a:bodyPr/>
          <a:lstStyle/>
          <a:p>
            <a:fld id="{7CBBC808-1C2F-4D0A-88AD-4B1C02A49358}" type="slidenum">
              <a:rPr lang="fr-FR" smtClean="0"/>
              <a:t>66</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Tile(1,1) : </a:t>
            </a:r>
            <a:r>
              <a:rPr lang="en-US" b="1" dirty="0" err="1">
                <a:solidFill>
                  <a:srgbClr val="C85350"/>
                </a:solidFill>
              </a:rPr>
              <a:t>spectre</a:t>
            </a:r>
            <a:r>
              <a:rPr lang="en-US" b="1" dirty="0">
                <a:solidFill>
                  <a:srgbClr val="C85350"/>
                </a:solidFill>
              </a:rPr>
              <a:t> tile</a:t>
            </a:r>
            <a:endParaRPr lang="fr-FR" b="1" dirty="0">
              <a:solidFill>
                <a:srgbClr val="C85350"/>
              </a:solidFill>
            </a:endParaRPr>
          </a:p>
        </p:txBody>
      </p:sp>
    </p:spTree>
    <p:extLst>
      <p:ext uri="{BB962C8B-B14F-4D97-AF65-F5344CB8AC3E}">
        <p14:creationId xmlns:p14="http://schemas.microsoft.com/office/powerpoint/2010/main" val="13223957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67</a:t>
            </a:fld>
            <a:endParaRPr lang="fr-FR"/>
          </a:p>
        </p:txBody>
      </p:sp>
      <p:sp>
        <p:nvSpPr>
          <p:cNvPr id="5"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translation versus half-turn for any Tile(</a:t>
            </a:r>
            <a:r>
              <a:rPr lang="en-US" b="1" dirty="0" err="1">
                <a:solidFill>
                  <a:srgbClr val="C85350"/>
                </a:solidFill>
              </a:rPr>
              <a:t>a,b</a:t>
            </a:r>
            <a:r>
              <a:rPr lang="en-US" b="1" dirty="0">
                <a:solidFill>
                  <a:srgbClr val="C85350"/>
                </a:solidFill>
              </a:rPr>
              <a:t>)</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655763" y="1289289"/>
            <a:ext cx="9698037" cy="4267714"/>
          </a:xfrm>
          <a:prstGeom prst="rect">
            <a:avLst/>
          </a:prstGeom>
        </p:spPr>
      </p:pic>
      <p:sp>
        <p:nvSpPr>
          <p:cNvPr id="11" name="Rectangle 10"/>
          <p:cNvSpPr/>
          <p:nvPr/>
        </p:nvSpPr>
        <p:spPr>
          <a:xfrm>
            <a:off x="807097" y="1506656"/>
            <a:ext cx="1339444" cy="830997"/>
          </a:xfrm>
          <a:prstGeom prst="rect">
            <a:avLst/>
          </a:prstGeom>
        </p:spPr>
        <p:txBody>
          <a:bodyPr wrap="square">
            <a:spAutoFit/>
          </a:bodyPr>
          <a:lstStyle/>
          <a:p>
            <a:r>
              <a:rPr lang="fr-FR" sz="2400" dirty="0">
                <a:solidFill>
                  <a:srgbClr val="268BD2"/>
                </a:solidFill>
                <a:latin typeface="Consolas" panose="020B0609020204030204" pitchFamily="49" charset="0"/>
              </a:rPr>
              <a:t>a</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1.6</a:t>
            </a:r>
            <a:endParaRPr lang="fr-FR" sz="2400" dirty="0">
              <a:solidFill>
                <a:srgbClr val="657B83"/>
              </a:solidFill>
              <a:latin typeface="Consolas" panose="020B0609020204030204" pitchFamily="49" charset="0"/>
            </a:endParaRPr>
          </a:p>
          <a:p>
            <a:r>
              <a:rPr lang="fr-FR" sz="2400" dirty="0">
                <a:solidFill>
                  <a:srgbClr val="268BD2"/>
                </a:solidFill>
                <a:latin typeface="Consolas" panose="020B0609020204030204" pitchFamily="49" charset="0"/>
              </a:rPr>
              <a:t>b</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1.2</a:t>
            </a:r>
            <a:endParaRPr lang="fr-FR" sz="2400" b="0" dirty="0">
              <a:solidFill>
                <a:srgbClr val="657B83"/>
              </a:solidFill>
              <a:effectLst/>
              <a:latin typeface="Consolas" panose="020B0609020204030204" pitchFamily="49" charset="0"/>
            </a:endParaRPr>
          </a:p>
        </p:txBody>
      </p:sp>
    </p:spTree>
    <p:extLst>
      <p:ext uri="{BB962C8B-B14F-4D97-AF65-F5344CB8AC3E}">
        <p14:creationId xmlns:p14="http://schemas.microsoft.com/office/powerpoint/2010/main" val="30496010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68</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Cluster and full cluster</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114839" y="1437556"/>
            <a:ext cx="12220575" cy="3409950"/>
          </a:xfrm>
          <a:prstGeom prst="rect">
            <a:avLst/>
          </a:prstGeom>
        </p:spPr>
      </p:pic>
      <p:sp>
        <p:nvSpPr>
          <p:cNvPr id="10" name="Rectangle 9"/>
          <p:cNvSpPr/>
          <p:nvPr/>
        </p:nvSpPr>
        <p:spPr>
          <a:xfrm>
            <a:off x="316859" y="1367541"/>
            <a:ext cx="1339444" cy="830997"/>
          </a:xfrm>
          <a:prstGeom prst="rect">
            <a:avLst/>
          </a:prstGeom>
        </p:spPr>
        <p:txBody>
          <a:bodyPr wrap="square">
            <a:spAutoFit/>
          </a:bodyPr>
          <a:lstStyle/>
          <a:p>
            <a:r>
              <a:rPr lang="fr-FR" sz="2400" dirty="0">
                <a:solidFill>
                  <a:srgbClr val="268BD2"/>
                </a:solidFill>
                <a:latin typeface="Consolas" panose="020B0609020204030204" pitchFamily="49" charset="0"/>
              </a:rPr>
              <a:t>a</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1.6</a:t>
            </a:r>
            <a:endParaRPr lang="fr-FR" sz="2400" dirty="0">
              <a:solidFill>
                <a:srgbClr val="657B83"/>
              </a:solidFill>
              <a:latin typeface="Consolas" panose="020B0609020204030204" pitchFamily="49" charset="0"/>
            </a:endParaRPr>
          </a:p>
          <a:p>
            <a:r>
              <a:rPr lang="fr-FR" sz="2400" dirty="0">
                <a:solidFill>
                  <a:srgbClr val="268BD2"/>
                </a:solidFill>
                <a:latin typeface="Consolas" panose="020B0609020204030204" pitchFamily="49" charset="0"/>
              </a:rPr>
              <a:t>b</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1.2</a:t>
            </a:r>
            <a:endParaRPr lang="fr-FR" sz="2400" b="0" dirty="0">
              <a:solidFill>
                <a:srgbClr val="657B83"/>
              </a:solidFill>
              <a:effectLst/>
              <a:latin typeface="Consolas" panose="020B0609020204030204" pitchFamily="49" charset="0"/>
            </a:endParaRPr>
          </a:p>
        </p:txBody>
      </p:sp>
      <p:sp>
        <p:nvSpPr>
          <p:cNvPr id="11" name="ZoneTexte 10"/>
          <p:cNvSpPr txBox="1"/>
          <p:nvPr/>
        </p:nvSpPr>
        <p:spPr>
          <a:xfrm>
            <a:off x="7128584" y="5153917"/>
            <a:ext cx="4506368" cy="1384995"/>
          </a:xfrm>
          <a:prstGeom prst="rect">
            <a:avLst/>
          </a:prstGeom>
          <a:noFill/>
        </p:spPr>
        <p:txBody>
          <a:bodyPr wrap="square" rtlCol="0">
            <a:spAutoFit/>
          </a:bodyPr>
          <a:lstStyle/>
          <a:p>
            <a:r>
              <a:rPr lang="fr-FR" sz="2800" dirty="0" err="1"/>
              <a:t>Three</a:t>
            </a:r>
            <a:r>
              <a:rPr lang="fr-FR" sz="2800" dirty="0"/>
              <a:t> more possible </a:t>
            </a:r>
            <a:r>
              <a:rPr lang="fr-FR" sz="2800" dirty="0" err="1"/>
              <a:t>tiles</a:t>
            </a:r>
            <a:r>
              <a:rPr lang="fr-FR" sz="2800" dirty="0"/>
              <a:t> </a:t>
            </a:r>
            <a:r>
              <a:rPr lang="fr-FR" sz="2800" dirty="0" err="1"/>
              <a:t>with</a:t>
            </a:r>
            <a:r>
              <a:rPr lang="fr-FR" sz="2800" dirty="0"/>
              <a:t> </a:t>
            </a:r>
            <a:r>
              <a:rPr lang="fr-FR" sz="2800" dirty="0" err="1"/>
              <a:t>half-turn</a:t>
            </a:r>
            <a:r>
              <a:rPr lang="fr-FR" sz="2800" dirty="0"/>
              <a:t> </a:t>
            </a:r>
            <a:r>
              <a:rPr lang="fr-FR" sz="2800" dirty="0" err="1"/>
              <a:t>around</a:t>
            </a:r>
            <a:r>
              <a:rPr lang="fr-FR" sz="2800" dirty="0"/>
              <a:t> the green points</a:t>
            </a:r>
          </a:p>
        </p:txBody>
      </p:sp>
      <p:sp>
        <p:nvSpPr>
          <p:cNvPr id="12" name="ZoneTexte 11"/>
          <p:cNvSpPr txBox="1"/>
          <p:nvPr/>
        </p:nvSpPr>
        <p:spPr>
          <a:xfrm>
            <a:off x="232718" y="4971355"/>
            <a:ext cx="2847170" cy="1384995"/>
          </a:xfrm>
          <a:prstGeom prst="rect">
            <a:avLst/>
          </a:prstGeom>
          <a:noFill/>
        </p:spPr>
        <p:txBody>
          <a:bodyPr wrap="square" rtlCol="0">
            <a:spAutoFit/>
          </a:bodyPr>
          <a:lstStyle/>
          <a:p>
            <a:r>
              <a:rPr lang="fr-FR" sz="2800" dirty="0"/>
              <a:t>C cluster</a:t>
            </a:r>
          </a:p>
          <a:p>
            <a:r>
              <a:rPr lang="fr-FR" sz="2800" dirty="0"/>
              <a:t>(corona </a:t>
            </a:r>
            <a:r>
              <a:rPr lang="fr-FR" sz="2800" dirty="0" err="1"/>
              <a:t>around</a:t>
            </a:r>
            <a:r>
              <a:rPr lang="fr-FR" sz="2800" dirty="0"/>
              <a:t> a ODD </a:t>
            </a:r>
            <a:r>
              <a:rPr lang="fr-FR" sz="2800" dirty="0" err="1"/>
              <a:t>tile</a:t>
            </a:r>
            <a:r>
              <a:rPr lang="fr-FR" sz="2800" dirty="0"/>
              <a:t>)</a:t>
            </a:r>
          </a:p>
        </p:txBody>
      </p:sp>
      <p:sp>
        <p:nvSpPr>
          <p:cNvPr id="13" name="ZoneTexte 12"/>
          <p:cNvSpPr txBox="1"/>
          <p:nvPr/>
        </p:nvSpPr>
        <p:spPr>
          <a:xfrm>
            <a:off x="3371135" y="5123754"/>
            <a:ext cx="2847170" cy="1384995"/>
          </a:xfrm>
          <a:prstGeom prst="rect">
            <a:avLst/>
          </a:prstGeom>
          <a:noFill/>
        </p:spPr>
        <p:txBody>
          <a:bodyPr wrap="square" rtlCol="0">
            <a:spAutoFit/>
          </a:bodyPr>
          <a:lstStyle/>
          <a:p>
            <a:r>
              <a:rPr lang="fr-FR" sz="2800" dirty="0"/>
              <a:t>The </a:t>
            </a:r>
            <a:r>
              <a:rPr lang="fr-FR" sz="2800" dirty="0" err="1"/>
              <a:t>three</a:t>
            </a:r>
            <a:r>
              <a:rPr lang="fr-FR" sz="2800" dirty="0"/>
              <a:t> </a:t>
            </a:r>
            <a:r>
              <a:rPr lang="fr-FR" sz="2800" dirty="0" err="1"/>
              <a:t>translated</a:t>
            </a:r>
            <a:r>
              <a:rPr lang="fr-FR" sz="2800" dirty="0"/>
              <a:t> </a:t>
            </a:r>
            <a:r>
              <a:rPr lang="fr-FR" sz="2800" dirty="0" err="1"/>
              <a:t>tiles</a:t>
            </a:r>
            <a:r>
              <a:rPr lang="fr-FR" sz="2800" dirty="0"/>
              <a:t> are all in the </a:t>
            </a:r>
            <a:r>
              <a:rPr lang="fr-FR" sz="2800" dirty="0" err="1"/>
              <a:t>tiling</a:t>
            </a:r>
            <a:endParaRPr lang="fr-FR" sz="2800" dirty="0"/>
          </a:p>
        </p:txBody>
      </p:sp>
    </p:spTree>
    <p:extLst>
      <p:ext uri="{BB962C8B-B14F-4D97-AF65-F5344CB8AC3E}">
        <p14:creationId xmlns:p14="http://schemas.microsoft.com/office/powerpoint/2010/main" val="236247160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95704</TotalTime>
  <Words>1495</Words>
  <Application>Microsoft Office PowerPoint</Application>
  <PresentationFormat>Grand écran</PresentationFormat>
  <Paragraphs>246</Paragraphs>
  <Slides>68</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68</vt:i4>
      </vt:variant>
    </vt:vector>
  </HeadingPairs>
  <TitlesOfParts>
    <vt:vector size="75" baseType="lpstr">
      <vt:lpstr>Arial</vt:lpstr>
      <vt:lpstr>Calibri</vt:lpstr>
      <vt:lpstr>Calibri Light</vt:lpstr>
      <vt:lpstr>CMR10</vt:lpstr>
      <vt:lpstr>Consolas</vt:lpstr>
      <vt:lpstr>Wingdings</vt:lpstr>
      <vt:lpstr>Thème Office</vt:lpstr>
      <vt:lpstr>Homochiral ideas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SMALL AND LARGE STARS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LPS-CNRS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SoftQC – Auto-assemblage de nanoparticules: des super-réseaux périodiques aux phases quasicristallines</dc:title>
  <dc:creator>Administrateur</dc:creator>
  <cp:lastModifiedBy>Administrateur</cp:lastModifiedBy>
  <cp:revision>1104</cp:revision>
  <dcterms:created xsi:type="dcterms:W3CDTF">2024-05-03T12:49:25Z</dcterms:created>
  <dcterms:modified xsi:type="dcterms:W3CDTF">2026-03-11T14:36:53Z</dcterms:modified>
</cp:coreProperties>
</file>